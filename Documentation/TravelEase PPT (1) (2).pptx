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26.jp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86" r:id="rId5"/>
    <p:sldId id="289" r:id="rId6"/>
    <p:sldId id="295" r:id="rId7"/>
    <p:sldId id="288" r:id="rId8"/>
    <p:sldId id="334" r:id="rId9"/>
    <p:sldId id="292" r:id="rId10"/>
    <p:sldId id="294" r:id="rId11"/>
    <p:sldId id="291" r:id="rId12"/>
    <p:sldId id="314" r:id="rId13"/>
    <p:sldId id="326" r:id="rId14"/>
    <p:sldId id="330" r:id="rId15"/>
    <p:sldId id="315" r:id="rId16"/>
    <p:sldId id="327" r:id="rId17"/>
    <p:sldId id="329" r:id="rId18"/>
    <p:sldId id="316" r:id="rId19"/>
    <p:sldId id="323" r:id="rId20"/>
    <p:sldId id="317" r:id="rId21"/>
    <p:sldId id="325" r:id="rId22"/>
    <p:sldId id="332" r:id="rId23"/>
    <p:sldId id="318" r:id="rId24"/>
    <p:sldId id="322" r:id="rId25"/>
    <p:sldId id="331" r:id="rId26"/>
    <p:sldId id="319" r:id="rId27"/>
    <p:sldId id="324" r:id="rId28"/>
    <p:sldId id="333" r:id="rId29"/>
    <p:sldId id="328" r:id="rId30"/>
    <p:sldId id="306" r:id="rId31"/>
    <p:sldId id="307" r:id="rId32"/>
    <p:sldId id="309" r:id="rId33"/>
    <p:sldId id="312" r:id="rId34"/>
    <p:sldId id="313" r:id="rId35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1" d="100"/>
          <a:sy n="111" d="100"/>
        </p:scale>
        <p:origin x="634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5116" y="2342061"/>
            <a:ext cx="3907315" cy="123128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54635" y="2234993"/>
            <a:ext cx="1221875" cy="1378503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255116" y="1291452"/>
            <a:ext cx="8634095" cy="0"/>
          </a:xfrm>
          <a:custGeom>
            <a:avLst/>
            <a:gdLst/>
            <a:ahLst/>
            <a:cxnLst/>
            <a:rect l="l" t="t" r="r" b="b"/>
            <a:pathLst>
              <a:path w="8634095">
                <a:moveTo>
                  <a:pt x="0" y="0"/>
                </a:moveTo>
                <a:lnTo>
                  <a:pt x="8633686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59258" y="237486"/>
            <a:ext cx="7527290" cy="8737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rgbClr val="07050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rgbClr val="07050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24693" y="205003"/>
            <a:ext cx="8724900" cy="8966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652443" y="1756397"/>
            <a:ext cx="3747770" cy="27108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rgbClr val="07050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jpg"/><Relationship Id="rId5" Type="http://schemas.openxmlformats.org/officeDocument/2006/relationships/image" Target="../media/image43.jpg"/><Relationship Id="rId4" Type="http://schemas.openxmlformats.org/officeDocument/2006/relationships/image" Target="../media/image42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g"/><Relationship Id="rId5" Type="http://schemas.openxmlformats.org/officeDocument/2006/relationships/image" Target="../media/image17.jpg"/><Relationship Id="rId4" Type="http://schemas.openxmlformats.org/officeDocument/2006/relationships/image" Target="../media/image47.jp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jp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66276" y="2181458"/>
            <a:ext cx="3477723" cy="2890842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671359" y="1833486"/>
            <a:ext cx="7828280" cy="0"/>
          </a:xfrm>
          <a:custGeom>
            <a:avLst/>
            <a:gdLst/>
            <a:ahLst/>
            <a:cxnLst/>
            <a:rect l="l" t="t" r="r" b="b"/>
            <a:pathLst>
              <a:path w="7828280">
                <a:moveTo>
                  <a:pt x="0" y="0"/>
                </a:moveTo>
                <a:lnTo>
                  <a:pt x="7828055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731265" y="345391"/>
            <a:ext cx="6278880" cy="1351915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21590" marR="5080" indent="-9525">
              <a:lnSpc>
                <a:spcPts val="4850"/>
              </a:lnSpc>
              <a:spcBef>
                <a:spcPts val="880"/>
              </a:spcBef>
            </a:pPr>
            <a:r>
              <a:rPr sz="4650" spc="-10" dirty="0">
                <a:solidFill>
                  <a:srgbClr val="070503"/>
                </a:solidFill>
              </a:rPr>
              <a:t>TravelEase</a:t>
            </a:r>
            <a:r>
              <a:rPr sz="4650" spc="110" dirty="0">
                <a:solidFill>
                  <a:srgbClr val="070503"/>
                </a:solidFill>
              </a:rPr>
              <a:t> </a:t>
            </a:r>
            <a:r>
              <a:rPr sz="4650" b="0" dirty="0">
                <a:solidFill>
                  <a:srgbClr val="070503"/>
                </a:solidFill>
                <a:latin typeface="Times New Roman"/>
                <a:cs typeface="Times New Roman"/>
              </a:rPr>
              <a:t>-</a:t>
            </a:r>
            <a:r>
              <a:rPr sz="4650" b="0" spc="375" dirty="0">
                <a:solidFill>
                  <a:srgbClr val="070503"/>
                </a:solidFill>
                <a:latin typeface="Times New Roman"/>
                <a:cs typeface="Times New Roman"/>
              </a:rPr>
              <a:t> </a:t>
            </a:r>
            <a:r>
              <a:rPr sz="4650" dirty="0">
                <a:solidFill>
                  <a:srgbClr val="070503"/>
                </a:solidFill>
              </a:rPr>
              <a:t>Online</a:t>
            </a:r>
            <a:r>
              <a:rPr sz="4650" spc="45" dirty="0">
                <a:solidFill>
                  <a:srgbClr val="070503"/>
                </a:solidFill>
              </a:rPr>
              <a:t> </a:t>
            </a:r>
            <a:r>
              <a:rPr sz="4650" spc="-25" dirty="0">
                <a:solidFill>
                  <a:srgbClr val="070503"/>
                </a:solidFill>
              </a:rPr>
              <a:t>Bus </a:t>
            </a:r>
            <a:r>
              <a:rPr sz="4650" dirty="0">
                <a:solidFill>
                  <a:srgbClr val="070503"/>
                </a:solidFill>
              </a:rPr>
              <a:t>Booking</a:t>
            </a:r>
            <a:r>
              <a:rPr sz="4650" spc="235" dirty="0">
                <a:solidFill>
                  <a:srgbClr val="070503"/>
                </a:solidFill>
              </a:rPr>
              <a:t> </a:t>
            </a:r>
            <a:r>
              <a:rPr sz="4650" spc="-10" dirty="0">
                <a:solidFill>
                  <a:srgbClr val="070503"/>
                </a:solidFill>
              </a:rPr>
              <a:t>System</a:t>
            </a:r>
            <a:endParaRPr sz="465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32274" y="1994725"/>
            <a:ext cx="4719320" cy="25692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105"/>
              </a:spcBef>
            </a:pPr>
            <a:r>
              <a:rPr sz="2050" dirty="0">
                <a:solidFill>
                  <a:srgbClr val="070503"/>
                </a:solidFill>
                <a:latin typeface="Arial"/>
                <a:cs typeface="Arial"/>
              </a:rPr>
              <a:t>Shree</a:t>
            </a:r>
            <a:r>
              <a:rPr sz="2050" spc="-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2050" spc="65" dirty="0">
                <a:solidFill>
                  <a:srgbClr val="070503"/>
                </a:solidFill>
                <a:latin typeface="Arial"/>
                <a:cs typeface="Arial"/>
              </a:rPr>
              <a:t>Vidyadhiraj</a:t>
            </a:r>
            <a:r>
              <a:rPr sz="2050" spc="14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2050" spc="65" dirty="0">
                <a:solidFill>
                  <a:srgbClr val="070503"/>
                </a:solidFill>
                <a:latin typeface="Arial"/>
                <a:cs typeface="Arial"/>
              </a:rPr>
              <a:t>Polytechnic,</a:t>
            </a:r>
            <a:r>
              <a:rPr sz="2050" spc="5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2050" spc="100" dirty="0">
                <a:solidFill>
                  <a:srgbClr val="070503"/>
                </a:solidFill>
                <a:latin typeface="Arial"/>
                <a:cs typeface="Arial"/>
              </a:rPr>
              <a:t>Kumta</a:t>
            </a:r>
            <a:endParaRPr sz="20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20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</a:pPr>
            <a:r>
              <a:rPr sz="2050" dirty="0">
                <a:solidFill>
                  <a:srgbClr val="070503"/>
                </a:solidFill>
                <a:latin typeface="Arial"/>
                <a:cs typeface="Arial"/>
              </a:rPr>
              <a:t>Team</a:t>
            </a:r>
            <a:r>
              <a:rPr sz="2050" spc="6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2050" spc="-10" dirty="0">
                <a:solidFill>
                  <a:srgbClr val="070503"/>
                </a:solidFill>
                <a:latin typeface="Arial"/>
                <a:cs typeface="Arial"/>
              </a:rPr>
              <a:t>Members:</a:t>
            </a:r>
            <a:endParaRPr sz="2050">
              <a:latin typeface="Arial"/>
              <a:cs typeface="Arial"/>
            </a:endParaRPr>
          </a:p>
          <a:p>
            <a:pPr marL="251460" indent="-238760">
              <a:lnSpc>
                <a:spcPct val="100000"/>
              </a:lnSpc>
              <a:spcBef>
                <a:spcPts val="465"/>
              </a:spcBef>
              <a:buClr>
                <a:srgbClr val="A5746E"/>
              </a:buClr>
              <a:buSzPct val="93750"/>
              <a:buChar char="■"/>
              <a:tabLst>
                <a:tab pos="251460" algn="l"/>
              </a:tabLst>
            </a:pPr>
            <a:r>
              <a:rPr sz="1600" spc="-50" dirty="0">
                <a:solidFill>
                  <a:srgbClr val="070503"/>
                </a:solidFill>
                <a:latin typeface="Arial"/>
                <a:cs typeface="Arial"/>
              </a:rPr>
              <a:t>B.S.</a:t>
            </a:r>
            <a:r>
              <a:rPr sz="1600" spc="-8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50" dirty="0">
                <a:solidFill>
                  <a:srgbClr val="070503"/>
                </a:solidFill>
                <a:latin typeface="Arial"/>
                <a:cs typeface="Arial"/>
              </a:rPr>
              <a:t>Niranjan</a:t>
            </a:r>
            <a:endParaRPr sz="1600">
              <a:latin typeface="Arial"/>
              <a:cs typeface="Arial"/>
            </a:endParaRPr>
          </a:p>
          <a:p>
            <a:pPr marL="250190" indent="-237490">
              <a:lnSpc>
                <a:spcPct val="100000"/>
              </a:lnSpc>
              <a:spcBef>
                <a:spcPts val="560"/>
              </a:spcBef>
              <a:buClr>
                <a:srgbClr val="A5746E"/>
              </a:buClr>
              <a:buSzPct val="90625"/>
              <a:buChar char="■"/>
              <a:tabLst>
                <a:tab pos="250190" algn="l"/>
              </a:tabLst>
            </a:pPr>
            <a:r>
              <a:rPr sz="1600" spc="55" dirty="0">
                <a:solidFill>
                  <a:srgbClr val="070503"/>
                </a:solidFill>
                <a:latin typeface="Arial"/>
                <a:cs typeface="Arial"/>
              </a:rPr>
              <a:t>Subrahmanya</a:t>
            </a:r>
            <a:r>
              <a:rPr sz="1600" spc="10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70503"/>
                </a:solidFill>
                <a:latin typeface="Arial"/>
                <a:cs typeface="Arial"/>
              </a:rPr>
              <a:t>I</a:t>
            </a:r>
            <a:r>
              <a:rPr sz="1600" spc="3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70503"/>
                </a:solidFill>
                <a:latin typeface="Arial"/>
                <a:cs typeface="Arial"/>
              </a:rPr>
              <a:t>Patgar</a:t>
            </a:r>
            <a:endParaRPr sz="1600">
              <a:latin typeface="Arial"/>
              <a:cs typeface="Arial"/>
            </a:endParaRPr>
          </a:p>
          <a:p>
            <a:pPr marL="250190" indent="-237490">
              <a:lnSpc>
                <a:spcPct val="100000"/>
              </a:lnSpc>
              <a:spcBef>
                <a:spcPts val="505"/>
              </a:spcBef>
              <a:buClr>
                <a:srgbClr val="A5746E"/>
              </a:buClr>
              <a:buSzPct val="90625"/>
              <a:buChar char="■"/>
              <a:tabLst>
                <a:tab pos="250190" algn="l"/>
              </a:tabLst>
            </a:pPr>
            <a:r>
              <a:rPr sz="1600" spc="60" dirty="0">
                <a:solidFill>
                  <a:srgbClr val="070503"/>
                </a:solidFill>
                <a:latin typeface="Arial"/>
                <a:cs typeface="Arial"/>
              </a:rPr>
              <a:t>Rahul</a:t>
            </a:r>
            <a:r>
              <a:rPr sz="1600" spc="-2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114" dirty="0">
                <a:solidFill>
                  <a:srgbClr val="070503"/>
                </a:solidFill>
                <a:latin typeface="Arial"/>
                <a:cs typeface="Arial"/>
              </a:rPr>
              <a:t>N</a:t>
            </a:r>
            <a:r>
              <a:rPr sz="1600" spc="-13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45" dirty="0">
                <a:solidFill>
                  <a:srgbClr val="070503"/>
                </a:solidFill>
                <a:latin typeface="Arial"/>
                <a:cs typeface="Arial"/>
              </a:rPr>
              <a:t>Shanbhag</a:t>
            </a:r>
            <a:endParaRPr sz="1600">
              <a:latin typeface="Arial"/>
              <a:cs typeface="Arial"/>
            </a:endParaRPr>
          </a:p>
          <a:p>
            <a:pPr marL="252095" indent="-239395">
              <a:lnSpc>
                <a:spcPct val="100000"/>
              </a:lnSpc>
              <a:spcBef>
                <a:spcPts val="500"/>
              </a:spcBef>
              <a:buClr>
                <a:srgbClr val="A5746E"/>
              </a:buClr>
              <a:buSzPct val="93750"/>
              <a:buChar char="■"/>
              <a:tabLst>
                <a:tab pos="252095" algn="l"/>
              </a:tabLst>
            </a:pPr>
            <a:r>
              <a:rPr sz="1600" dirty="0">
                <a:solidFill>
                  <a:srgbClr val="070503"/>
                </a:solidFill>
                <a:latin typeface="Arial"/>
                <a:cs typeface="Arial"/>
              </a:rPr>
              <a:t>Vishwas</a:t>
            </a:r>
            <a:r>
              <a:rPr sz="1600" spc="31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70503"/>
                </a:solidFill>
                <a:latin typeface="Arial"/>
                <a:cs typeface="Arial"/>
              </a:rPr>
              <a:t>Barker</a:t>
            </a:r>
            <a:endParaRPr sz="1600">
              <a:latin typeface="Arial"/>
              <a:cs typeface="Arial"/>
            </a:endParaRPr>
          </a:p>
          <a:p>
            <a:pPr marL="256540" indent="-243840">
              <a:lnSpc>
                <a:spcPct val="100000"/>
              </a:lnSpc>
              <a:spcBef>
                <a:spcPts val="560"/>
              </a:spcBef>
              <a:buClr>
                <a:srgbClr val="A5746E"/>
              </a:buClr>
              <a:buSzPct val="93750"/>
              <a:buChar char="■"/>
              <a:tabLst>
                <a:tab pos="256540" algn="l"/>
              </a:tabLst>
            </a:pPr>
            <a:r>
              <a:rPr sz="1600" dirty="0">
                <a:solidFill>
                  <a:srgbClr val="070503"/>
                </a:solidFill>
                <a:latin typeface="Arial"/>
                <a:cs typeface="Arial"/>
              </a:rPr>
              <a:t>Farhan</a:t>
            </a:r>
            <a:r>
              <a:rPr sz="1600" spc="24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70503"/>
                </a:solidFill>
                <a:latin typeface="Arial"/>
                <a:cs typeface="Arial"/>
              </a:rPr>
              <a:t>Faras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565900" y="2609731"/>
            <a:ext cx="2578100" cy="2463165"/>
            <a:chOff x="6565900" y="2609731"/>
            <a:chExt cx="2578100" cy="246316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40452" y="2609731"/>
              <a:ext cx="2403547" cy="183354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565900" y="4362974"/>
              <a:ext cx="2376614" cy="709327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2122032" y="375272"/>
            <a:ext cx="4664075" cy="16986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47650">
              <a:lnSpc>
                <a:spcPct val="100000"/>
              </a:lnSpc>
              <a:spcBef>
                <a:spcPts val="110"/>
              </a:spcBef>
            </a:pPr>
            <a:r>
              <a:rPr sz="4100" b="1" dirty="0">
                <a:solidFill>
                  <a:srgbClr val="28231C"/>
                </a:solidFill>
                <a:latin typeface="Times New Roman"/>
                <a:cs typeface="Times New Roman"/>
              </a:rPr>
              <a:t>Problem</a:t>
            </a:r>
            <a:r>
              <a:rPr sz="4100" b="1" spc="25" dirty="0">
                <a:solidFill>
                  <a:srgbClr val="28231C"/>
                </a:solidFill>
                <a:latin typeface="Times New Roman"/>
                <a:cs typeface="Times New Roman"/>
              </a:rPr>
              <a:t> </a:t>
            </a:r>
            <a:r>
              <a:rPr sz="4100" b="1" spc="45" dirty="0">
                <a:solidFill>
                  <a:srgbClr val="28231C"/>
                </a:solidFill>
                <a:latin typeface="Times New Roman"/>
                <a:cs typeface="Times New Roman"/>
              </a:rPr>
              <a:t>Statement</a:t>
            </a:r>
            <a:endParaRPr sz="4100">
              <a:latin typeface="Times New Roman"/>
              <a:cs typeface="Times New Roman"/>
            </a:endParaRPr>
          </a:p>
          <a:p>
            <a:pPr marL="13335" marR="5080" indent="-1270">
              <a:lnSpc>
                <a:spcPts val="2740"/>
              </a:lnSpc>
              <a:spcBef>
                <a:spcPts val="2835"/>
              </a:spcBef>
            </a:pP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Traditional</a:t>
            </a:r>
            <a:r>
              <a:rPr sz="235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65" dirty="0">
                <a:solidFill>
                  <a:srgbClr val="050301"/>
                </a:solidFill>
                <a:latin typeface="Arial"/>
                <a:cs typeface="Arial"/>
              </a:rPr>
              <a:t>ticket</a:t>
            </a:r>
            <a:r>
              <a:rPr sz="2350" spc="10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65" dirty="0">
                <a:solidFill>
                  <a:srgbClr val="050301"/>
                </a:solidFill>
                <a:latin typeface="Arial"/>
                <a:cs typeface="Arial"/>
              </a:rPr>
              <a:t>booking</a:t>
            </a:r>
            <a:r>
              <a:rPr sz="2350" spc="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involves </a:t>
            </a:r>
            <a:r>
              <a:rPr sz="2350" spc="95" dirty="0">
                <a:solidFill>
                  <a:srgbClr val="050301"/>
                </a:solidFill>
                <a:latin typeface="Arial"/>
                <a:cs typeface="Arial"/>
              </a:rPr>
              <a:t>long</a:t>
            </a:r>
            <a:r>
              <a:rPr sz="2350" spc="-12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70" dirty="0">
                <a:solidFill>
                  <a:srgbClr val="050301"/>
                </a:solidFill>
                <a:latin typeface="Arial"/>
                <a:cs typeface="Arial"/>
              </a:rPr>
              <a:t>manual</a:t>
            </a:r>
            <a:r>
              <a:rPr sz="2350" spc="-2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queues.</a:t>
            </a:r>
            <a:endParaRPr sz="235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24114" y="1290465"/>
            <a:ext cx="236220" cy="3009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00" spc="-25" dirty="0">
                <a:solidFill>
                  <a:srgbClr val="A5796E"/>
                </a:solidFill>
                <a:latin typeface="Arial"/>
                <a:cs typeface="Arial"/>
              </a:rPr>
              <a:t>(9</a:t>
            </a:r>
            <a:endParaRPr sz="1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12163" y="1293136"/>
            <a:ext cx="1038860" cy="3065780"/>
          </a:xfrm>
          <a:prstGeom prst="rect">
            <a:avLst/>
          </a:prstGeom>
        </p:spPr>
        <p:txBody>
          <a:bodyPr vert="horz" wrap="square" lIns="0" tIns="121285" rIns="0" bIns="0" rtlCol="0">
            <a:spAutoFit/>
          </a:bodyPr>
          <a:lstStyle/>
          <a:p>
            <a:pPr marL="147320">
              <a:lnSpc>
                <a:spcPct val="100000"/>
              </a:lnSpc>
              <a:spcBef>
                <a:spcPts val="955"/>
              </a:spcBef>
            </a:pPr>
            <a:r>
              <a:rPr sz="5250" spc="-425" dirty="0">
                <a:solidFill>
                  <a:srgbClr val="A5796E"/>
                </a:solidFill>
                <a:latin typeface="Times New Roman"/>
                <a:cs typeface="Times New Roman"/>
              </a:rPr>
              <a:t>iiiiii</a:t>
            </a:r>
            <a:endParaRPr sz="5250">
              <a:latin typeface="Times New Roman"/>
              <a:cs typeface="Times New Roman"/>
            </a:endParaRPr>
          </a:p>
          <a:p>
            <a:pPr marL="111125">
              <a:lnSpc>
                <a:spcPct val="100000"/>
              </a:lnSpc>
              <a:spcBef>
                <a:spcPts val="1025"/>
              </a:spcBef>
            </a:pPr>
            <a:r>
              <a:rPr sz="6300" b="1" spc="-155" dirty="0">
                <a:solidFill>
                  <a:srgbClr val="A5796E"/>
                </a:solidFill>
                <a:latin typeface="Arial"/>
                <a:cs typeface="Arial"/>
              </a:rPr>
              <a:t>fta</a:t>
            </a:r>
            <a:endParaRPr sz="6300">
              <a:latin typeface="Arial"/>
              <a:cs typeface="Arial"/>
            </a:endParaRPr>
          </a:p>
          <a:p>
            <a:pPr marL="22225">
              <a:lnSpc>
                <a:spcPts val="2405"/>
              </a:lnSpc>
              <a:spcBef>
                <a:spcPts val="2665"/>
              </a:spcBef>
            </a:pPr>
            <a:r>
              <a:rPr sz="2400" b="1" u="heavy" spc="-45" dirty="0">
                <a:solidFill>
                  <a:srgbClr val="A5796E"/>
                </a:solidFill>
                <a:uFill>
                  <a:solidFill>
                    <a:srgbClr val="A5796E"/>
                  </a:solidFill>
                </a:uFill>
                <a:latin typeface="Arial"/>
                <a:cs typeface="Arial"/>
              </a:rPr>
              <a:t>�1�i1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ts val="3125"/>
              </a:lnSpc>
              <a:tabLst>
                <a:tab pos="669290" algn="l"/>
              </a:tabLst>
            </a:pPr>
            <a:r>
              <a:rPr sz="3000" u="heavy" dirty="0">
                <a:solidFill>
                  <a:srgbClr val="A5796E"/>
                </a:solidFill>
                <a:uFill>
                  <a:solidFill>
                    <a:srgbClr val="A5796E"/>
                  </a:solidFill>
                </a:uFill>
                <a:latin typeface="Arial"/>
                <a:cs typeface="Arial"/>
              </a:rPr>
              <a:t>� </a:t>
            </a:r>
            <a:r>
              <a:rPr sz="3000" u="none" dirty="0">
                <a:solidFill>
                  <a:srgbClr val="A5796E"/>
                </a:solidFill>
                <a:latin typeface="Arial"/>
                <a:cs typeface="Arial"/>
              </a:rPr>
              <a:t>	</a:t>
            </a:r>
            <a:r>
              <a:rPr sz="3000" u="none" spc="-50" dirty="0">
                <a:solidFill>
                  <a:srgbClr val="A5796E"/>
                </a:solidFill>
                <a:latin typeface="Arial"/>
                <a:cs typeface="Arial"/>
              </a:rPr>
              <a:t>9</a:t>
            </a:r>
            <a:endParaRPr sz="30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124844" y="2471793"/>
            <a:ext cx="4199890" cy="739140"/>
          </a:xfrm>
          <a:prstGeom prst="rect">
            <a:avLst/>
          </a:prstGeom>
        </p:spPr>
        <p:txBody>
          <a:bodyPr vert="horz" wrap="square" lIns="0" tIns="28575" rIns="0" bIns="0" rtlCol="0">
            <a:spAutoFit/>
          </a:bodyPr>
          <a:lstStyle/>
          <a:p>
            <a:pPr marL="12700" marR="5080" indent="635">
              <a:lnSpc>
                <a:spcPts val="2790"/>
              </a:lnSpc>
              <a:spcBef>
                <a:spcPts val="225"/>
              </a:spcBef>
            </a:pP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Difficulty</a:t>
            </a:r>
            <a:r>
              <a:rPr sz="2350" spc="229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in</a:t>
            </a:r>
            <a:r>
              <a:rPr sz="2350" spc="17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obtaining</a:t>
            </a:r>
            <a:r>
              <a:rPr sz="2350" spc="254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60" dirty="0">
                <a:solidFill>
                  <a:srgbClr val="050301"/>
                </a:solidFill>
                <a:latin typeface="Arial"/>
                <a:cs typeface="Arial"/>
              </a:rPr>
              <a:t>real-</a:t>
            </a:r>
            <a:r>
              <a:rPr sz="2350" spc="50" dirty="0">
                <a:solidFill>
                  <a:srgbClr val="050301"/>
                </a:solidFill>
                <a:latin typeface="Arial"/>
                <a:cs typeface="Arial"/>
              </a:rPr>
              <a:t>time </a:t>
            </a: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availability</a:t>
            </a:r>
            <a:r>
              <a:rPr sz="2350" spc="36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information.</a:t>
            </a:r>
            <a:endParaRPr sz="23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122852" y="3636160"/>
            <a:ext cx="4760595" cy="70612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 marR="5080" indent="6350">
              <a:lnSpc>
                <a:spcPts val="2530"/>
              </a:lnSpc>
              <a:spcBef>
                <a:spcPts val="430"/>
              </a:spcBef>
            </a:pPr>
            <a:r>
              <a:rPr sz="2350" spc="20" dirty="0">
                <a:solidFill>
                  <a:srgbClr val="050301"/>
                </a:solidFill>
                <a:latin typeface="Arial"/>
                <a:cs typeface="Arial"/>
              </a:rPr>
              <a:t>Administrative</a:t>
            </a:r>
            <a:r>
              <a:rPr sz="2350" spc="-21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55" dirty="0">
                <a:solidFill>
                  <a:srgbClr val="050301"/>
                </a:solidFill>
                <a:latin typeface="Arial"/>
                <a:cs typeface="Arial"/>
              </a:rPr>
              <a:t>burden</a:t>
            </a:r>
            <a:r>
              <a:rPr sz="2350" spc="4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75" dirty="0">
                <a:solidFill>
                  <a:srgbClr val="050301"/>
                </a:solidFill>
                <a:latin typeface="Arial"/>
                <a:cs typeface="Arial"/>
              </a:rPr>
              <a:t>of</a:t>
            </a:r>
            <a:r>
              <a:rPr sz="2350" spc="-7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managing </a:t>
            </a: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bookings</a:t>
            </a:r>
            <a:r>
              <a:rPr sz="2350" spc="1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manually.</a:t>
            </a:r>
            <a:endParaRPr sz="23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255003" y="4011689"/>
            <a:ext cx="213995" cy="5607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5250" spc="-1739" baseline="-6349" dirty="0">
                <a:solidFill>
                  <a:srgbClr val="A5796E"/>
                </a:solidFill>
                <a:latin typeface="Times New Roman"/>
                <a:cs typeface="Times New Roman"/>
              </a:rPr>
              <a:t>-</a:t>
            </a:r>
            <a:r>
              <a:rPr sz="3200" spc="-50" dirty="0">
                <a:solidFill>
                  <a:srgbClr val="916B5B"/>
                </a:solidFill>
                <a:latin typeface="Times New Roman"/>
                <a:cs typeface="Times New Roman"/>
              </a:rPr>
              <a:t>-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905716" y="4760377"/>
            <a:ext cx="250825" cy="384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spc="-525" dirty="0">
                <a:solidFill>
                  <a:srgbClr val="B18C7C"/>
                </a:solidFill>
                <a:latin typeface="Arial"/>
                <a:cs typeface="Arial"/>
              </a:rPr>
              <a:t>�</a:t>
            </a:r>
            <a:endParaRPr sz="23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758" y="2475896"/>
            <a:ext cx="845913" cy="1927228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19608" y="2569580"/>
            <a:ext cx="2524391" cy="2502720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5388" rIns="0" bIns="0" rtlCol="0">
            <a:spAutoFit/>
          </a:bodyPr>
          <a:lstStyle/>
          <a:p>
            <a:pPr marL="2366010">
              <a:lnSpc>
                <a:spcPct val="100000"/>
              </a:lnSpc>
              <a:spcBef>
                <a:spcPts val="110"/>
              </a:spcBef>
            </a:pPr>
            <a:r>
              <a:rPr sz="4300" spc="-180" dirty="0">
                <a:solidFill>
                  <a:srgbClr val="2A261F"/>
                </a:solidFill>
              </a:rPr>
              <a:t>Project</a:t>
            </a:r>
            <a:r>
              <a:rPr sz="4300" spc="-95" dirty="0">
                <a:solidFill>
                  <a:srgbClr val="2A261F"/>
                </a:solidFill>
              </a:rPr>
              <a:t> </a:t>
            </a:r>
            <a:r>
              <a:rPr sz="4300" spc="-145" dirty="0">
                <a:solidFill>
                  <a:srgbClr val="2A261F"/>
                </a:solidFill>
              </a:rPr>
              <a:t>Objectives</a:t>
            </a:r>
            <a:endParaRPr sz="4300"/>
          </a:p>
        </p:txBody>
      </p:sp>
      <p:sp>
        <p:nvSpPr>
          <p:cNvPr id="5" name="object 5"/>
          <p:cNvSpPr txBox="1"/>
          <p:nvPr/>
        </p:nvSpPr>
        <p:spPr>
          <a:xfrm>
            <a:off x="916108" y="1354919"/>
            <a:ext cx="5732145" cy="33578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ts val="2760"/>
              </a:lnSpc>
              <a:spcBef>
                <a:spcPts val="105"/>
              </a:spcBef>
              <a:tabLst>
                <a:tab pos="843915" algn="l"/>
                <a:tab pos="1200785" algn="l"/>
              </a:tabLst>
            </a:pPr>
            <a:r>
              <a:rPr sz="2450" u="heavy" spc="-130" dirty="0">
                <a:solidFill>
                  <a:srgbClr val="91746B"/>
                </a:solidFill>
                <a:uFill>
                  <a:solidFill>
                    <a:srgbClr val="91746B"/>
                  </a:solidFill>
                </a:uFill>
                <a:latin typeface="Arial"/>
                <a:cs typeface="Arial"/>
              </a:rPr>
              <a:t>,�</a:t>
            </a:r>
            <a:r>
              <a:rPr sz="2450" u="heavy" spc="-140" dirty="0">
                <a:solidFill>
                  <a:srgbClr val="91746B"/>
                </a:solidFill>
                <a:uFill>
                  <a:solidFill>
                    <a:srgbClr val="91746B"/>
                  </a:solidFill>
                </a:uFill>
                <a:latin typeface="Arial"/>
                <a:cs typeface="Arial"/>
              </a:rPr>
              <a:t> </a:t>
            </a:r>
            <a:r>
              <a:rPr sz="2450" u="heavy" spc="-25" dirty="0">
                <a:solidFill>
                  <a:srgbClr val="91746B"/>
                </a:solidFill>
                <a:uFill>
                  <a:solidFill>
                    <a:srgbClr val="91746B"/>
                  </a:solidFill>
                </a:uFill>
                <a:latin typeface="Arial"/>
                <a:cs typeface="Arial"/>
              </a:rPr>
              <a:t>�]</a:t>
            </a:r>
            <a:r>
              <a:rPr sz="2450" u="none" dirty="0">
                <a:solidFill>
                  <a:srgbClr val="91746B"/>
                </a:solidFill>
                <a:latin typeface="Arial"/>
                <a:cs typeface="Arial"/>
              </a:rPr>
              <a:t>	</a:t>
            </a:r>
            <a:r>
              <a:rPr sz="2450" u="none" spc="-65" dirty="0">
                <a:solidFill>
                  <a:srgbClr val="050301"/>
                </a:solidFill>
                <a:latin typeface="Arial"/>
                <a:cs typeface="Arial"/>
              </a:rPr>
              <a:t>Provide</a:t>
            </a:r>
            <a:r>
              <a:rPr sz="2450" u="none" spc="-9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u="none" spc="-35" dirty="0">
                <a:solidFill>
                  <a:srgbClr val="050301"/>
                </a:solidFill>
                <a:latin typeface="Arial"/>
                <a:cs typeface="Arial"/>
              </a:rPr>
              <a:t>an</a:t>
            </a:r>
            <a:r>
              <a:rPr sz="2450" u="none" spc="-20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u="none" spc="-35" dirty="0">
                <a:solidFill>
                  <a:srgbClr val="050301"/>
                </a:solidFill>
                <a:latin typeface="Arial"/>
                <a:cs typeface="Arial"/>
              </a:rPr>
              <a:t>easy-</a:t>
            </a:r>
            <a:r>
              <a:rPr sz="2450" u="none" spc="-30" dirty="0">
                <a:solidFill>
                  <a:srgbClr val="050301"/>
                </a:solidFill>
                <a:latin typeface="Arial"/>
                <a:cs typeface="Arial"/>
              </a:rPr>
              <a:t>to-</a:t>
            </a:r>
            <a:r>
              <a:rPr sz="2450" u="none" dirty="0">
                <a:solidFill>
                  <a:srgbClr val="050301"/>
                </a:solidFill>
                <a:latin typeface="Arial"/>
                <a:cs typeface="Arial"/>
              </a:rPr>
              <a:t>use</a:t>
            </a:r>
            <a:r>
              <a:rPr sz="2450" u="none" spc="4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u="none" spc="-10" dirty="0">
                <a:solidFill>
                  <a:srgbClr val="050301"/>
                </a:solidFill>
                <a:latin typeface="Arial"/>
                <a:cs typeface="Arial"/>
              </a:rPr>
              <a:t>online</a:t>
            </a:r>
            <a:endParaRPr sz="2450">
              <a:latin typeface="Arial"/>
              <a:cs typeface="Arial"/>
            </a:endParaRPr>
          </a:p>
          <a:p>
            <a:pPr marL="464184">
              <a:lnSpc>
                <a:spcPts val="2760"/>
              </a:lnSpc>
              <a:tabLst>
                <a:tab pos="1198245" algn="l"/>
              </a:tabLst>
            </a:pPr>
            <a:r>
              <a:rPr sz="2450" spc="-50" dirty="0">
                <a:solidFill>
                  <a:srgbClr val="91746B"/>
                </a:solidFill>
                <a:latin typeface="Arial"/>
                <a:cs typeface="Arial"/>
              </a:rPr>
              <a:t>�</a:t>
            </a:r>
            <a:r>
              <a:rPr sz="2450" dirty="0">
                <a:solidFill>
                  <a:srgbClr val="91746B"/>
                </a:solidFill>
                <a:latin typeface="Arial"/>
                <a:cs typeface="Arial"/>
              </a:rPr>
              <a:t>	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booking</a:t>
            </a:r>
            <a:r>
              <a:rPr sz="2450" spc="-13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platform.</a:t>
            </a:r>
            <a:endParaRPr sz="2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625"/>
              </a:spcBef>
            </a:pPr>
            <a:endParaRPr sz="2450">
              <a:latin typeface="Arial"/>
              <a:cs typeface="Arial"/>
            </a:endParaRPr>
          </a:p>
          <a:p>
            <a:pPr marL="1201420" marR="55880" indent="-1270">
              <a:lnSpc>
                <a:spcPts val="2790"/>
              </a:lnSpc>
            </a:pPr>
            <a:r>
              <a:rPr sz="2450" spc="-95" dirty="0">
                <a:solidFill>
                  <a:srgbClr val="050301"/>
                </a:solidFill>
                <a:latin typeface="Arial"/>
                <a:cs typeface="Arial"/>
              </a:rPr>
              <a:t>Enable</a:t>
            </a:r>
            <a:r>
              <a:rPr sz="2450" spc="-7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20" dirty="0">
                <a:solidFill>
                  <a:srgbClr val="050301"/>
                </a:solidFill>
                <a:latin typeface="Arial"/>
                <a:cs typeface="Arial"/>
              </a:rPr>
              <a:t>real-</a:t>
            </a:r>
            <a:r>
              <a:rPr sz="2450" dirty="0">
                <a:solidFill>
                  <a:srgbClr val="050301"/>
                </a:solidFill>
                <a:latin typeface="Arial"/>
                <a:cs typeface="Arial"/>
              </a:rPr>
              <a:t>time</a:t>
            </a:r>
            <a:r>
              <a:rPr sz="2450" spc="-8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dirty="0">
                <a:solidFill>
                  <a:srgbClr val="050301"/>
                </a:solidFill>
                <a:latin typeface="Arial"/>
                <a:cs typeface="Arial"/>
              </a:rPr>
              <a:t>ticket</a:t>
            </a:r>
            <a:r>
              <a:rPr sz="2450" spc="-4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25" dirty="0">
                <a:solidFill>
                  <a:srgbClr val="050301"/>
                </a:solidFill>
                <a:latin typeface="Arial"/>
                <a:cs typeface="Arial"/>
              </a:rPr>
              <a:t>availability </a:t>
            </a:r>
            <a:r>
              <a:rPr sz="2450" spc="-105" dirty="0">
                <a:solidFill>
                  <a:srgbClr val="050301"/>
                </a:solidFill>
                <a:latin typeface="Arial"/>
                <a:cs typeface="Arial"/>
              </a:rPr>
              <a:t>v</a:t>
            </a:r>
            <a:r>
              <a:rPr sz="2450" spc="-1130" dirty="0">
                <a:solidFill>
                  <a:srgbClr val="050301"/>
                </a:solidFill>
                <a:latin typeface="Arial"/>
                <a:cs typeface="Arial"/>
              </a:rPr>
              <a:t>1</a:t>
            </a:r>
            <a:r>
              <a:rPr sz="1725" spc="-142" baseline="57971" dirty="0">
                <a:solidFill>
                  <a:srgbClr val="050301"/>
                </a:solidFill>
                <a:latin typeface="Arial"/>
                <a:cs typeface="Arial"/>
              </a:rPr>
              <a:t>•</a:t>
            </a:r>
            <a:r>
              <a:rPr sz="1725" spc="202" baseline="57971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150" dirty="0">
                <a:solidFill>
                  <a:srgbClr val="050301"/>
                </a:solidFill>
                <a:latin typeface="Arial"/>
                <a:cs typeface="Arial"/>
              </a:rPr>
              <a:t>ew</a:t>
            </a:r>
            <a:r>
              <a:rPr sz="2450" spc="-1320" dirty="0">
                <a:solidFill>
                  <a:srgbClr val="050301"/>
                </a:solidFill>
                <a:latin typeface="Arial"/>
                <a:cs typeface="Arial"/>
              </a:rPr>
              <a:t>1</a:t>
            </a:r>
            <a:r>
              <a:rPr sz="2025" spc="-209" baseline="49382" dirty="0">
                <a:solidFill>
                  <a:srgbClr val="050301"/>
                </a:solidFill>
                <a:latin typeface="Arial"/>
                <a:cs typeface="Arial"/>
              </a:rPr>
              <a:t>•</a:t>
            </a:r>
            <a:r>
              <a:rPr sz="2025" spc="120" baseline="49382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25" dirty="0">
                <a:solidFill>
                  <a:srgbClr val="050301"/>
                </a:solidFill>
                <a:latin typeface="Arial"/>
                <a:cs typeface="Arial"/>
              </a:rPr>
              <a:t>ng.</a:t>
            </a:r>
            <a:endParaRPr sz="24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60"/>
              </a:spcBef>
            </a:pPr>
            <a:endParaRPr sz="2450">
              <a:latin typeface="Arial"/>
              <a:cs typeface="Arial"/>
            </a:endParaRPr>
          </a:p>
          <a:p>
            <a:pPr marL="1197610" marR="175260" indent="1270">
              <a:lnSpc>
                <a:spcPts val="2790"/>
              </a:lnSpc>
            </a:pPr>
            <a:r>
              <a:rPr sz="2450" spc="-45" dirty="0">
                <a:solidFill>
                  <a:srgbClr val="050301"/>
                </a:solidFill>
                <a:latin typeface="Arial"/>
                <a:cs typeface="Arial"/>
              </a:rPr>
              <a:t>Facilitate</a:t>
            </a:r>
            <a:r>
              <a:rPr sz="245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instant</a:t>
            </a:r>
            <a:r>
              <a:rPr sz="245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booking </a:t>
            </a:r>
            <a:r>
              <a:rPr sz="2450" spc="-50" dirty="0">
                <a:solidFill>
                  <a:srgbClr val="050301"/>
                </a:solidFill>
                <a:latin typeface="Arial"/>
                <a:cs typeface="Arial"/>
              </a:rPr>
              <a:t>confirmations</a:t>
            </a:r>
            <a:r>
              <a:rPr sz="245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65" dirty="0">
                <a:solidFill>
                  <a:srgbClr val="050301"/>
                </a:solidFill>
                <a:latin typeface="Arial"/>
                <a:cs typeface="Arial"/>
              </a:rPr>
              <a:t>and</a:t>
            </a:r>
            <a:r>
              <a:rPr sz="2450" spc="-19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30" dirty="0">
                <a:solidFill>
                  <a:srgbClr val="050301"/>
                </a:solidFill>
                <a:latin typeface="Arial"/>
                <a:cs typeface="Arial"/>
              </a:rPr>
              <a:t>efficient</a:t>
            </a:r>
            <a:r>
              <a:rPr sz="2450" spc="-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25" dirty="0">
                <a:solidFill>
                  <a:srgbClr val="050301"/>
                </a:solidFill>
                <a:latin typeface="Arial"/>
                <a:cs typeface="Arial"/>
              </a:rPr>
              <a:t>admin 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management.</a:t>
            </a:r>
            <a:endParaRPr sz="24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4659237" y="1994089"/>
          <a:ext cx="3994149" cy="25819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3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760">
                <a:tc>
                  <a:txBody>
                    <a:bodyPr/>
                    <a:lstStyle/>
                    <a:p>
                      <a:pPr marL="148590">
                        <a:lnSpc>
                          <a:spcPct val="100000"/>
                        </a:lnSpc>
                        <a:spcBef>
                          <a:spcPts val="930"/>
                        </a:spcBef>
                      </a:pPr>
                      <a:r>
                        <a:rPr sz="4600" spc="90" dirty="0">
                          <a:solidFill>
                            <a:srgbClr val="6D574D"/>
                          </a:solidFill>
                          <a:latin typeface="Arial"/>
                          <a:cs typeface="Arial"/>
                        </a:rPr>
                        <a:t>@</a:t>
                      </a:r>
                      <a:endParaRPr sz="4600">
                        <a:latin typeface="Arial"/>
                        <a:cs typeface="Arial"/>
                      </a:endParaRPr>
                    </a:p>
                  </a:txBody>
                  <a:tcPr marL="0" marR="0" marT="11811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930"/>
                        </a:spcBef>
                      </a:pPr>
                      <a:r>
                        <a:rPr sz="4600" spc="90" dirty="0">
                          <a:solidFill>
                            <a:srgbClr val="80675B"/>
                          </a:solidFill>
                          <a:latin typeface="Arial"/>
                          <a:cs typeface="Arial"/>
                        </a:rPr>
                        <a:t>@</a:t>
                      </a:r>
                      <a:endParaRPr sz="4600">
                        <a:latin typeface="Arial"/>
                        <a:cs typeface="Arial"/>
                      </a:endParaRPr>
                    </a:p>
                  </a:txBody>
                  <a:tcPr marL="0" marR="0" marT="11811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315">
                <a:tc rowSpan="2">
                  <a:txBody>
                    <a:bodyPr/>
                    <a:lstStyle/>
                    <a:p>
                      <a:pPr marL="173355">
                        <a:lnSpc>
                          <a:spcPts val="2630"/>
                        </a:lnSpc>
                      </a:pPr>
                      <a:r>
                        <a:rPr sz="2250" b="1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React.js</a:t>
                      </a:r>
                      <a:endParaRPr sz="2250">
                        <a:latin typeface="Arial"/>
                        <a:cs typeface="Arial"/>
                      </a:endParaRPr>
                    </a:p>
                    <a:p>
                      <a:pPr marL="189865">
                        <a:lnSpc>
                          <a:spcPct val="100000"/>
                        </a:lnSpc>
                        <a:spcBef>
                          <a:spcPts val="1150"/>
                        </a:spcBef>
                      </a:pPr>
                      <a:r>
                        <a:rPr sz="135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JavaScript</a:t>
                      </a:r>
                      <a:r>
                        <a:rPr sz="1350" spc="55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50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Library</a:t>
                      </a:r>
                      <a:endParaRPr sz="13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2850" spc="-50" dirty="0">
                          <a:solidFill>
                            <a:srgbClr val="B8AAA1"/>
                          </a:solidFill>
                          <a:latin typeface="Times New Roman"/>
                          <a:cs typeface="Times New Roman"/>
                        </a:rPr>
                        <a:t>-</a:t>
                      </a:r>
                      <a:endParaRPr sz="2850">
                        <a:latin typeface="Times New Roman"/>
                        <a:cs typeface="Times New Roman"/>
                      </a:endParaRPr>
                    </a:p>
                  </a:txBody>
                  <a:tcPr marL="0" marR="0" marT="1524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EDEBE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180340">
                        <a:lnSpc>
                          <a:spcPts val="2630"/>
                        </a:lnSpc>
                      </a:pPr>
                      <a:r>
                        <a:rPr sz="2250" b="1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Node.js</a:t>
                      </a:r>
                      <a:endParaRPr sz="2250">
                        <a:latin typeface="Arial"/>
                        <a:cs typeface="Arial"/>
                      </a:endParaRPr>
                    </a:p>
                    <a:p>
                      <a:pPr marL="194310" marR="196215" indent="1905">
                        <a:lnSpc>
                          <a:spcPct val="117100"/>
                        </a:lnSpc>
                        <a:spcBef>
                          <a:spcPts val="869"/>
                        </a:spcBef>
                      </a:pPr>
                      <a:r>
                        <a:rPr sz="135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JavaScript</a:t>
                      </a:r>
                      <a:r>
                        <a:rPr sz="1350" spc="45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50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Runtime </a:t>
                      </a:r>
                      <a:r>
                        <a:rPr sz="1350" spc="-1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Environment</a:t>
                      </a:r>
                      <a:endParaRPr sz="13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28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53938" y="57973"/>
            <a:ext cx="6569075" cy="1446530"/>
          </a:xfrm>
          <a:prstGeom prst="rect">
            <a:avLst/>
          </a:prstGeom>
        </p:spPr>
        <p:txBody>
          <a:bodyPr vert="horz" wrap="square" lIns="0" tIns="3244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55"/>
              </a:spcBef>
            </a:pPr>
            <a:r>
              <a:rPr sz="5100" spc="-145" dirty="0">
                <a:solidFill>
                  <a:srgbClr val="050303"/>
                </a:solidFill>
              </a:rPr>
              <a:t>Technology</a:t>
            </a:r>
            <a:r>
              <a:rPr sz="5100" spc="-65" dirty="0">
                <a:solidFill>
                  <a:srgbClr val="050303"/>
                </a:solidFill>
              </a:rPr>
              <a:t> </a:t>
            </a:r>
            <a:r>
              <a:rPr sz="5100" spc="-215" dirty="0">
                <a:solidFill>
                  <a:srgbClr val="050303"/>
                </a:solidFill>
              </a:rPr>
              <a:t>Stack:</a:t>
            </a:r>
            <a:r>
              <a:rPr sz="5100" spc="-225" dirty="0">
                <a:solidFill>
                  <a:srgbClr val="050303"/>
                </a:solidFill>
              </a:rPr>
              <a:t> </a:t>
            </a:r>
            <a:r>
              <a:rPr sz="4800" spc="-540" dirty="0">
                <a:solidFill>
                  <a:srgbClr val="AF7460"/>
                </a:solidFill>
              </a:rPr>
              <a:t>MERN</a:t>
            </a:r>
            <a:endParaRPr sz="4800"/>
          </a:p>
          <a:p>
            <a:pPr marL="26034">
              <a:lnSpc>
                <a:spcPct val="100000"/>
              </a:lnSpc>
              <a:spcBef>
                <a:spcPts val="750"/>
              </a:spcBef>
            </a:pP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Four</a:t>
            </a:r>
            <a:r>
              <a:rPr sz="1550" b="0" spc="185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181611"/>
                </a:solidFill>
                <a:latin typeface="Arial"/>
                <a:cs typeface="Arial"/>
              </a:rPr>
              <a:t>Core</a:t>
            </a:r>
            <a:r>
              <a:rPr sz="1550" b="0" spc="120" dirty="0">
                <a:solidFill>
                  <a:srgbClr val="181611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Technologies:</a:t>
            </a:r>
            <a:r>
              <a:rPr sz="1550" b="0" spc="275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MongoDB,</a:t>
            </a:r>
            <a:r>
              <a:rPr sz="1550" b="0" spc="254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Express.js,</a:t>
            </a:r>
            <a:r>
              <a:rPr sz="1550" b="0" spc="250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React.js,</a:t>
            </a:r>
            <a:r>
              <a:rPr sz="1550" b="0" spc="210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spc="70" dirty="0">
                <a:solidFill>
                  <a:srgbClr val="181611"/>
                </a:solidFill>
                <a:latin typeface="Arial"/>
                <a:cs typeface="Arial"/>
              </a:rPr>
              <a:t>and</a:t>
            </a:r>
            <a:r>
              <a:rPr sz="1550" b="0" spc="125" dirty="0">
                <a:solidFill>
                  <a:srgbClr val="181611"/>
                </a:solidFill>
                <a:latin typeface="Arial"/>
                <a:cs typeface="Arial"/>
              </a:rPr>
              <a:t> </a:t>
            </a:r>
            <a:r>
              <a:rPr sz="1550" b="0" spc="-10" dirty="0">
                <a:solidFill>
                  <a:srgbClr val="050303"/>
                </a:solidFill>
                <a:latin typeface="Arial"/>
                <a:cs typeface="Arial"/>
              </a:rPr>
              <a:t>Node.js.</a:t>
            </a:r>
            <a:endParaRPr sz="155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499062" y="3180148"/>
            <a:ext cx="147955" cy="188595"/>
          </a:xfrm>
          <a:custGeom>
            <a:avLst/>
            <a:gdLst/>
            <a:ahLst/>
            <a:cxnLst/>
            <a:rect l="l" t="t" r="r" b="b"/>
            <a:pathLst>
              <a:path w="147954" h="188595">
                <a:moveTo>
                  <a:pt x="147699" y="188550"/>
                </a:moveTo>
                <a:lnTo>
                  <a:pt x="0" y="188550"/>
                </a:lnTo>
                <a:lnTo>
                  <a:pt x="0" y="0"/>
                </a:lnTo>
                <a:lnTo>
                  <a:pt x="147699" y="0"/>
                </a:lnTo>
                <a:lnTo>
                  <a:pt x="147699" y="188550"/>
                </a:lnTo>
                <a:close/>
              </a:path>
            </a:pathLst>
          </a:custGeom>
          <a:solidFill>
            <a:srgbClr val="EDEBE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486363" y="3172987"/>
            <a:ext cx="6858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50" dirty="0">
                <a:solidFill>
                  <a:srgbClr val="B8AAA1"/>
                </a:solidFill>
                <a:latin typeface="Times New Roman"/>
                <a:cs typeface="Times New Roman"/>
              </a:rPr>
              <a:t>-</a:t>
            </a:r>
            <a:endParaRPr sz="1100">
              <a:latin typeface="Times New Roman"/>
              <a:cs typeface="Times New Roman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469951" y="1994089"/>
          <a:ext cx="4007485" cy="25819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3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760"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880"/>
                        </a:spcBef>
                      </a:pPr>
                      <a:r>
                        <a:rPr sz="4600" spc="-840" dirty="0">
                          <a:solidFill>
                            <a:srgbClr val="80675B"/>
                          </a:solidFill>
                          <a:latin typeface="Arial"/>
                          <a:cs typeface="Arial"/>
                        </a:rPr>
                        <a:t>@)</a:t>
                      </a:r>
                      <a:endParaRPr sz="4600">
                        <a:latin typeface="Arial"/>
                        <a:cs typeface="Arial"/>
                      </a:endParaRPr>
                    </a:p>
                  </a:txBody>
                  <a:tcPr marL="0" marR="0" marT="11176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86690">
                        <a:lnSpc>
                          <a:spcPct val="100000"/>
                        </a:lnSpc>
                        <a:spcBef>
                          <a:spcPts val="680"/>
                        </a:spcBef>
                      </a:pPr>
                      <a:r>
                        <a:rPr sz="5800" spc="75" dirty="0">
                          <a:solidFill>
                            <a:srgbClr val="80675B"/>
                          </a:solidFill>
                          <a:latin typeface="Arial"/>
                          <a:cs typeface="Arial"/>
                        </a:rPr>
                        <a:t>®</a:t>
                      </a:r>
                      <a:endParaRPr sz="5800">
                        <a:latin typeface="Arial"/>
                        <a:cs typeface="Arial"/>
                      </a:endParaRPr>
                    </a:p>
                  </a:txBody>
                  <a:tcPr marL="0" marR="0" marT="8636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315">
                <a:tc rowSpan="2">
                  <a:txBody>
                    <a:bodyPr/>
                    <a:lstStyle/>
                    <a:p>
                      <a:pPr marL="180975">
                        <a:lnSpc>
                          <a:spcPts val="2630"/>
                        </a:lnSpc>
                      </a:pPr>
                      <a:r>
                        <a:rPr sz="2250" b="1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MongoDB</a:t>
                      </a:r>
                      <a:endParaRPr sz="2250">
                        <a:latin typeface="Arial"/>
                        <a:cs typeface="Arial"/>
                      </a:endParaRPr>
                    </a:p>
                    <a:p>
                      <a:pPr marL="194945">
                        <a:lnSpc>
                          <a:spcPct val="100000"/>
                        </a:lnSpc>
                        <a:spcBef>
                          <a:spcPts val="1150"/>
                        </a:spcBef>
                      </a:pPr>
                      <a:r>
                        <a:rPr sz="1350" spc="-2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NoSQL</a:t>
                      </a:r>
                      <a:r>
                        <a:rPr sz="1350" spc="-45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50" spc="-1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Database</a:t>
                      </a:r>
                      <a:endParaRPr sz="13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2850" spc="-50" dirty="0">
                          <a:solidFill>
                            <a:srgbClr val="B8AAA1"/>
                          </a:solidFill>
                          <a:latin typeface="Times New Roman"/>
                          <a:cs typeface="Times New Roman"/>
                        </a:rPr>
                        <a:t>-</a:t>
                      </a:r>
                      <a:endParaRPr sz="2850">
                        <a:latin typeface="Times New Roman"/>
                        <a:cs typeface="Times New Roman"/>
                      </a:endParaRPr>
                    </a:p>
                  </a:txBody>
                  <a:tcPr marL="0" marR="0" marT="1524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EDEBE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180340">
                        <a:lnSpc>
                          <a:spcPts val="2630"/>
                        </a:lnSpc>
                      </a:pPr>
                      <a:r>
                        <a:rPr sz="2250" b="1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Express.js</a:t>
                      </a:r>
                      <a:endParaRPr sz="2250">
                        <a:latin typeface="Arial"/>
                        <a:cs typeface="Arial"/>
                      </a:endParaRPr>
                    </a:p>
                    <a:p>
                      <a:pPr marL="186690" marR="437515" indent="5080">
                        <a:lnSpc>
                          <a:spcPct val="117100"/>
                        </a:lnSpc>
                        <a:spcBef>
                          <a:spcPts val="869"/>
                        </a:spcBef>
                      </a:pPr>
                      <a:r>
                        <a:rPr sz="135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Web</a:t>
                      </a:r>
                      <a:r>
                        <a:rPr sz="1350" spc="-45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50" spc="-1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Application Framework</a:t>
                      </a:r>
                      <a:endParaRPr sz="13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28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8777" y="2663266"/>
            <a:ext cx="1718680" cy="127143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80734" y="3038005"/>
            <a:ext cx="778777" cy="214136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570655" y="1766568"/>
            <a:ext cx="0" cy="615950"/>
          </a:xfrm>
          <a:custGeom>
            <a:avLst/>
            <a:gdLst/>
            <a:ahLst/>
            <a:cxnLst/>
            <a:rect l="l" t="t" r="r" b="b"/>
            <a:pathLst>
              <a:path h="615950">
                <a:moveTo>
                  <a:pt x="0" y="615642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8586692" y="3225374"/>
            <a:ext cx="0" cy="709930"/>
          </a:xfrm>
          <a:custGeom>
            <a:avLst/>
            <a:gdLst/>
            <a:ahLst/>
            <a:cxnLst/>
            <a:rect l="l" t="t" r="r" b="b"/>
            <a:pathLst>
              <a:path h="709929">
                <a:moveTo>
                  <a:pt x="0" y="70932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989182" y="1766568"/>
            <a:ext cx="617855" cy="615950"/>
          </a:xfrm>
          <a:custGeom>
            <a:avLst/>
            <a:gdLst/>
            <a:ahLst/>
            <a:cxnLst/>
            <a:rect l="l" t="t" r="r" b="b"/>
            <a:pathLst>
              <a:path w="617854" h="615950">
                <a:moveTo>
                  <a:pt x="597509" y="615642"/>
                </a:moveTo>
                <a:lnTo>
                  <a:pt x="597509" y="0"/>
                </a:lnTo>
              </a:path>
              <a:path w="617854" h="615950">
                <a:moveTo>
                  <a:pt x="0" y="0"/>
                </a:moveTo>
                <a:lnTo>
                  <a:pt x="617650" y="0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63942" y="1766568"/>
            <a:ext cx="617855" cy="0"/>
          </a:xfrm>
          <a:custGeom>
            <a:avLst/>
            <a:gdLst/>
            <a:ahLst/>
            <a:cxnLst/>
            <a:rect l="l" t="t" r="r" b="b"/>
            <a:pathLst>
              <a:path w="617855">
                <a:moveTo>
                  <a:pt x="0" y="0"/>
                </a:moveTo>
                <a:lnTo>
                  <a:pt x="61765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693783" y="3914625"/>
            <a:ext cx="913130" cy="0"/>
          </a:xfrm>
          <a:custGeom>
            <a:avLst/>
            <a:gdLst/>
            <a:ahLst/>
            <a:cxnLst/>
            <a:rect l="l" t="t" r="r" b="b"/>
            <a:pathLst>
              <a:path w="913129">
                <a:moveTo>
                  <a:pt x="0" y="0"/>
                </a:moveTo>
                <a:lnTo>
                  <a:pt x="91304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651218" y="1846870"/>
            <a:ext cx="2665730" cy="515620"/>
          </a:xfrm>
          <a:custGeom>
            <a:avLst/>
            <a:gdLst/>
            <a:ahLst/>
            <a:cxnLst/>
            <a:rect l="l" t="t" r="r" b="b"/>
            <a:pathLst>
              <a:path w="2665729" h="515619">
                <a:moveTo>
                  <a:pt x="0" y="508574"/>
                </a:moveTo>
                <a:lnTo>
                  <a:pt x="516947" y="508574"/>
                </a:lnTo>
              </a:path>
              <a:path w="2665729" h="515619">
                <a:moveTo>
                  <a:pt x="510233" y="515265"/>
                </a:moveTo>
                <a:lnTo>
                  <a:pt x="510233" y="0"/>
                </a:lnTo>
              </a:path>
              <a:path w="2665729" h="515619">
                <a:moveTo>
                  <a:pt x="503519" y="100376"/>
                </a:moveTo>
                <a:lnTo>
                  <a:pt x="2665297" y="100376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975755" y="1846870"/>
            <a:ext cx="550545" cy="595630"/>
          </a:xfrm>
          <a:custGeom>
            <a:avLst/>
            <a:gdLst/>
            <a:ahLst/>
            <a:cxnLst/>
            <a:rect l="l" t="t" r="r" b="b"/>
            <a:pathLst>
              <a:path w="550545" h="595630">
                <a:moveTo>
                  <a:pt x="6712" y="595566"/>
                </a:moveTo>
                <a:lnTo>
                  <a:pt x="6712" y="0"/>
                </a:lnTo>
              </a:path>
              <a:path w="550545" h="595630">
                <a:moveTo>
                  <a:pt x="0" y="508574"/>
                </a:moveTo>
                <a:lnTo>
                  <a:pt x="550515" y="508574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309803" y="1940554"/>
            <a:ext cx="443230" cy="1813560"/>
          </a:xfrm>
          <a:custGeom>
            <a:avLst/>
            <a:gdLst/>
            <a:ahLst/>
            <a:cxnLst/>
            <a:rect l="l" t="t" r="r" b="b"/>
            <a:pathLst>
              <a:path w="443229" h="1813560">
                <a:moveTo>
                  <a:pt x="6712" y="1813469"/>
                </a:moveTo>
                <a:lnTo>
                  <a:pt x="6712" y="0"/>
                </a:lnTo>
              </a:path>
              <a:path w="443229" h="1813560">
                <a:moveTo>
                  <a:pt x="0" y="113761"/>
                </a:moveTo>
                <a:lnTo>
                  <a:pt x="443097" y="113761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827403" y="1947246"/>
            <a:ext cx="0" cy="1800225"/>
          </a:xfrm>
          <a:custGeom>
            <a:avLst/>
            <a:gdLst/>
            <a:ahLst/>
            <a:cxnLst/>
            <a:rect l="l" t="t" r="r" b="b"/>
            <a:pathLst>
              <a:path h="1800225">
                <a:moveTo>
                  <a:pt x="0" y="1800085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154738" y="2121231"/>
            <a:ext cx="2168525" cy="0"/>
          </a:xfrm>
          <a:custGeom>
            <a:avLst/>
            <a:gdLst/>
            <a:ahLst/>
            <a:cxnLst/>
            <a:rect l="l" t="t" r="r" b="b"/>
            <a:pathLst>
              <a:path w="2168525">
                <a:moveTo>
                  <a:pt x="0" y="0"/>
                </a:moveTo>
                <a:lnTo>
                  <a:pt x="216849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3309803" y="2268451"/>
            <a:ext cx="443230" cy="0"/>
          </a:xfrm>
          <a:custGeom>
            <a:avLst/>
            <a:gdLst/>
            <a:ahLst/>
            <a:cxnLst/>
            <a:rect l="l" t="t" r="r" b="b"/>
            <a:pathLst>
              <a:path w="443229">
                <a:moveTo>
                  <a:pt x="0" y="0"/>
                </a:moveTo>
                <a:lnTo>
                  <a:pt x="443097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646462" y="2114540"/>
            <a:ext cx="0" cy="1519555"/>
          </a:xfrm>
          <a:custGeom>
            <a:avLst/>
            <a:gdLst/>
            <a:ahLst/>
            <a:cxnLst/>
            <a:rect l="l" t="t" r="r" b="b"/>
            <a:pathLst>
              <a:path h="1519554">
                <a:moveTo>
                  <a:pt x="0" y="151903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1530700" y="2268451"/>
            <a:ext cx="1664970" cy="655955"/>
            <a:chOff x="1530700" y="2268451"/>
            <a:chExt cx="1664970" cy="655955"/>
          </a:xfrm>
        </p:grpSpPr>
        <p:sp>
          <p:nvSpPr>
            <p:cNvPr id="17" name="object 17"/>
            <p:cNvSpPr/>
            <p:nvPr/>
          </p:nvSpPr>
          <p:spPr>
            <a:xfrm>
              <a:off x="1537414" y="2268451"/>
              <a:ext cx="0" cy="655955"/>
            </a:xfrm>
            <a:custGeom>
              <a:avLst/>
              <a:gdLst/>
              <a:ahLst/>
              <a:cxnLst/>
              <a:rect l="l" t="t" r="r" b="b"/>
              <a:pathLst>
                <a:path h="655955">
                  <a:moveTo>
                    <a:pt x="0" y="655792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530700" y="2442436"/>
              <a:ext cx="1664970" cy="0"/>
            </a:xfrm>
            <a:custGeom>
              <a:avLst/>
              <a:gdLst/>
              <a:ahLst/>
              <a:cxnLst/>
              <a:rect l="l" t="t" r="r" b="b"/>
              <a:pathLst>
                <a:path w="1664970">
                  <a:moveTo>
                    <a:pt x="0" y="0"/>
                  </a:moveTo>
                  <a:lnTo>
                    <a:pt x="1664972" y="0"/>
                  </a:lnTo>
                </a:path>
              </a:pathLst>
            </a:custGeom>
            <a:ln w="66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/>
          <p:nvPr/>
        </p:nvSpPr>
        <p:spPr>
          <a:xfrm>
            <a:off x="3752901" y="2261759"/>
            <a:ext cx="0" cy="542290"/>
          </a:xfrm>
          <a:custGeom>
            <a:avLst/>
            <a:gdLst/>
            <a:ahLst/>
            <a:cxnLst/>
            <a:rect l="l" t="t" r="r" b="b"/>
            <a:pathLst>
              <a:path h="542289">
                <a:moveTo>
                  <a:pt x="0" y="542033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785490" y="2348751"/>
            <a:ext cx="0" cy="1398905"/>
          </a:xfrm>
          <a:custGeom>
            <a:avLst/>
            <a:gdLst/>
            <a:ahLst/>
            <a:cxnLst/>
            <a:rect l="l" t="t" r="r" b="b"/>
            <a:pathLst>
              <a:path h="1398904">
                <a:moveTo>
                  <a:pt x="0" y="139858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8371857" y="2348751"/>
            <a:ext cx="0" cy="890269"/>
          </a:xfrm>
          <a:custGeom>
            <a:avLst/>
            <a:gdLst/>
            <a:ahLst/>
            <a:cxnLst/>
            <a:rect l="l" t="t" r="r" b="b"/>
            <a:pathLst>
              <a:path h="890269">
                <a:moveTo>
                  <a:pt x="0" y="89000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78777" y="2656573"/>
            <a:ext cx="1685289" cy="0"/>
          </a:xfrm>
          <a:custGeom>
            <a:avLst/>
            <a:gdLst/>
            <a:ahLst/>
            <a:cxnLst/>
            <a:rect l="l" t="t" r="r" b="b"/>
            <a:pathLst>
              <a:path w="1685289">
                <a:moveTo>
                  <a:pt x="0" y="0"/>
                </a:moveTo>
                <a:lnTo>
                  <a:pt x="1685113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7982467" y="2656573"/>
            <a:ext cx="396240" cy="0"/>
          </a:xfrm>
          <a:custGeom>
            <a:avLst/>
            <a:gdLst/>
            <a:ahLst/>
            <a:cxnLst/>
            <a:rect l="l" t="t" r="r" b="b"/>
            <a:pathLst>
              <a:path w="396240">
                <a:moveTo>
                  <a:pt x="0" y="0"/>
                </a:moveTo>
                <a:lnTo>
                  <a:pt x="396102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530700" y="2736874"/>
            <a:ext cx="839469" cy="0"/>
          </a:xfrm>
          <a:custGeom>
            <a:avLst/>
            <a:gdLst/>
            <a:ahLst/>
            <a:cxnLst/>
            <a:rect l="l" t="t" r="r" b="b"/>
            <a:pathLst>
              <a:path w="839469">
                <a:moveTo>
                  <a:pt x="0" y="0"/>
                </a:moveTo>
                <a:lnTo>
                  <a:pt x="83919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2463890" y="2736874"/>
            <a:ext cx="732155" cy="0"/>
          </a:xfrm>
          <a:custGeom>
            <a:avLst/>
            <a:gdLst/>
            <a:ahLst/>
            <a:cxnLst/>
            <a:rect l="l" t="t" r="r" b="b"/>
            <a:pathLst>
              <a:path w="732155">
                <a:moveTo>
                  <a:pt x="0" y="0"/>
                </a:moveTo>
                <a:lnTo>
                  <a:pt x="73178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778777" y="2803792"/>
            <a:ext cx="765810" cy="0"/>
          </a:xfrm>
          <a:custGeom>
            <a:avLst/>
            <a:gdLst/>
            <a:ahLst/>
            <a:cxnLst/>
            <a:rect l="l" t="t" r="r" b="b"/>
            <a:pathLst>
              <a:path w="765810">
                <a:moveTo>
                  <a:pt x="0" y="0"/>
                </a:moveTo>
                <a:lnTo>
                  <a:pt x="765350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2369899" y="2730182"/>
            <a:ext cx="0" cy="140970"/>
          </a:xfrm>
          <a:custGeom>
            <a:avLst/>
            <a:gdLst/>
            <a:ahLst/>
            <a:cxnLst/>
            <a:rect l="l" t="t" r="r" b="b"/>
            <a:pathLst>
              <a:path h="140969">
                <a:moveTo>
                  <a:pt x="0" y="140527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2463890" y="2736874"/>
            <a:ext cx="0" cy="897255"/>
          </a:xfrm>
          <a:custGeom>
            <a:avLst/>
            <a:gdLst/>
            <a:ahLst/>
            <a:cxnLst/>
            <a:rect l="l" t="t" r="r" b="b"/>
            <a:pathLst>
              <a:path h="897254">
                <a:moveTo>
                  <a:pt x="0" y="896695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3195672" y="2730182"/>
            <a:ext cx="0" cy="910590"/>
          </a:xfrm>
          <a:custGeom>
            <a:avLst/>
            <a:gdLst/>
            <a:ahLst/>
            <a:cxnLst/>
            <a:rect l="l" t="t" r="r" b="b"/>
            <a:pathLst>
              <a:path h="910589">
                <a:moveTo>
                  <a:pt x="0" y="91008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6639748" y="2803792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6639748" y="2870709"/>
            <a:ext cx="1739264" cy="0"/>
          </a:xfrm>
          <a:custGeom>
            <a:avLst/>
            <a:gdLst/>
            <a:ahLst/>
            <a:cxnLst/>
            <a:rect l="l" t="t" r="r" b="b"/>
            <a:pathLst>
              <a:path w="1739265">
                <a:moveTo>
                  <a:pt x="0" y="0"/>
                </a:moveTo>
                <a:lnTo>
                  <a:pt x="1738822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2369899" y="2870709"/>
            <a:ext cx="0" cy="53975"/>
          </a:xfrm>
          <a:custGeom>
            <a:avLst/>
            <a:gdLst/>
            <a:ahLst/>
            <a:cxnLst/>
            <a:rect l="l" t="t" r="r" b="b"/>
            <a:pathLst>
              <a:path h="53975">
                <a:moveTo>
                  <a:pt x="0" y="53534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3752901" y="2870709"/>
            <a:ext cx="0" cy="542290"/>
          </a:xfrm>
          <a:custGeom>
            <a:avLst/>
            <a:gdLst/>
            <a:ahLst/>
            <a:cxnLst/>
            <a:rect l="l" t="t" r="r" b="b"/>
            <a:pathLst>
              <a:path h="542289">
                <a:moveTo>
                  <a:pt x="0" y="542033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5820688" y="2924243"/>
            <a:ext cx="832485" cy="0"/>
          </a:xfrm>
          <a:custGeom>
            <a:avLst/>
            <a:gdLst/>
            <a:ahLst/>
            <a:cxnLst/>
            <a:rect l="l" t="t" r="r" b="b"/>
            <a:pathLst>
              <a:path w="832484">
                <a:moveTo>
                  <a:pt x="0" y="0"/>
                </a:moveTo>
                <a:lnTo>
                  <a:pt x="8324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2369899" y="2924243"/>
            <a:ext cx="0" cy="716280"/>
          </a:xfrm>
          <a:custGeom>
            <a:avLst/>
            <a:gdLst/>
            <a:ahLst/>
            <a:cxnLst/>
            <a:rect l="l" t="t" r="r" b="b"/>
            <a:pathLst>
              <a:path h="716279">
                <a:moveTo>
                  <a:pt x="0" y="71601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5820688" y="3024620"/>
            <a:ext cx="2558415" cy="0"/>
          </a:xfrm>
          <a:custGeom>
            <a:avLst/>
            <a:gdLst/>
            <a:ahLst/>
            <a:cxnLst/>
            <a:rect l="l" t="t" r="r" b="b"/>
            <a:pathLst>
              <a:path w="2558415">
                <a:moveTo>
                  <a:pt x="0" y="0"/>
                </a:moveTo>
                <a:lnTo>
                  <a:pt x="255788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5820688" y="3232065"/>
            <a:ext cx="832485" cy="0"/>
          </a:xfrm>
          <a:custGeom>
            <a:avLst/>
            <a:gdLst/>
            <a:ahLst/>
            <a:cxnLst/>
            <a:rect l="l" t="t" r="r" b="b"/>
            <a:pathLst>
              <a:path w="832484">
                <a:moveTo>
                  <a:pt x="0" y="0"/>
                </a:moveTo>
                <a:lnTo>
                  <a:pt x="8324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7693783" y="3232065"/>
            <a:ext cx="832485" cy="0"/>
          </a:xfrm>
          <a:custGeom>
            <a:avLst/>
            <a:gdLst/>
            <a:ahLst/>
            <a:cxnLst/>
            <a:rect l="l" t="t" r="r" b="b"/>
            <a:pathLst>
              <a:path w="832484">
                <a:moveTo>
                  <a:pt x="0" y="0"/>
                </a:moveTo>
                <a:lnTo>
                  <a:pt x="8324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6639748" y="3298983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40"/>
          <p:cNvGrpSpPr/>
          <p:nvPr/>
        </p:nvGrpSpPr>
        <p:grpSpPr>
          <a:xfrm>
            <a:off x="7687069" y="3232065"/>
            <a:ext cx="839469" cy="622935"/>
            <a:chOff x="7687069" y="3232065"/>
            <a:chExt cx="839469" cy="622935"/>
          </a:xfrm>
        </p:grpSpPr>
        <p:sp>
          <p:nvSpPr>
            <p:cNvPr id="41" name="object 41"/>
            <p:cNvSpPr/>
            <p:nvPr/>
          </p:nvSpPr>
          <p:spPr>
            <a:xfrm>
              <a:off x="7693783" y="3232065"/>
              <a:ext cx="0" cy="622935"/>
            </a:xfrm>
            <a:custGeom>
              <a:avLst/>
              <a:gdLst/>
              <a:ahLst/>
              <a:cxnLst/>
              <a:rect l="l" t="t" r="r" b="b"/>
              <a:pathLst>
                <a:path h="622935">
                  <a:moveTo>
                    <a:pt x="0" y="622334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687069" y="3298983"/>
              <a:ext cx="839469" cy="107314"/>
            </a:xfrm>
            <a:custGeom>
              <a:avLst/>
              <a:gdLst/>
              <a:ahLst/>
              <a:cxnLst/>
              <a:rect l="l" t="t" r="r" b="b"/>
              <a:pathLst>
                <a:path w="839470" h="107314">
                  <a:moveTo>
                    <a:pt x="0" y="107067"/>
                  </a:moveTo>
                  <a:lnTo>
                    <a:pt x="684787" y="107067"/>
                  </a:lnTo>
                </a:path>
                <a:path w="839470" h="107314">
                  <a:moveTo>
                    <a:pt x="295398" y="0"/>
                  </a:moveTo>
                  <a:lnTo>
                    <a:pt x="839200" y="0"/>
                  </a:lnTo>
                </a:path>
              </a:pathLst>
            </a:custGeom>
            <a:ln w="670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/>
          <p:nvPr/>
        </p:nvSpPr>
        <p:spPr>
          <a:xfrm>
            <a:off x="1537414" y="3406051"/>
            <a:ext cx="839469" cy="0"/>
          </a:xfrm>
          <a:custGeom>
            <a:avLst/>
            <a:gdLst/>
            <a:ahLst/>
            <a:cxnLst/>
            <a:rect l="l" t="t" r="r" b="b"/>
            <a:pathLst>
              <a:path w="839469">
                <a:moveTo>
                  <a:pt x="0" y="0"/>
                </a:moveTo>
                <a:lnTo>
                  <a:pt x="83919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3309803" y="3406051"/>
            <a:ext cx="450215" cy="0"/>
          </a:xfrm>
          <a:custGeom>
            <a:avLst/>
            <a:gdLst/>
            <a:ahLst/>
            <a:cxnLst/>
            <a:rect l="l" t="t" r="r" b="b"/>
            <a:pathLst>
              <a:path w="450214">
                <a:moveTo>
                  <a:pt x="0" y="0"/>
                </a:moveTo>
                <a:lnTo>
                  <a:pt x="44981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6639748" y="346627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2457177" y="3466277"/>
            <a:ext cx="745490" cy="0"/>
          </a:xfrm>
          <a:custGeom>
            <a:avLst/>
            <a:gdLst/>
            <a:ahLst/>
            <a:cxnLst/>
            <a:rect l="l" t="t" r="r" b="b"/>
            <a:pathLst>
              <a:path w="745489">
                <a:moveTo>
                  <a:pt x="0" y="0"/>
                </a:moveTo>
                <a:lnTo>
                  <a:pt x="74520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7687069" y="3466277"/>
            <a:ext cx="295910" cy="0"/>
          </a:xfrm>
          <a:custGeom>
            <a:avLst/>
            <a:gdLst/>
            <a:ahLst/>
            <a:cxnLst/>
            <a:rect l="l" t="t" r="r" b="b"/>
            <a:pathLst>
              <a:path w="295909">
                <a:moveTo>
                  <a:pt x="0" y="0"/>
                </a:moveTo>
                <a:lnTo>
                  <a:pt x="29539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537414" y="3506427"/>
            <a:ext cx="839469" cy="0"/>
          </a:xfrm>
          <a:custGeom>
            <a:avLst/>
            <a:gdLst/>
            <a:ahLst/>
            <a:cxnLst/>
            <a:rect l="l" t="t" r="r" b="b"/>
            <a:pathLst>
              <a:path w="839469">
                <a:moveTo>
                  <a:pt x="0" y="0"/>
                </a:moveTo>
                <a:lnTo>
                  <a:pt x="83919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537414" y="3633570"/>
            <a:ext cx="839469" cy="0"/>
          </a:xfrm>
          <a:custGeom>
            <a:avLst/>
            <a:gdLst/>
            <a:ahLst/>
            <a:cxnLst/>
            <a:rect l="l" t="t" r="r" b="b"/>
            <a:pathLst>
              <a:path w="839469">
                <a:moveTo>
                  <a:pt x="0" y="0"/>
                </a:moveTo>
                <a:lnTo>
                  <a:pt x="839199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2457177" y="3633570"/>
            <a:ext cx="745490" cy="0"/>
          </a:xfrm>
          <a:custGeom>
            <a:avLst/>
            <a:gdLst/>
            <a:ahLst/>
            <a:cxnLst/>
            <a:rect l="l" t="t" r="r" b="b"/>
            <a:pathLst>
              <a:path w="745489">
                <a:moveTo>
                  <a:pt x="0" y="0"/>
                </a:moveTo>
                <a:lnTo>
                  <a:pt x="74520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3309803" y="3633570"/>
            <a:ext cx="443230" cy="0"/>
          </a:xfrm>
          <a:custGeom>
            <a:avLst/>
            <a:gdLst/>
            <a:ahLst/>
            <a:cxnLst/>
            <a:rect l="l" t="t" r="r" b="b"/>
            <a:pathLst>
              <a:path w="443229">
                <a:moveTo>
                  <a:pt x="0" y="0"/>
                </a:moveTo>
                <a:lnTo>
                  <a:pt x="443097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161452" y="3747332"/>
            <a:ext cx="2162175" cy="0"/>
          </a:xfrm>
          <a:custGeom>
            <a:avLst/>
            <a:gdLst/>
            <a:ahLst/>
            <a:cxnLst/>
            <a:rect l="l" t="t" r="r" b="b"/>
            <a:pathLst>
              <a:path w="2162175">
                <a:moveTo>
                  <a:pt x="0" y="0"/>
                </a:moveTo>
                <a:lnTo>
                  <a:pt x="216177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5820688" y="3747332"/>
            <a:ext cx="1880235" cy="0"/>
          </a:xfrm>
          <a:custGeom>
            <a:avLst/>
            <a:gdLst/>
            <a:ahLst/>
            <a:cxnLst/>
            <a:rect l="l" t="t" r="r" b="b"/>
            <a:pathLst>
              <a:path w="1880234">
                <a:moveTo>
                  <a:pt x="0" y="0"/>
                </a:moveTo>
                <a:lnTo>
                  <a:pt x="1879807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 txBox="1"/>
          <p:nvPr/>
        </p:nvSpPr>
        <p:spPr>
          <a:xfrm>
            <a:off x="387971" y="316161"/>
            <a:ext cx="4591050" cy="8356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300" b="1" spc="-434" dirty="0">
                <a:solidFill>
                  <a:srgbClr val="010101"/>
                </a:solidFill>
                <a:latin typeface="Times New Roman"/>
                <a:cs typeface="Times New Roman"/>
              </a:rPr>
              <a:t>Frontend:</a:t>
            </a:r>
            <a:r>
              <a:rPr sz="5300" b="1" spc="-10" dirty="0">
                <a:solidFill>
                  <a:srgbClr val="010101"/>
                </a:solidFill>
                <a:latin typeface="Times New Roman"/>
                <a:cs typeface="Times New Roman"/>
              </a:rPr>
              <a:t> </a:t>
            </a:r>
            <a:r>
              <a:rPr sz="5300" b="1" spc="-355" dirty="0">
                <a:solidFill>
                  <a:srgbClr val="010101"/>
                </a:solidFill>
                <a:latin typeface="Times New Roman"/>
                <a:cs typeface="Times New Roman"/>
              </a:rPr>
              <a:t>React.js</a:t>
            </a:r>
            <a:endParaRPr sz="5300">
              <a:latin typeface="Times New Roman"/>
              <a:cs typeface="Times New Roman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393004" y="1203796"/>
            <a:ext cx="6638290" cy="3086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50" spc="-125" dirty="0">
                <a:solidFill>
                  <a:srgbClr val="010101"/>
                </a:solidFill>
                <a:latin typeface="Arial"/>
                <a:cs typeface="Arial"/>
              </a:rPr>
              <a:t>Building</a:t>
            </a:r>
            <a:r>
              <a:rPr sz="1850" spc="-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20" dirty="0">
                <a:solidFill>
                  <a:srgbClr val="010101"/>
                </a:solidFill>
                <a:latin typeface="Arial"/>
                <a:cs typeface="Arial"/>
              </a:rPr>
              <a:t>interactive</a:t>
            </a:r>
            <a:r>
              <a:rPr sz="1850" spc="-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65" dirty="0">
                <a:solidFill>
                  <a:srgbClr val="010101"/>
                </a:solidFill>
                <a:latin typeface="Arial"/>
                <a:cs typeface="Arial"/>
              </a:rPr>
              <a:t>UI</a:t>
            </a:r>
            <a:r>
              <a:rPr sz="1850" spc="-7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80" dirty="0">
                <a:solidFill>
                  <a:srgbClr val="010101"/>
                </a:solidFill>
                <a:latin typeface="Arial"/>
                <a:cs typeface="Arial"/>
              </a:rPr>
              <a:t>for</a:t>
            </a:r>
            <a:r>
              <a:rPr sz="1850" spc="-2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25" dirty="0">
                <a:solidFill>
                  <a:srgbClr val="010101"/>
                </a:solidFill>
                <a:latin typeface="Arial"/>
                <a:cs typeface="Arial"/>
              </a:rPr>
              <a:t>destination</a:t>
            </a:r>
            <a:r>
              <a:rPr sz="1850" spc="6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00" dirty="0">
                <a:solidFill>
                  <a:srgbClr val="010101"/>
                </a:solidFill>
                <a:latin typeface="Arial"/>
                <a:cs typeface="Arial"/>
              </a:rPr>
              <a:t>e</a:t>
            </a:r>
            <a:r>
              <a:rPr sz="1850" spc="-100" dirty="0">
                <a:solidFill>
                  <a:srgbClr val="1C150F"/>
                </a:solidFill>
                <a:latin typeface="Arial"/>
                <a:cs typeface="Arial"/>
              </a:rPr>
              <a:t>x</a:t>
            </a:r>
            <a:r>
              <a:rPr sz="1850" spc="-100" dirty="0">
                <a:solidFill>
                  <a:srgbClr val="010101"/>
                </a:solidFill>
                <a:latin typeface="Arial"/>
                <a:cs typeface="Arial"/>
              </a:rPr>
              <a:t>ploration</a:t>
            </a:r>
            <a:r>
              <a:rPr sz="1850" spc="-29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65" dirty="0">
                <a:solidFill>
                  <a:srgbClr val="010101"/>
                </a:solidFill>
                <a:latin typeface="Arial"/>
                <a:cs typeface="Arial"/>
              </a:rPr>
              <a:t>and</a:t>
            </a:r>
            <a:r>
              <a:rPr sz="1850" spc="-1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00" dirty="0">
                <a:solidFill>
                  <a:srgbClr val="010101"/>
                </a:solidFill>
                <a:latin typeface="Arial"/>
                <a:cs typeface="Arial"/>
              </a:rPr>
              <a:t>profile</a:t>
            </a:r>
            <a:r>
              <a:rPr sz="1850" spc="-11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00" dirty="0">
                <a:solidFill>
                  <a:srgbClr val="010101"/>
                </a:solidFill>
                <a:latin typeface="Arial"/>
                <a:cs typeface="Arial"/>
              </a:rPr>
              <a:t>management.</a:t>
            </a:r>
            <a:endParaRPr sz="1850">
              <a:latin typeface="Arial"/>
              <a:cs typeface="Arial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594114" y="1702194"/>
            <a:ext cx="506095" cy="6978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400" spc="-1445" dirty="0">
                <a:solidFill>
                  <a:srgbClr val="332821"/>
                </a:solidFill>
                <a:latin typeface="Arial"/>
                <a:cs typeface="Arial"/>
              </a:rPr>
              <a:t>Em</a:t>
            </a:r>
            <a:endParaRPr sz="4400">
              <a:latin typeface="Arial"/>
              <a:cs typeface="Arial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8031401" y="1717389"/>
            <a:ext cx="518159" cy="5835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650" spc="95" dirty="0">
                <a:solidFill>
                  <a:srgbClr val="332821"/>
                </a:solidFill>
                <a:latin typeface="Arial"/>
                <a:cs typeface="Arial"/>
              </a:rPr>
              <a:t>@</a:t>
            </a:r>
            <a:endParaRPr sz="365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5827403" y="1947246"/>
            <a:ext cx="2155190" cy="173990"/>
          </a:xfrm>
          <a:prstGeom prst="rect">
            <a:avLst/>
          </a:prstGeom>
          <a:ln w="13427">
            <a:solidFill>
              <a:srgbClr val="000000"/>
            </a:solidFill>
          </a:ln>
        </p:spPr>
        <p:txBody>
          <a:bodyPr vert="horz" wrap="square" lIns="0" tIns="26034" rIns="0" bIns="0" rtlCol="0">
            <a:spAutoFit/>
          </a:bodyPr>
          <a:lstStyle/>
          <a:p>
            <a:pPr marL="68580">
              <a:lnSpc>
                <a:spcPct val="100000"/>
              </a:lnSpc>
              <a:spcBef>
                <a:spcPts val="204"/>
              </a:spcBef>
            </a:pPr>
            <a:r>
              <a:rPr sz="900" b="1" spc="-25" dirty="0">
                <a:solidFill>
                  <a:srgbClr val="332821"/>
                </a:solidFill>
                <a:latin typeface="Arial"/>
                <a:cs typeface="Arial"/>
              </a:rPr>
              <a:t>000</a:t>
            </a:r>
            <a:endParaRPr sz="900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5827403" y="2121231"/>
            <a:ext cx="819150" cy="803275"/>
          </a:xfrm>
          <a:prstGeom prst="rect">
            <a:avLst/>
          </a:prstGeom>
          <a:ln w="13427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146685">
              <a:lnSpc>
                <a:spcPts val="6325"/>
              </a:lnSpc>
            </a:pPr>
            <a:r>
              <a:rPr sz="5550" spc="30" dirty="0">
                <a:solidFill>
                  <a:srgbClr val="332821"/>
                </a:solidFill>
                <a:latin typeface="Arial"/>
                <a:cs typeface="Arial"/>
              </a:rPr>
              <a:t>®</a:t>
            </a:r>
            <a:endParaRPr sz="555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6764023" y="2157937"/>
            <a:ext cx="1151890" cy="463550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60"/>
              </a:spcBef>
            </a:pP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Profil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e</a:t>
            </a: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M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a</a:t>
            </a: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n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a</a:t>
            </a: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gem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e</a:t>
            </a: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n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  <a:p>
            <a:pPr marL="13970">
              <a:lnSpc>
                <a:spcPct val="100000"/>
              </a:lnSpc>
              <a:spcBef>
                <a:spcPts val="405"/>
              </a:spcBef>
            </a:pPr>
            <a:r>
              <a:rPr sz="1000" b="1" spc="-120" dirty="0">
                <a:solidFill>
                  <a:srgbClr val="1C150F"/>
                </a:solidFill>
                <a:latin typeface="Arial"/>
                <a:cs typeface="Arial"/>
              </a:rPr>
              <a:t>Personal</a:t>
            </a:r>
            <a:r>
              <a:rPr sz="1000" b="1" spc="-45" dirty="0">
                <a:solidFill>
                  <a:srgbClr val="1C150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010101"/>
                </a:solidFill>
                <a:latin typeface="Arial"/>
                <a:cs typeface="Arial"/>
              </a:rPr>
              <a:t>In</a:t>
            </a:r>
            <a:r>
              <a:rPr sz="1000" b="1" spc="-10" dirty="0">
                <a:solidFill>
                  <a:srgbClr val="1C150F"/>
                </a:solidFill>
                <a:latin typeface="Arial"/>
                <a:cs typeface="Arial"/>
              </a:rPr>
              <a:t>fo</a:t>
            </a:r>
            <a:r>
              <a:rPr sz="1000" b="1" spc="-10" dirty="0">
                <a:solidFill>
                  <a:srgbClr val="010101"/>
                </a:solidFill>
                <a:latin typeface="Arial"/>
                <a:cs typeface="Arial"/>
              </a:rPr>
              <a:t>r</a:t>
            </a:r>
            <a:r>
              <a:rPr sz="1000" b="1" spc="-10" dirty="0">
                <a:solidFill>
                  <a:srgbClr val="1C150F"/>
                </a:solidFill>
                <a:latin typeface="Arial"/>
                <a:cs typeface="Arial"/>
              </a:rPr>
              <a:t>ma</a:t>
            </a:r>
            <a:r>
              <a:rPr sz="1000" b="1" spc="-10" dirty="0">
                <a:solidFill>
                  <a:srgbClr val="010101"/>
                </a:solidFill>
                <a:latin typeface="Arial"/>
                <a:cs typeface="Arial"/>
              </a:rPr>
              <a:t>t</a:t>
            </a:r>
            <a:r>
              <a:rPr sz="1000" b="1" spc="-10" dirty="0">
                <a:solidFill>
                  <a:srgbClr val="1C150F"/>
                </a:solidFill>
                <a:latin typeface="Arial"/>
                <a:cs typeface="Arial"/>
              </a:rPr>
              <a:t>io</a:t>
            </a:r>
            <a:r>
              <a:rPr sz="1000" b="1" spc="-10" dirty="0">
                <a:solidFill>
                  <a:srgbClr val="010101"/>
                </a:solidFill>
                <a:latin typeface="Arial"/>
                <a:cs typeface="Arial"/>
              </a:rPr>
              <a:t>n</a:t>
            </a:r>
            <a:endParaRPr sz="1000">
              <a:latin typeface="Arial"/>
              <a:cs typeface="Arial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1641548" y="2216390"/>
            <a:ext cx="1332230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D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e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stin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a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t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i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on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Ex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plor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a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tion</a:t>
            </a:r>
            <a:endParaRPr sz="1150">
              <a:latin typeface="Arial"/>
              <a:cs typeface="Arial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870883" y="2469702"/>
            <a:ext cx="35941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50" dirty="0">
                <a:solidFill>
                  <a:srgbClr val="010101"/>
                </a:solidFill>
                <a:latin typeface="Arial"/>
                <a:cs typeface="Arial"/>
              </a:rPr>
              <a:t>Fil</a:t>
            </a:r>
            <a:r>
              <a:rPr sz="1000" b="1" spc="-50" dirty="0">
                <a:solidFill>
                  <a:srgbClr val="1C150F"/>
                </a:solidFill>
                <a:latin typeface="Arial"/>
                <a:cs typeface="Arial"/>
              </a:rPr>
              <a:t>te</a:t>
            </a:r>
            <a:r>
              <a:rPr sz="1000" b="1" spc="-50" dirty="0">
                <a:solidFill>
                  <a:srgbClr val="010101"/>
                </a:solidFill>
                <a:latin typeface="Arial"/>
                <a:cs typeface="Arial"/>
              </a:rPr>
              <a:t>r</a:t>
            </a:r>
            <a:r>
              <a:rPr sz="1000" b="1" spc="-50" dirty="0">
                <a:solidFill>
                  <a:srgbClr val="1C150F"/>
                </a:solidFill>
                <a:latin typeface="Arial"/>
                <a:cs typeface="Arial"/>
              </a:rPr>
              <a:t>s</a:t>
            </a:r>
            <a:endParaRPr sz="1000">
              <a:latin typeface="Arial"/>
              <a:cs typeface="Aria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1635818" y="2444561"/>
            <a:ext cx="71755" cy="216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spc="-50" dirty="0">
                <a:solidFill>
                  <a:srgbClr val="3F3B36"/>
                </a:solidFill>
                <a:latin typeface="Arial"/>
                <a:cs typeface="Arial"/>
              </a:rPr>
              <a:t>(</a:t>
            </a:r>
            <a:endParaRPr sz="1250">
              <a:latin typeface="Arial"/>
              <a:cs typeface="Aria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2777130" y="2451253"/>
            <a:ext cx="468630" cy="216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u="heavy" spc="204" dirty="0">
                <a:solidFill>
                  <a:srgbClr val="3F3B36"/>
                </a:solidFill>
                <a:uFill>
                  <a:solidFill>
                    <a:srgbClr val="3F3B36"/>
                  </a:solidFill>
                </a:uFill>
                <a:latin typeface="Arial"/>
                <a:cs typeface="Arial"/>
              </a:rPr>
              <a:t>)CS)</a:t>
            </a:r>
            <a:endParaRPr sz="1250">
              <a:latin typeface="Arial"/>
              <a:cs typeface="Arial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5114076" y="2192659"/>
            <a:ext cx="696595" cy="1017905"/>
          </a:xfrm>
          <a:prstGeom prst="rect">
            <a:avLst/>
          </a:prstGeom>
        </p:spPr>
        <p:txBody>
          <a:bodyPr vert="horz" wrap="square" lIns="0" tIns="1371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80"/>
              </a:spcBef>
            </a:pPr>
            <a:r>
              <a:rPr sz="3100" spc="-509" dirty="0">
                <a:solidFill>
                  <a:srgbClr val="332821"/>
                </a:solidFill>
                <a:latin typeface="Arial"/>
                <a:cs typeface="Arial"/>
              </a:rPr>
              <a:t>c=:::&gt;</a:t>
            </a:r>
            <a:endParaRPr sz="3100">
              <a:latin typeface="Arial"/>
              <a:cs typeface="Arial"/>
            </a:endParaRPr>
          </a:p>
          <a:p>
            <a:pPr marL="14604">
              <a:lnSpc>
                <a:spcPct val="100000"/>
              </a:lnSpc>
              <a:spcBef>
                <a:spcPts val="650"/>
              </a:spcBef>
            </a:pPr>
            <a:r>
              <a:rPr sz="2050" spc="114" dirty="0">
                <a:solidFill>
                  <a:srgbClr val="332821"/>
                </a:solidFill>
                <a:latin typeface="Arial"/>
                <a:cs typeface="Arial"/>
              </a:rPr>
              <a:t>¢==1</a:t>
            </a:r>
            <a:endParaRPr sz="2050">
              <a:latin typeface="Arial"/>
              <a:cs typeface="Arial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7409124" y="2605489"/>
            <a:ext cx="102489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84480" algn="l"/>
                <a:tab pos="1011555" algn="l"/>
              </a:tabLst>
            </a:pPr>
            <a:r>
              <a:rPr sz="1300" dirty="0">
                <a:solidFill>
                  <a:srgbClr val="332821"/>
                </a:solidFill>
                <a:latin typeface="Arial"/>
                <a:cs typeface="Arial"/>
              </a:rPr>
              <a:t>)</a:t>
            </a:r>
            <a:r>
              <a:rPr sz="1300" spc="-114" dirty="0">
                <a:solidFill>
                  <a:srgbClr val="332821"/>
                </a:solidFill>
                <a:latin typeface="Arial"/>
                <a:cs typeface="Arial"/>
              </a:rPr>
              <a:t> </a:t>
            </a:r>
            <a:r>
              <a:rPr sz="1300" spc="-50" dirty="0">
                <a:solidFill>
                  <a:srgbClr val="332821"/>
                </a:solidFill>
                <a:latin typeface="Arial"/>
                <a:cs typeface="Arial"/>
              </a:rPr>
              <a:t>(</a:t>
            </a:r>
            <a:r>
              <a:rPr sz="1300" dirty="0">
                <a:solidFill>
                  <a:srgbClr val="332821"/>
                </a:solidFill>
                <a:latin typeface="Arial"/>
                <a:cs typeface="Arial"/>
              </a:rPr>
              <a:t>	</a:t>
            </a:r>
            <a:r>
              <a:rPr sz="1300" u="heavy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130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2400216" y="3144408"/>
            <a:ext cx="204470" cy="3086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50" spc="-390" dirty="0">
                <a:solidFill>
                  <a:srgbClr val="332821"/>
                </a:solidFill>
                <a:latin typeface="Arial"/>
                <a:cs typeface="Arial"/>
              </a:rPr>
              <a:t>�</a:t>
            </a:r>
            <a:endParaRPr sz="1850">
              <a:latin typeface="Arial"/>
              <a:cs typeface="Arial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5957344" y="3113227"/>
            <a:ext cx="203200" cy="361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200" spc="95" dirty="0">
                <a:solidFill>
                  <a:srgbClr val="332821"/>
                </a:solidFill>
                <a:latin typeface="Times New Roman"/>
                <a:cs typeface="Times New Roman"/>
              </a:rPr>
              <a:t>=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7724592" y="3236977"/>
            <a:ext cx="180975" cy="12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b="1" spc="-25" dirty="0">
                <a:solidFill>
                  <a:srgbClr val="332821"/>
                </a:solidFill>
                <a:latin typeface="Arial"/>
                <a:cs typeface="Arial"/>
              </a:rPr>
              <a:t>000</a:t>
            </a:r>
            <a:endParaRPr sz="650">
              <a:latin typeface="Arial"/>
              <a:cs typeface="Arial"/>
            </a:endParaRPr>
          </a:p>
        </p:txBody>
      </p:sp>
      <p:sp>
        <p:nvSpPr>
          <p:cNvPr id="70" name="object 70"/>
          <p:cNvSpPr/>
          <p:nvPr/>
        </p:nvSpPr>
        <p:spPr>
          <a:xfrm>
            <a:off x="7234232" y="3426126"/>
            <a:ext cx="60960" cy="0"/>
          </a:xfrm>
          <a:custGeom>
            <a:avLst/>
            <a:gdLst/>
            <a:ahLst/>
            <a:cxnLst/>
            <a:rect l="l" t="t" r="r" b="b"/>
            <a:pathLst>
              <a:path w="60959">
                <a:moveTo>
                  <a:pt x="0" y="0"/>
                </a:moveTo>
                <a:lnTo>
                  <a:pt x="60422" y="0"/>
                </a:lnTo>
              </a:path>
            </a:pathLst>
          </a:custGeom>
          <a:ln w="12732">
            <a:solidFill>
              <a:srgbClr val="3F3B3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 txBox="1"/>
          <p:nvPr/>
        </p:nvSpPr>
        <p:spPr>
          <a:xfrm>
            <a:off x="8330624" y="3372439"/>
            <a:ext cx="11874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25" dirty="0">
                <a:solidFill>
                  <a:srgbClr val="332821"/>
                </a:solidFill>
                <a:latin typeface="Arial"/>
                <a:cs typeface="Arial"/>
              </a:rPr>
              <a:t>D</a:t>
            </a:r>
            <a:endParaRPr sz="900">
              <a:latin typeface="Arial"/>
              <a:cs typeface="Arial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6758294" y="3244506"/>
            <a:ext cx="554990" cy="42735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180"/>
              </a:spcBef>
              <a:tabLst>
                <a:tab pos="475615" algn="l"/>
              </a:tabLst>
            </a:pPr>
            <a:r>
              <a:rPr sz="1875" baseline="2222" dirty="0">
                <a:solidFill>
                  <a:srgbClr val="3F3B36"/>
                </a:solidFill>
                <a:latin typeface="Times New Roman"/>
                <a:cs typeface="Times New Roman"/>
              </a:rPr>
              <a:t>(	</a:t>
            </a:r>
            <a:r>
              <a:rPr sz="1250" dirty="0">
                <a:solidFill>
                  <a:srgbClr val="3F3B36"/>
                </a:solidFill>
                <a:latin typeface="Arial"/>
                <a:cs typeface="Arial"/>
              </a:rPr>
              <a:t>)</a:t>
            </a:r>
            <a:endParaRPr sz="12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"/>
              </a:spcBef>
              <a:tabLst>
                <a:tab pos="481965" algn="l"/>
              </a:tabLst>
            </a:pPr>
            <a:r>
              <a:rPr sz="1250" dirty="0">
                <a:solidFill>
                  <a:srgbClr val="332821"/>
                </a:solidFill>
                <a:latin typeface="Arial"/>
                <a:cs typeface="Arial"/>
              </a:rPr>
              <a:t>(	)</a:t>
            </a:r>
            <a:endParaRPr sz="1250">
              <a:latin typeface="Arial"/>
              <a:cs typeface="Arial"/>
            </a:endParaRPr>
          </a:p>
        </p:txBody>
      </p:sp>
      <p:sp>
        <p:nvSpPr>
          <p:cNvPr id="73" name="object 73"/>
          <p:cNvSpPr txBox="1"/>
          <p:nvPr/>
        </p:nvSpPr>
        <p:spPr>
          <a:xfrm>
            <a:off x="2492782" y="3361798"/>
            <a:ext cx="215265" cy="384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spc="105" dirty="0">
                <a:solidFill>
                  <a:srgbClr val="1C150F"/>
                </a:solidFill>
                <a:latin typeface="Times New Roman"/>
                <a:cs typeface="Times New Roman"/>
              </a:rPr>
              <a:t>=</a:t>
            </a:r>
            <a:endParaRPr sz="2350">
              <a:latin typeface="Times New Roman"/>
              <a:cs typeface="Times New Roman"/>
            </a:endParaRPr>
          </a:p>
        </p:txBody>
      </p:sp>
      <p:sp>
        <p:nvSpPr>
          <p:cNvPr id="74" name="object 74"/>
          <p:cNvSpPr txBox="1"/>
          <p:nvPr/>
        </p:nvSpPr>
        <p:spPr>
          <a:xfrm>
            <a:off x="7674369" y="3492891"/>
            <a:ext cx="864869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68655" algn="l"/>
              </a:tabLst>
            </a:pPr>
            <a:r>
              <a:rPr sz="900" b="1" u="heavy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r>
              <a:rPr sz="900" b="1" u="heavy" spc="25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D</a:t>
            </a:r>
            <a:r>
              <a:rPr sz="900" b="1" u="heavy" spc="500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endParaRPr sz="900">
              <a:latin typeface="Arial"/>
              <a:cs typeface="Arial"/>
            </a:endParaRPr>
          </a:p>
        </p:txBody>
      </p:sp>
      <p:sp>
        <p:nvSpPr>
          <p:cNvPr id="75" name="object 75"/>
          <p:cNvSpPr txBox="1"/>
          <p:nvPr/>
        </p:nvSpPr>
        <p:spPr>
          <a:xfrm>
            <a:off x="8330624" y="3606651"/>
            <a:ext cx="11874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25" dirty="0">
                <a:solidFill>
                  <a:srgbClr val="1C150F"/>
                </a:solidFill>
                <a:latin typeface="Arial"/>
                <a:cs typeface="Arial"/>
              </a:rPr>
              <a:t>D</a:t>
            </a:r>
            <a:endParaRPr sz="900">
              <a:latin typeface="Arial"/>
              <a:cs typeface="Arial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7674369" y="3727103"/>
            <a:ext cx="864869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68655" algn="l"/>
              </a:tabLst>
            </a:pPr>
            <a:r>
              <a:rPr sz="900" b="1" u="heavy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r>
              <a:rPr sz="900" b="1" u="heavy" spc="25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D</a:t>
            </a:r>
            <a:r>
              <a:rPr sz="900" b="1" u="heavy" spc="500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endParaRPr sz="900">
              <a:latin typeface="Arial"/>
              <a:cs typeface="Arial"/>
            </a:endParaRPr>
          </a:p>
        </p:txBody>
      </p:sp>
      <p:sp>
        <p:nvSpPr>
          <p:cNvPr id="77" name="object 77"/>
          <p:cNvSpPr txBox="1"/>
          <p:nvPr/>
        </p:nvSpPr>
        <p:spPr>
          <a:xfrm>
            <a:off x="322682" y="4395118"/>
            <a:ext cx="4173854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08965" indent="-570865">
              <a:lnSpc>
                <a:spcPct val="100000"/>
              </a:lnSpc>
              <a:spcBef>
                <a:spcPts val="105"/>
              </a:spcBef>
              <a:buClr>
                <a:srgbClr val="B17C6D"/>
              </a:buClr>
              <a:buSzPts val="7200"/>
              <a:buChar char="•"/>
              <a:tabLst>
                <a:tab pos="608965" algn="l"/>
                <a:tab pos="2266950" algn="l"/>
                <a:tab pos="3347085" algn="l"/>
                <a:tab pos="3757929" algn="l"/>
              </a:tabLst>
            </a:pPr>
            <a:r>
              <a:rPr sz="1750" spc="-120" dirty="0">
                <a:solidFill>
                  <a:srgbClr val="010101"/>
                </a:solidFill>
                <a:latin typeface="Arial"/>
                <a:cs typeface="Arial"/>
              </a:rPr>
              <a:t>dynami</a:t>
            </a:r>
            <a:r>
              <a:rPr sz="1750" spc="-6655" dirty="0">
                <a:solidFill>
                  <a:srgbClr val="010101"/>
                </a:solidFill>
                <a:latin typeface="Arial"/>
                <a:cs typeface="Arial"/>
              </a:rPr>
              <a:t>c</a:t>
            </a:r>
            <a:r>
              <a:rPr sz="2625" spc="-195" baseline="66666" dirty="0">
                <a:solidFill>
                  <a:srgbClr val="010101"/>
                </a:solidFill>
                <a:latin typeface="Arial"/>
                <a:cs typeface="Arial"/>
              </a:rPr>
              <a:t>Component-</a:t>
            </a:r>
            <a:r>
              <a:rPr sz="2625" spc="-75" baseline="66666" dirty="0">
                <a:solidFill>
                  <a:srgbClr val="010101"/>
                </a:solidFill>
                <a:latin typeface="Arial"/>
                <a:cs typeface="Arial"/>
              </a:rPr>
              <a:t>base</a:t>
            </a:r>
            <a:r>
              <a:rPr sz="2625" spc="-6240" baseline="66666" dirty="0">
                <a:solidFill>
                  <a:srgbClr val="010101"/>
                </a:solidFill>
                <a:latin typeface="Arial"/>
                <a:cs typeface="Arial"/>
              </a:rPr>
              <a:t>d</a:t>
            </a:r>
            <a:r>
              <a:rPr sz="1750" spc="-50" dirty="0">
                <a:solidFill>
                  <a:srgbClr val="010101"/>
                </a:solidFill>
                <a:latin typeface="Arial"/>
                <a:cs typeface="Arial"/>
              </a:rPr>
              <a:t>responsiv</a:t>
            </a:r>
            <a:r>
              <a:rPr sz="1750" spc="-11900" dirty="0">
                <a:solidFill>
                  <a:srgbClr val="010101"/>
                </a:solidFill>
                <a:latin typeface="Arial"/>
                <a:cs typeface="Arial"/>
              </a:rPr>
              <a:t>e</a:t>
            </a:r>
            <a:r>
              <a:rPr sz="1750" spc="-50" dirty="0">
                <a:solidFill>
                  <a:srgbClr val="010101"/>
                </a:solidFill>
                <a:latin typeface="Arial"/>
                <a:cs typeface="Arial"/>
              </a:rPr>
              <a:t>an</a:t>
            </a:r>
            <a:r>
              <a:rPr sz="1750" spc="-40" dirty="0">
                <a:solidFill>
                  <a:srgbClr val="010101"/>
                </a:solidFill>
                <a:latin typeface="Arial"/>
                <a:cs typeface="Arial"/>
              </a:rPr>
              <a:t>d</a:t>
            </a:r>
            <a:r>
              <a:rPr sz="1750" dirty="0">
                <a:solidFill>
                  <a:srgbClr val="010101"/>
                </a:solidFill>
                <a:latin typeface="Arial"/>
                <a:cs typeface="Arial"/>
              </a:rPr>
              <a:t>		</a:t>
            </a:r>
            <a:r>
              <a:rPr sz="2625" spc="-750" baseline="66666" dirty="0">
                <a:solidFill>
                  <a:srgbClr val="010101"/>
                </a:solidFill>
                <a:latin typeface="Arial"/>
                <a:cs typeface="Arial"/>
              </a:rPr>
              <a:t>architectur</a:t>
            </a:r>
            <a:r>
              <a:rPr sz="2625" spc="-1582" baseline="66666" dirty="0">
                <a:solidFill>
                  <a:srgbClr val="010101"/>
                </a:solidFill>
                <a:latin typeface="Arial"/>
                <a:cs typeface="Arial"/>
              </a:rPr>
              <a:t>e</a:t>
            </a:r>
            <a:r>
              <a:rPr sz="1750" spc="-1850" dirty="0">
                <a:solidFill>
                  <a:srgbClr val="010101"/>
                </a:solidFill>
                <a:latin typeface="Arial"/>
                <a:cs typeface="Arial"/>
              </a:rPr>
              <a:t>n</a:t>
            </a:r>
            <a:r>
              <a:rPr sz="1750" spc="-4485" dirty="0">
                <a:solidFill>
                  <a:srgbClr val="010101"/>
                </a:solidFill>
                <a:latin typeface="Arial"/>
                <a:cs typeface="Arial"/>
              </a:rPr>
              <a:t>i</a:t>
            </a:r>
            <a:r>
              <a:rPr sz="1750" spc="-505" dirty="0">
                <a:solidFill>
                  <a:srgbClr val="010101"/>
                </a:solidFill>
                <a:latin typeface="Arial"/>
                <a:cs typeface="Arial"/>
              </a:rPr>
              <a:t>user</a:t>
            </a:r>
            <a:r>
              <a:rPr sz="1750" dirty="0">
                <a:solidFill>
                  <a:srgbClr val="010101"/>
                </a:solidFill>
                <a:latin typeface="Arial"/>
                <a:cs typeface="Arial"/>
              </a:rPr>
              <a:t>	</a:t>
            </a:r>
            <a:r>
              <a:rPr sz="1750" spc="65" dirty="0">
                <a:solidFill>
                  <a:srgbClr val="010101"/>
                </a:solidFill>
                <a:latin typeface="Arial"/>
                <a:cs typeface="Arial"/>
              </a:rPr>
              <a:t>t</a:t>
            </a:r>
            <a:r>
              <a:rPr sz="1750" spc="-1335" dirty="0">
                <a:solidFill>
                  <a:srgbClr val="010101"/>
                </a:solidFill>
                <a:latin typeface="Arial"/>
                <a:cs typeface="Arial"/>
              </a:rPr>
              <a:t>e</a:t>
            </a:r>
            <a:r>
              <a:rPr sz="2625" spc="112" baseline="66666" dirty="0">
                <a:solidFill>
                  <a:srgbClr val="010101"/>
                </a:solidFill>
                <a:latin typeface="Arial"/>
                <a:cs typeface="Arial"/>
              </a:rPr>
              <a:t>fo</a:t>
            </a:r>
            <a:r>
              <a:rPr sz="2625" spc="-82" baseline="66666" dirty="0">
                <a:solidFill>
                  <a:srgbClr val="010101"/>
                </a:solidFill>
                <a:latin typeface="Arial"/>
                <a:cs typeface="Arial"/>
              </a:rPr>
              <a:t>r</a:t>
            </a:r>
            <a:r>
              <a:rPr sz="1750" spc="65" dirty="0">
                <a:solidFill>
                  <a:srgbClr val="1C150F"/>
                </a:solidFill>
                <a:latin typeface="Arial"/>
                <a:cs typeface="Arial"/>
              </a:rPr>
              <a:t>f</a:t>
            </a:r>
            <a:r>
              <a:rPr sz="1750" spc="-1980" dirty="0">
                <a:solidFill>
                  <a:srgbClr val="010101"/>
                </a:solidFill>
                <a:latin typeface="Arial"/>
                <a:cs typeface="Arial"/>
              </a:rPr>
              <a:t>a</a:t>
            </a:r>
            <a:r>
              <a:rPr sz="1750" spc="75" dirty="0">
                <a:solidFill>
                  <a:srgbClr val="010101"/>
                </a:solidFill>
                <a:latin typeface="Arial"/>
                <a:cs typeface="Arial"/>
              </a:rPr>
              <a:t>r</a:t>
            </a:r>
            <a:r>
              <a:rPr sz="1750" dirty="0">
                <a:solidFill>
                  <a:srgbClr val="010101"/>
                </a:solidFill>
                <a:latin typeface="Arial"/>
                <a:cs typeface="Arial"/>
              </a:rPr>
              <a:t>		</a:t>
            </a:r>
            <a:r>
              <a:rPr sz="1750" spc="-20" dirty="0">
                <a:solidFill>
                  <a:srgbClr val="1C150F"/>
                </a:solidFill>
                <a:latin typeface="Arial"/>
                <a:cs typeface="Arial"/>
              </a:rPr>
              <a:t>c</a:t>
            </a:r>
            <a:r>
              <a:rPr sz="1750" spc="-20" dirty="0">
                <a:solidFill>
                  <a:srgbClr val="010101"/>
                </a:solidFill>
                <a:latin typeface="Arial"/>
                <a:cs typeface="Arial"/>
              </a:rPr>
              <a:t>es</a:t>
            </a:r>
            <a:r>
              <a:rPr sz="1750" spc="-20" dirty="0">
                <a:solidFill>
                  <a:srgbClr val="332821"/>
                </a:solidFill>
                <a:latin typeface="Arial"/>
                <a:cs typeface="Arial"/>
              </a:rPr>
              <a:t>.</a:t>
            </a:r>
            <a:endParaRPr sz="1750" dirty="0">
              <a:latin typeface="Arial"/>
              <a:cs typeface="Arial"/>
            </a:endParaRPr>
          </a:p>
        </p:txBody>
      </p:sp>
      <p:sp>
        <p:nvSpPr>
          <p:cNvPr id="78" name="object 78"/>
          <p:cNvSpPr txBox="1"/>
          <p:nvPr/>
        </p:nvSpPr>
        <p:spPr>
          <a:xfrm>
            <a:off x="4678353" y="3908617"/>
            <a:ext cx="321945" cy="11258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7200" spc="-140" dirty="0">
                <a:solidFill>
                  <a:srgbClr val="B17C6D"/>
                </a:solidFill>
                <a:latin typeface="Arial"/>
                <a:cs typeface="Arial"/>
              </a:rPr>
              <a:t>•</a:t>
            </a:r>
            <a:endParaRPr sz="7200">
              <a:latin typeface="Arial"/>
              <a:cs typeface="Arial"/>
            </a:endParaRPr>
          </a:p>
        </p:txBody>
      </p:sp>
      <p:sp>
        <p:nvSpPr>
          <p:cNvPr id="79" name="object 79"/>
          <p:cNvSpPr txBox="1"/>
          <p:nvPr/>
        </p:nvSpPr>
        <p:spPr>
          <a:xfrm>
            <a:off x="5246527" y="4127447"/>
            <a:ext cx="3453765" cy="5607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6510" marR="5080" indent="-4445">
              <a:lnSpc>
                <a:spcPct val="100000"/>
              </a:lnSpc>
              <a:spcBef>
                <a:spcPts val="105"/>
              </a:spcBef>
            </a:pPr>
            <a:r>
              <a:rPr sz="1750" spc="-90" dirty="0">
                <a:solidFill>
                  <a:srgbClr val="010101"/>
                </a:solidFill>
                <a:latin typeface="Arial"/>
                <a:cs typeface="Arial"/>
              </a:rPr>
              <a:t>Effi</a:t>
            </a:r>
            <a:r>
              <a:rPr sz="1750" spc="-90" dirty="0">
                <a:solidFill>
                  <a:srgbClr val="1C150F"/>
                </a:solidFill>
                <a:latin typeface="Arial"/>
                <a:cs typeface="Arial"/>
              </a:rPr>
              <a:t>c</a:t>
            </a:r>
            <a:r>
              <a:rPr sz="1750" spc="-90" dirty="0">
                <a:solidFill>
                  <a:srgbClr val="010101"/>
                </a:solidFill>
                <a:latin typeface="Arial"/>
                <a:cs typeface="Arial"/>
              </a:rPr>
              <a:t>ient</a:t>
            </a:r>
            <a:r>
              <a:rPr sz="1750" spc="-7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90" dirty="0">
                <a:solidFill>
                  <a:srgbClr val="1C150F"/>
                </a:solidFill>
                <a:latin typeface="Arial"/>
                <a:cs typeface="Arial"/>
              </a:rPr>
              <a:t>s</a:t>
            </a:r>
            <a:r>
              <a:rPr sz="1750" spc="-90" dirty="0">
                <a:solidFill>
                  <a:srgbClr val="010101"/>
                </a:solidFill>
                <a:latin typeface="Arial"/>
                <a:cs typeface="Arial"/>
              </a:rPr>
              <a:t>tatemanagement</a:t>
            </a:r>
            <a:r>
              <a:rPr sz="1750" spc="4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25" dirty="0">
                <a:solidFill>
                  <a:srgbClr val="010101"/>
                </a:solidFill>
                <a:latin typeface="Arial"/>
                <a:cs typeface="Arial"/>
              </a:rPr>
              <a:t>for </a:t>
            </a:r>
            <a:r>
              <a:rPr sz="1750" spc="-120" dirty="0">
                <a:solidFill>
                  <a:srgbClr val="010101"/>
                </a:solidFill>
                <a:latin typeface="Arial"/>
                <a:cs typeface="Arial"/>
              </a:rPr>
              <a:t>seamless</a:t>
            </a:r>
            <a:r>
              <a:rPr sz="1750" spc="-6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75" dirty="0">
                <a:solidFill>
                  <a:srgbClr val="010101"/>
                </a:solidFill>
                <a:latin typeface="Arial"/>
                <a:cs typeface="Arial"/>
              </a:rPr>
              <a:t>na</a:t>
            </a:r>
            <a:r>
              <a:rPr sz="1750" spc="-75" dirty="0">
                <a:solidFill>
                  <a:srgbClr val="1C150F"/>
                </a:solidFill>
                <a:latin typeface="Arial"/>
                <a:cs typeface="Arial"/>
              </a:rPr>
              <a:t>v</a:t>
            </a:r>
            <a:r>
              <a:rPr sz="1750" spc="-75" dirty="0">
                <a:solidFill>
                  <a:srgbClr val="010101"/>
                </a:solidFill>
                <a:latin typeface="Arial"/>
                <a:cs typeface="Arial"/>
              </a:rPr>
              <a:t>igation</a:t>
            </a:r>
            <a:r>
              <a:rPr sz="1750" spc="-254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120" dirty="0">
                <a:solidFill>
                  <a:srgbClr val="010101"/>
                </a:solidFill>
                <a:latin typeface="Arial"/>
                <a:cs typeface="Arial"/>
              </a:rPr>
              <a:t>and</a:t>
            </a:r>
            <a:r>
              <a:rPr sz="1750" spc="-14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95" dirty="0">
                <a:solidFill>
                  <a:srgbClr val="010101"/>
                </a:solidFill>
                <a:latin typeface="Arial"/>
                <a:cs typeface="Arial"/>
              </a:rPr>
              <a:t>data</a:t>
            </a:r>
            <a:r>
              <a:rPr sz="1750" spc="-8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70" dirty="0">
                <a:solidFill>
                  <a:srgbClr val="010101"/>
                </a:solidFill>
                <a:latin typeface="Arial"/>
                <a:cs typeface="Arial"/>
              </a:rPr>
              <a:t>updates</a:t>
            </a:r>
            <a:r>
              <a:rPr sz="1750" spc="-70" dirty="0">
                <a:solidFill>
                  <a:srgbClr val="332821"/>
                </a:solidFill>
                <a:latin typeface="Arial"/>
                <a:cs typeface="Arial"/>
              </a:rPr>
              <a:t>.</a:t>
            </a:r>
            <a:endParaRPr sz="1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4223" y="2181458"/>
            <a:ext cx="698214" cy="20075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4223" y="2797101"/>
            <a:ext cx="631078" cy="18736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773042" y="1739802"/>
            <a:ext cx="1624690" cy="243580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968715" y="2007472"/>
            <a:ext cx="1007039" cy="1003764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604223" y="2382211"/>
            <a:ext cx="0" cy="415290"/>
          </a:xfrm>
          <a:custGeom>
            <a:avLst/>
            <a:gdLst/>
            <a:ahLst/>
            <a:cxnLst/>
            <a:rect l="l" t="t" r="r" b="b"/>
            <a:pathLst>
              <a:path h="415289">
                <a:moveTo>
                  <a:pt x="0" y="414888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5398" y="1298145"/>
            <a:ext cx="8580120" cy="0"/>
          </a:xfrm>
          <a:custGeom>
            <a:avLst/>
            <a:gdLst/>
            <a:ahLst/>
            <a:cxnLst/>
            <a:rect l="l" t="t" r="r" b="b"/>
            <a:pathLst>
              <a:path w="8580120">
                <a:moveTo>
                  <a:pt x="0" y="0"/>
                </a:moveTo>
                <a:lnTo>
                  <a:pt x="857997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0147" rIns="0" bIns="0" rtlCol="0">
            <a:spAutoFit/>
          </a:bodyPr>
          <a:lstStyle/>
          <a:p>
            <a:pPr marL="74295">
              <a:lnSpc>
                <a:spcPct val="100000"/>
              </a:lnSpc>
              <a:spcBef>
                <a:spcPts val="115"/>
              </a:spcBef>
            </a:pPr>
            <a:r>
              <a:rPr sz="5500" spc="-620" dirty="0">
                <a:solidFill>
                  <a:srgbClr val="080503"/>
                </a:solidFill>
              </a:rPr>
              <a:t>System</a:t>
            </a:r>
            <a:r>
              <a:rPr sz="5500" spc="-405" dirty="0">
                <a:solidFill>
                  <a:srgbClr val="080503"/>
                </a:solidFill>
              </a:rPr>
              <a:t> </a:t>
            </a:r>
            <a:r>
              <a:rPr sz="5500" spc="-680" dirty="0">
                <a:solidFill>
                  <a:srgbClr val="080503"/>
                </a:solidFill>
              </a:rPr>
              <a:t>Component:</a:t>
            </a:r>
            <a:r>
              <a:rPr sz="5500" spc="-385" dirty="0">
                <a:solidFill>
                  <a:srgbClr val="080503"/>
                </a:solidFill>
              </a:rPr>
              <a:t> </a:t>
            </a:r>
            <a:r>
              <a:rPr sz="5500" spc="-710" dirty="0">
                <a:solidFill>
                  <a:srgbClr val="080503"/>
                </a:solidFill>
              </a:rPr>
              <a:t>Backend</a:t>
            </a:r>
            <a:r>
              <a:rPr sz="5500" spc="-305" dirty="0">
                <a:solidFill>
                  <a:srgbClr val="080503"/>
                </a:solidFill>
              </a:rPr>
              <a:t> </a:t>
            </a:r>
            <a:r>
              <a:rPr sz="5500" spc="-640" dirty="0">
                <a:solidFill>
                  <a:srgbClr val="080503"/>
                </a:solidFill>
              </a:rPr>
              <a:t>Server</a:t>
            </a:r>
            <a:endParaRPr sz="5500"/>
          </a:p>
        </p:txBody>
      </p:sp>
      <p:sp>
        <p:nvSpPr>
          <p:cNvPr id="9" name="object 9"/>
          <p:cNvSpPr txBox="1"/>
          <p:nvPr/>
        </p:nvSpPr>
        <p:spPr>
          <a:xfrm>
            <a:off x="559912" y="2404224"/>
            <a:ext cx="2170430" cy="12668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955" algn="ctr">
              <a:lnSpc>
                <a:spcPct val="100000"/>
              </a:lnSpc>
              <a:spcBef>
                <a:spcPts val="105"/>
              </a:spcBef>
              <a:tabLst>
                <a:tab pos="804545" algn="l"/>
              </a:tabLst>
            </a:pPr>
            <a:r>
              <a:rPr sz="2200" b="1" spc="-335" dirty="0">
                <a:solidFill>
                  <a:srgbClr val="523428"/>
                </a:solidFill>
                <a:latin typeface="Arial"/>
                <a:cs typeface="Arial"/>
              </a:rPr>
              <a:t>nve</a:t>
            </a:r>
            <a:r>
              <a:rPr sz="2200" b="1" dirty="0">
                <a:solidFill>
                  <a:srgbClr val="523428"/>
                </a:solidFill>
                <a:latin typeface="Arial"/>
                <a:cs typeface="Arial"/>
              </a:rPr>
              <a:t>	</a:t>
            </a:r>
            <a:r>
              <a:rPr sz="2250" spc="-10" dirty="0">
                <a:solidFill>
                  <a:srgbClr val="594942"/>
                </a:solidFill>
                <a:latin typeface="Arial"/>
                <a:cs typeface="Arial"/>
              </a:rPr>
              <a:t>{Express}</a:t>
            </a:r>
            <a:endParaRPr sz="2250">
              <a:latin typeface="Arial"/>
              <a:cs typeface="Arial"/>
            </a:endParaRPr>
          </a:p>
          <a:p>
            <a:pPr algn="ctr">
              <a:lnSpc>
                <a:spcPts val="2255"/>
              </a:lnSpc>
              <a:spcBef>
                <a:spcPts val="2555"/>
              </a:spcBef>
            </a:pPr>
            <a:r>
              <a:rPr sz="1950" spc="-120" dirty="0">
                <a:solidFill>
                  <a:srgbClr val="080503"/>
                </a:solidFill>
                <a:latin typeface="Arial"/>
                <a:cs typeface="Arial"/>
              </a:rPr>
              <a:t>Built</a:t>
            </a:r>
            <a:r>
              <a:rPr sz="1950" spc="-9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55" dirty="0">
                <a:solidFill>
                  <a:srgbClr val="080503"/>
                </a:solidFill>
                <a:latin typeface="Arial"/>
                <a:cs typeface="Arial"/>
              </a:rPr>
              <a:t>using</a:t>
            </a:r>
            <a:r>
              <a:rPr sz="1950" spc="-9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00" b="1" spc="-229" dirty="0">
                <a:solidFill>
                  <a:srgbClr val="080503"/>
                </a:solidFill>
                <a:latin typeface="Arial"/>
                <a:cs typeface="Arial"/>
              </a:rPr>
              <a:t>Node.js</a:t>
            </a:r>
            <a:r>
              <a:rPr sz="2000" b="1" spc="-6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14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endParaRPr sz="1950">
              <a:latin typeface="Arial"/>
              <a:cs typeface="Arial"/>
            </a:endParaRPr>
          </a:p>
          <a:p>
            <a:pPr marR="26670" algn="ctr">
              <a:lnSpc>
                <a:spcPts val="2255"/>
              </a:lnSpc>
            </a:pPr>
            <a:r>
              <a:rPr sz="2000" b="1" spc="-160" dirty="0">
                <a:solidFill>
                  <a:srgbClr val="080503"/>
                </a:solidFill>
                <a:latin typeface="Arial"/>
                <a:cs typeface="Arial"/>
              </a:rPr>
              <a:t>Express.js.</a:t>
            </a:r>
            <a:endParaRPr sz="20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469622" y="3071774"/>
            <a:ext cx="1963420" cy="871855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12700" marR="5080" indent="23495" algn="just">
              <a:lnSpc>
                <a:spcPct val="89900"/>
              </a:lnSpc>
              <a:spcBef>
                <a:spcPts val="345"/>
              </a:spcBef>
            </a:pPr>
            <a:r>
              <a:rPr sz="1950" spc="-200" dirty="0">
                <a:solidFill>
                  <a:srgbClr val="080503"/>
                </a:solidFill>
                <a:latin typeface="Arial"/>
                <a:cs typeface="Arial"/>
              </a:rPr>
              <a:t>Responsible</a:t>
            </a:r>
            <a:r>
              <a:rPr sz="1950" spc="1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40" dirty="0">
                <a:solidFill>
                  <a:srgbClr val="080503"/>
                </a:solidFill>
                <a:latin typeface="Arial"/>
                <a:cs typeface="Arial"/>
              </a:rPr>
              <a:t>for</a:t>
            </a:r>
            <a:r>
              <a:rPr sz="1950" spc="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00" b="1" spc="-204" dirty="0">
                <a:solidFill>
                  <a:srgbClr val="080503"/>
                </a:solidFill>
                <a:latin typeface="Arial"/>
                <a:cs typeface="Arial"/>
              </a:rPr>
              <a:t>core </a:t>
            </a:r>
            <a:r>
              <a:rPr sz="2000" b="1" spc="-305" dirty="0">
                <a:solidFill>
                  <a:srgbClr val="080503"/>
                </a:solidFill>
                <a:latin typeface="Arial"/>
                <a:cs typeface="Arial"/>
              </a:rPr>
              <a:t>business</a:t>
            </a:r>
            <a:r>
              <a:rPr sz="2000" b="1" spc="22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00" b="1" spc="-265" dirty="0">
                <a:solidFill>
                  <a:srgbClr val="080503"/>
                </a:solidFill>
                <a:latin typeface="Arial"/>
                <a:cs typeface="Arial"/>
              </a:rPr>
              <a:t>logic</a:t>
            </a:r>
            <a:r>
              <a:rPr sz="2000" b="1" spc="1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25" dirty="0">
                <a:solidFill>
                  <a:srgbClr val="080503"/>
                </a:solidFill>
                <a:latin typeface="Arial"/>
                <a:cs typeface="Arial"/>
              </a:rPr>
              <a:t>and </a:t>
            </a:r>
            <a:r>
              <a:rPr sz="1950" spc="-180" dirty="0">
                <a:solidFill>
                  <a:srgbClr val="080503"/>
                </a:solidFill>
                <a:latin typeface="Arial"/>
                <a:cs typeface="Arial"/>
              </a:rPr>
              <a:t>processing</a:t>
            </a:r>
            <a:r>
              <a:rPr sz="1950" spc="3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60" dirty="0">
                <a:solidFill>
                  <a:srgbClr val="080503"/>
                </a:solidFill>
                <a:latin typeface="Arial"/>
                <a:cs typeface="Arial"/>
              </a:rPr>
              <a:t>bookings.</a:t>
            </a:r>
            <a:endParaRPr sz="19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9340" y="1820103"/>
            <a:ext cx="2698866" cy="2770391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416243" y="1344987"/>
            <a:ext cx="8338820" cy="0"/>
          </a:xfrm>
          <a:custGeom>
            <a:avLst/>
            <a:gdLst/>
            <a:ahLst/>
            <a:cxnLst/>
            <a:rect l="l" t="t" r="r" b="b"/>
            <a:pathLst>
              <a:path w="8338820">
                <a:moveTo>
                  <a:pt x="0" y="0"/>
                </a:moveTo>
                <a:lnTo>
                  <a:pt x="833828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03134" y="328894"/>
            <a:ext cx="7574915" cy="82041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200" spc="-345" dirty="0">
                <a:solidFill>
                  <a:srgbClr val="070503"/>
                </a:solidFill>
              </a:rPr>
              <a:t>Backend:</a:t>
            </a:r>
            <a:r>
              <a:rPr sz="5200" spc="-180" dirty="0">
                <a:solidFill>
                  <a:srgbClr val="070503"/>
                </a:solidFill>
              </a:rPr>
              <a:t> </a:t>
            </a:r>
            <a:r>
              <a:rPr sz="5200" spc="-280" dirty="0">
                <a:solidFill>
                  <a:srgbClr val="070503"/>
                </a:solidFill>
              </a:rPr>
              <a:t>Express.js</a:t>
            </a:r>
            <a:r>
              <a:rPr sz="5200" spc="-190" dirty="0">
                <a:solidFill>
                  <a:srgbClr val="070503"/>
                </a:solidFill>
              </a:rPr>
              <a:t> </a:t>
            </a:r>
            <a:r>
              <a:rPr sz="4900" spc="-740" dirty="0">
                <a:solidFill>
                  <a:srgbClr val="070503"/>
                </a:solidFill>
              </a:rPr>
              <a:t>&amp;</a:t>
            </a:r>
            <a:r>
              <a:rPr sz="4900" spc="-215" dirty="0">
                <a:solidFill>
                  <a:srgbClr val="070503"/>
                </a:solidFill>
              </a:rPr>
              <a:t> </a:t>
            </a:r>
            <a:r>
              <a:rPr sz="5200" spc="-350" dirty="0">
                <a:solidFill>
                  <a:srgbClr val="070503"/>
                </a:solidFill>
              </a:rPr>
              <a:t>Node.js</a:t>
            </a:r>
            <a:endParaRPr sz="5200"/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4130">
              <a:lnSpc>
                <a:spcPts val="5065"/>
              </a:lnSpc>
              <a:tabLst>
                <a:tab pos="615950" algn="l"/>
              </a:tabLst>
            </a:pPr>
            <a:r>
              <a:rPr sz="4900" spc="-395" dirty="0">
                <a:solidFill>
                  <a:srgbClr val="B17C6D"/>
                </a:solidFill>
              </a:rPr>
              <a:t>0</a:t>
            </a:r>
            <a:r>
              <a:rPr sz="4900" dirty="0">
                <a:solidFill>
                  <a:srgbClr val="B17C6D"/>
                </a:solidFill>
              </a:rPr>
              <a:t>	</a:t>
            </a:r>
            <a:r>
              <a:rPr spc="-105" dirty="0"/>
              <a:t>Express.js</a:t>
            </a:r>
            <a:endParaRPr sz="4900"/>
          </a:p>
          <a:p>
            <a:pPr marL="615950" marR="416559" indent="3175">
              <a:lnSpc>
                <a:spcPct val="102899"/>
              </a:lnSpc>
              <a:spcBef>
                <a:spcPts val="55"/>
              </a:spcBef>
            </a:pPr>
            <a:r>
              <a:rPr sz="1750" b="0" spc="-105" dirty="0">
                <a:latin typeface="Arial"/>
                <a:cs typeface="Arial"/>
              </a:rPr>
              <a:t>Creating</a:t>
            </a:r>
            <a:r>
              <a:rPr sz="1750" b="0" spc="-20" dirty="0">
                <a:latin typeface="Arial"/>
                <a:cs typeface="Arial"/>
              </a:rPr>
              <a:t> </a:t>
            </a:r>
            <a:r>
              <a:rPr sz="1750" b="0" spc="-150" dirty="0">
                <a:latin typeface="Arial"/>
                <a:cs typeface="Arial"/>
              </a:rPr>
              <a:t>RESTful</a:t>
            </a:r>
            <a:r>
              <a:rPr sz="1750" b="0" spc="65" dirty="0">
                <a:latin typeface="Arial"/>
                <a:cs typeface="Arial"/>
              </a:rPr>
              <a:t> </a:t>
            </a:r>
            <a:r>
              <a:rPr sz="1750" b="0" spc="-80" dirty="0">
                <a:latin typeface="Arial"/>
                <a:cs typeface="Arial"/>
              </a:rPr>
              <a:t>APls</a:t>
            </a:r>
            <a:r>
              <a:rPr sz="1750" b="0" spc="-40" dirty="0">
                <a:latin typeface="Arial"/>
                <a:cs typeface="Arial"/>
              </a:rPr>
              <a:t> </a:t>
            </a:r>
            <a:r>
              <a:rPr sz="1750" b="0" spc="-25" dirty="0">
                <a:latin typeface="Arial"/>
                <a:cs typeface="Arial"/>
              </a:rPr>
              <a:t>for </a:t>
            </a:r>
            <a:r>
              <a:rPr sz="1750" b="0" spc="-60" dirty="0">
                <a:latin typeface="Arial"/>
                <a:cs typeface="Arial"/>
              </a:rPr>
              <a:t>authentication</a:t>
            </a:r>
            <a:r>
              <a:rPr sz="1750" b="0" spc="-95" dirty="0">
                <a:latin typeface="Arial"/>
                <a:cs typeface="Arial"/>
              </a:rPr>
              <a:t> </a:t>
            </a:r>
            <a:r>
              <a:rPr sz="1750" b="0" spc="-90" dirty="0">
                <a:latin typeface="Arial"/>
                <a:cs typeface="Arial"/>
              </a:rPr>
              <a:t>and</a:t>
            </a:r>
            <a:r>
              <a:rPr sz="1750" b="0" spc="-100" dirty="0">
                <a:latin typeface="Arial"/>
                <a:cs typeface="Arial"/>
              </a:rPr>
              <a:t> </a:t>
            </a:r>
            <a:r>
              <a:rPr sz="1750" b="0" spc="-45" dirty="0">
                <a:latin typeface="Arial"/>
                <a:cs typeface="Arial"/>
              </a:rPr>
              <a:t>payments</a:t>
            </a:r>
            <a:r>
              <a:rPr sz="1750" b="0" spc="-45" dirty="0">
                <a:solidFill>
                  <a:srgbClr val="231D1C"/>
                </a:solidFill>
                <a:latin typeface="Arial"/>
                <a:cs typeface="Arial"/>
              </a:rPr>
              <a:t>.</a:t>
            </a:r>
            <a:endParaRPr sz="1750">
              <a:latin typeface="Arial"/>
              <a:cs typeface="Arial"/>
            </a:endParaRPr>
          </a:p>
          <a:p>
            <a:pPr marL="12700">
              <a:lnSpc>
                <a:spcPts val="7630"/>
              </a:lnSpc>
            </a:pPr>
            <a:r>
              <a:rPr sz="6900" dirty="0">
                <a:solidFill>
                  <a:srgbClr val="B17C6D"/>
                </a:solidFill>
              </a:rPr>
              <a:t>e</a:t>
            </a:r>
            <a:r>
              <a:rPr sz="6900" spc="-30" dirty="0">
                <a:solidFill>
                  <a:srgbClr val="B17C6D"/>
                </a:solidFill>
              </a:rPr>
              <a:t> </a:t>
            </a:r>
            <a:r>
              <a:rPr spc="-70" dirty="0"/>
              <a:t>Node.js</a:t>
            </a:r>
            <a:endParaRPr sz="6900"/>
          </a:p>
          <a:p>
            <a:pPr marL="619760">
              <a:lnSpc>
                <a:spcPts val="1960"/>
              </a:lnSpc>
            </a:pPr>
            <a:r>
              <a:rPr sz="1750" b="0" spc="-125" dirty="0">
                <a:latin typeface="Arial"/>
                <a:cs typeface="Arial"/>
              </a:rPr>
              <a:t>Core</a:t>
            </a:r>
            <a:r>
              <a:rPr sz="1750" b="0" spc="-95" dirty="0">
                <a:latin typeface="Arial"/>
                <a:cs typeface="Arial"/>
              </a:rPr>
              <a:t> </a:t>
            </a:r>
            <a:r>
              <a:rPr sz="1750" b="0" spc="-55" dirty="0">
                <a:latin typeface="Arial"/>
                <a:cs typeface="Arial"/>
              </a:rPr>
              <a:t>logic</a:t>
            </a:r>
            <a:r>
              <a:rPr sz="1750" b="0" spc="-30" dirty="0">
                <a:latin typeface="Arial"/>
                <a:cs typeface="Arial"/>
              </a:rPr>
              <a:t> </a:t>
            </a:r>
            <a:r>
              <a:rPr sz="1750" b="0" spc="-95" dirty="0">
                <a:latin typeface="Arial"/>
                <a:cs typeface="Arial"/>
              </a:rPr>
              <a:t>handler</a:t>
            </a:r>
            <a:r>
              <a:rPr sz="1750" b="0" spc="15" dirty="0">
                <a:latin typeface="Arial"/>
                <a:cs typeface="Arial"/>
              </a:rPr>
              <a:t> </a:t>
            </a:r>
            <a:r>
              <a:rPr sz="1750" b="0" spc="-20" dirty="0">
                <a:latin typeface="Arial"/>
                <a:cs typeface="Arial"/>
              </a:rPr>
              <a:t>for</a:t>
            </a:r>
            <a:r>
              <a:rPr sz="1750" b="0" spc="-105" dirty="0">
                <a:latin typeface="Arial"/>
                <a:cs typeface="Arial"/>
              </a:rPr>
              <a:t> </a:t>
            </a:r>
            <a:r>
              <a:rPr sz="1750" b="0" spc="-50" dirty="0">
                <a:latin typeface="Arial"/>
                <a:cs typeface="Arial"/>
              </a:rPr>
              <a:t>coordinating</a:t>
            </a:r>
            <a:endParaRPr sz="1750">
              <a:latin typeface="Arial"/>
              <a:cs typeface="Arial"/>
            </a:endParaRPr>
          </a:p>
          <a:p>
            <a:pPr marL="615315">
              <a:lnSpc>
                <a:spcPct val="100000"/>
              </a:lnSpc>
              <a:spcBef>
                <a:spcPts val="110"/>
              </a:spcBef>
            </a:pPr>
            <a:r>
              <a:rPr sz="1750" b="0" spc="-60" dirty="0">
                <a:latin typeface="Arial"/>
                <a:cs typeface="Arial"/>
              </a:rPr>
              <a:t>frontend</a:t>
            </a:r>
            <a:r>
              <a:rPr sz="1750" b="0" spc="-30" dirty="0">
                <a:latin typeface="Arial"/>
                <a:cs typeface="Arial"/>
              </a:rPr>
              <a:t> </a:t>
            </a:r>
            <a:r>
              <a:rPr sz="1750" b="0" spc="-90" dirty="0">
                <a:latin typeface="Arial"/>
                <a:cs typeface="Arial"/>
              </a:rPr>
              <a:t>and</a:t>
            </a:r>
            <a:r>
              <a:rPr sz="1750" b="0" spc="-160" dirty="0">
                <a:latin typeface="Arial"/>
                <a:cs typeface="Arial"/>
              </a:rPr>
              <a:t> </a:t>
            </a:r>
            <a:r>
              <a:rPr sz="1750" b="0" spc="-10" dirty="0">
                <a:latin typeface="Arial"/>
                <a:cs typeface="Arial"/>
              </a:rPr>
              <a:t>database</a:t>
            </a:r>
            <a:r>
              <a:rPr sz="1750" b="0" spc="-10" dirty="0">
                <a:solidFill>
                  <a:srgbClr val="231D1C"/>
                </a:solidFill>
                <a:latin typeface="Arial"/>
                <a:cs typeface="Arial"/>
              </a:rPr>
              <a:t>.</a:t>
            </a:r>
            <a:endParaRPr sz="1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854" y="3814249"/>
            <a:ext cx="308825" cy="41488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15109" y="2810484"/>
            <a:ext cx="496806" cy="50857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868336" y="1980706"/>
            <a:ext cx="496806" cy="48180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754533" y="709270"/>
            <a:ext cx="389467" cy="709327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22956" y="1164309"/>
            <a:ext cx="0" cy="2998470"/>
          </a:xfrm>
          <a:custGeom>
            <a:avLst/>
            <a:gdLst/>
            <a:ahLst/>
            <a:cxnLst/>
            <a:rect l="l" t="t" r="r" b="b"/>
            <a:pathLst>
              <a:path h="2998470">
                <a:moveTo>
                  <a:pt x="0" y="2997911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021444" y="2770333"/>
            <a:ext cx="0" cy="1391920"/>
          </a:xfrm>
          <a:custGeom>
            <a:avLst/>
            <a:gdLst/>
            <a:ahLst/>
            <a:cxnLst/>
            <a:rect l="l" t="t" r="r" b="b"/>
            <a:pathLst>
              <a:path h="1391920">
                <a:moveTo>
                  <a:pt x="0" y="1391887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021444" y="1164309"/>
            <a:ext cx="0" cy="1151255"/>
          </a:xfrm>
          <a:custGeom>
            <a:avLst/>
            <a:gdLst/>
            <a:ahLst/>
            <a:cxnLst/>
            <a:rect l="l" t="t" r="r" b="b"/>
            <a:pathLst>
              <a:path h="1151255">
                <a:moveTo>
                  <a:pt x="0" y="1150983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135902" y="2971087"/>
            <a:ext cx="0" cy="1204595"/>
          </a:xfrm>
          <a:custGeom>
            <a:avLst/>
            <a:gdLst/>
            <a:ahLst/>
            <a:cxnLst/>
            <a:rect l="l" t="t" r="r" b="b"/>
            <a:pathLst>
              <a:path h="1204595">
                <a:moveTo>
                  <a:pt x="0" y="1204517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35902" y="1164309"/>
            <a:ext cx="0" cy="923925"/>
          </a:xfrm>
          <a:custGeom>
            <a:avLst/>
            <a:gdLst/>
            <a:ahLst/>
            <a:cxnLst/>
            <a:rect l="l" t="t" r="r" b="b"/>
            <a:pathLst>
              <a:path h="923925">
                <a:moveTo>
                  <a:pt x="0" y="923463"/>
                </a:moveTo>
                <a:lnTo>
                  <a:pt x="0" y="0"/>
                </a:lnTo>
              </a:path>
            </a:pathLst>
          </a:custGeom>
          <a:ln w="3175">
            <a:solidFill>
              <a:srgbClr val="BFC4C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397732" y="1913788"/>
            <a:ext cx="0" cy="655955"/>
          </a:xfrm>
          <a:custGeom>
            <a:avLst/>
            <a:gdLst/>
            <a:ahLst/>
            <a:cxnLst/>
            <a:rect l="l" t="t" r="r" b="b"/>
            <a:pathLst>
              <a:path h="655955">
                <a:moveTo>
                  <a:pt x="0" y="655792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727678" y="1164309"/>
            <a:ext cx="0" cy="2998470"/>
          </a:xfrm>
          <a:custGeom>
            <a:avLst/>
            <a:gdLst/>
            <a:ahLst/>
            <a:cxnLst/>
            <a:rect l="l" t="t" r="r" b="b"/>
            <a:pathLst>
              <a:path h="2998470">
                <a:moveTo>
                  <a:pt x="0" y="2997911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209751" y="1097392"/>
            <a:ext cx="3464560" cy="0"/>
          </a:xfrm>
          <a:custGeom>
            <a:avLst/>
            <a:gdLst/>
            <a:ahLst/>
            <a:cxnLst/>
            <a:rect l="l" t="t" r="r" b="b"/>
            <a:pathLst>
              <a:path w="3464559">
                <a:moveTo>
                  <a:pt x="0" y="0"/>
                </a:moveTo>
                <a:lnTo>
                  <a:pt x="34642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96806" y="1097392"/>
            <a:ext cx="3464560" cy="0"/>
          </a:xfrm>
          <a:custGeom>
            <a:avLst/>
            <a:gdLst/>
            <a:ahLst/>
            <a:cxnLst/>
            <a:rect l="l" t="t" r="r" b="b"/>
            <a:pathLst>
              <a:path w="3464560">
                <a:moveTo>
                  <a:pt x="0" y="0"/>
                </a:moveTo>
                <a:lnTo>
                  <a:pt x="34642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411159" y="1893712"/>
            <a:ext cx="2739390" cy="0"/>
          </a:xfrm>
          <a:custGeom>
            <a:avLst/>
            <a:gdLst/>
            <a:ahLst/>
            <a:cxnLst/>
            <a:rect l="l" t="t" r="r" b="b"/>
            <a:pathLst>
              <a:path w="2739390">
                <a:moveTo>
                  <a:pt x="0" y="0"/>
                </a:moveTo>
                <a:lnTo>
                  <a:pt x="273914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5411159" y="3513119"/>
            <a:ext cx="3061970" cy="0"/>
          </a:xfrm>
          <a:custGeom>
            <a:avLst/>
            <a:gdLst/>
            <a:ahLst/>
            <a:cxnLst/>
            <a:rect l="l" t="t" r="r" b="b"/>
            <a:pathLst>
              <a:path w="3061970">
                <a:moveTo>
                  <a:pt x="0" y="0"/>
                </a:moveTo>
                <a:lnTo>
                  <a:pt x="306140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196324" y="4222446"/>
            <a:ext cx="3477895" cy="0"/>
          </a:xfrm>
          <a:custGeom>
            <a:avLst/>
            <a:gdLst/>
            <a:ahLst/>
            <a:cxnLst/>
            <a:rect l="l" t="t" r="r" b="b"/>
            <a:pathLst>
              <a:path w="3477895">
                <a:moveTo>
                  <a:pt x="0" y="0"/>
                </a:moveTo>
                <a:lnTo>
                  <a:pt x="3477644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96806" y="4222446"/>
            <a:ext cx="3464560" cy="0"/>
          </a:xfrm>
          <a:custGeom>
            <a:avLst/>
            <a:gdLst/>
            <a:ahLst/>
            <a:cxnLst/>
            <a:rect l="l" t="t" r="r" b="b"/>
            <a:pathLst>
              <a:path w="3464560">
                <a:moveTo>
                  <a:pt x="0" y="0"/>
                </a:moveTo>
                <a:lnTo>
                  <a:pt x="34642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6003" rIns="0" bIns="0" rtlCol="0">
            <a:spAutoFit/>
          </a:bodyPr>
          <a:lstStyle/>
          <a:p>
            <a:pPr marL="819785">
              <a:lnSpc>
                <a:spcPct val="100000"/>
              </a:lnSpc>
              <a:spcBef>
                <a:spcPts val="105"/>
              </a:spcBef>
            </a:pPr>
            <a:r>
              <a:rPr sz="2400" dirty="0">
                <a:solidFill>
                  <a:srgbClr val="0F2B3D"/>
                </a:solidFill>
                <a:latin typeface="Arial"/>
                <a:cs typeface="Arial"/>
              </a:rPr>
              <a:t>Database</a:t>
            </a:r>
            <a:r>
              <a:rPr sz="2400" spc="65" dirty="0">
                <a:solidFill>
                  <a:srgbClr val="0F2B3D"/>
                </a:solidFill>
                <a:latin typeface="Arial"/>
                <a:cs typeface="Arial"/>
              </a:rPr>
              <a:t> </a:t>
            </a:r>
            <a:r>
              <a:rPr sz="2400" spc="45" dirty="0">
                <a:solidFill>
                  <a:srgbClr val="0F2B3D"/>
                </a:solidFill>
                <a:latin typeface="Arial"/>
                <a:cs typeface="Arial"/>
              </a:rPr>
              <a:t>Implementation</a:t>
            </a:r>
            <a:r>
              <a:rPr sz="2400" spc="-40" dirty="0">
                <a:solidFill>
                  <a:srgbClr val="0F2B3D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0F2B3D"/>
                </a:solidFill>
                <a:latin typeface="Arial"/>
                <a:cs typeface="Arial"/>
              </a:rPr>
              <a:t>(MongoDB </a:t>
            </a:r>
            <a:r>
              <a:rPr sz="2400" spc="-10" dirty="0">
                <a:solidFill>
                  <a:srgbClr val="0F2B3D"/>
                </a:solidFill>
                <a:latin typeface="Arial"/>
                <a:cs typeface="Arial"/>
              </a:rPr>
              <a:t>Snapshot)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86132" y="1255704"/>
            <a:ext cx="2458720" cy="50419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889635" marR="5080" indent="-877569">
              <a:lnSpc>
                <a:spcPts val="1839"/>
              </a:lnSpc>
              <a:spcBef>
                <a:spcPts val="229"/>
              </a:spcBef>
            </a:pPr>
            <a:r>
              <a:rPr sz="1600" b="1" spc="-100" dirty="0">
                <a:solidFill>
                  <a:srgbClr val="050707"/>
                </a:solidFill>
                <a:latin typeface="Arial"/>
                <a:cs typeface="Arial"/>
              </a:rPr>
              <a:t>Bus</a:t>
            </a:r>
            <a:r>
              <a:rPr sz="1600" b="1" spc="-85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45" dirty="0">
                <a:solidFill>
                  <a:srgbClr val="050707"/>
                </a:solidFill>
                <a:latin typeface="Arial"/>
                <a:cs typeface="Arial"/>
              </a:rPr>
              <a:t>Information</a:t>
            </a:r>
            <a:r>
              <a:rPr sz="1600" b="1" spc="-10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50" dirty="0">
                <a:solidFill>
                  <a:srgbClr val="050707"/>
                </a:solidFill>
                <a:latin typeface="Arial"/>
                <a:cs typeface="Arial"/>
              </a:rPr>
              <a:t>Collection </a:t>
            </a:r>
            <a:r>
              <a:rPr sz="1600" b="1" spc="-10" dirty="0">
                <a:solidFill>
                  <a:srgbClr val="050707"/>
                </a:solidFill>
                <a:latin typeface="Arial"/>
                <a:cs typeface="Arial"/>
              </a:rPr>
              <a:t>(Buses)</a:t>
            </a:r>
            <a:endParaRPr sz="16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84787" y="1893712"/>
            <a:ext cx="3075305" cy="1619885"/>
          </a:xfrm>
          <a:prstGeom prst="rect">
            <a:avLst/>
          </a:prstGeom>
          <a:ln w="13427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3175">
              <a:lnSpc>
                <a:spcPts val="790"/>
              </a:lnSpc>
            </a:pPr>
            <a:r>
              <a:rPr sz="800" b="1" i="1" spc="-50" dirty="0">
                <a:solidFill>
                  <a:srgbClr val="466472"/>
                </a:solidFill>
                <a:latin typeface="Arial"/>
                <a:cs typeface="Arial"/>
              </a:rPr>
              <a:t>r</a:t>
            </a:r>
            <a:endParaRPr sz="800">
              <a:latin typeface="Arial"/>
              <a:cs typeface="Arial"/>
            </a:endParaRPr>
          </a:p>
          <a:p>
            <a:pPr marL="163830">
              <a:lnSpc>
                <a:spcPct val="100000"/>
              </a:lnSpc>
              <a:spcBef>
                <a:spcPts val="630"/>
              </a:spcBef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{</a:t>
            </a:r>
            <a:endParaRPr sz="1000">
              <a:latin typeface="Arial"/>
              <a:cs typeface="Arial"/>
            </a:endParaRPr>
          </a:p>
          <a:p>
            <a:pPr marL="292735" marR="113664">
              <a:lnSpc>
                <a:spcPct val="107800"/>
              </a:lnSpc>
              <a:spcBef>
                <a:spcPts val="70"/>
              </a:spcBef>
            </a:pPr>
            <a:r>
              <a:rPr sz="1100" spc="90" dirty="0">
                <a:solidFill>
                  <a:srgbClr val="282A2D"/>
                </a:solidFill>
                <a:latin typeface="Times New Roman"/>
                <a:cs typeface="Times New Roman"/>
              </a:rPr>
              <a:t>"_id"</a:t>
            </a:r>
            <a:r>
              <a:rPr sz="1100" spc="90" dirty="0">
                <a:solidFill>
                  <a:srgbClr val="050707"/>
                </a:solidFill>
                <a:latin typeface="Times New Roman"/>
                <a:cs typeface="Times New Roman"/>
              </a:rPr>
              <a:t>:</a:t>
            </a:r>
            <a:r>
              <a:rPr sz="1100" spc="300" dirty="0">
                <a:solidFill>
                  <a:srgbClr val="050707"/>
                </a:solidFill>
                <a:latin typeface="Times New Roman"/>
                <a:cs typeface="Times New Roman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"bus_001",</a:t>
            </a:r>
            <a:r>
              <a:rPr sz="1100" spc="500" dirty="0">
                <a:solidFill>
                  <a:srgbClr val="282A2D"/>
                </a:solidFill>
                <a:latin typeface="Times New Roman"/>
                <a:cs typeface="Times New Roman"/>
              </a:rPr>
              <a:t>  </a:t>
            </a:r>
            <a:r>
              <a:rPr sz="1100" spc="70" dirty="0">
                <a:solidFill>
                  <a:srgbClr val="282A2D"/>
                </a:solidFill>
                <a:latin typeface="Times New Roman"/>
                <a:cs typeface="Times New Roman"/>
              </a:rPr>
              <a:t>"registration_number":</a:t>
            </a:r>
            <a:r>
              <a:rPr sz="1100" spc="42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dirty="0">
                <a:solidFill>
                  <a:srgbClr val="282A2D"/>
                </a:solidFill>
                <a:latin typeface="Times New Roman"/>
                <a:cs typeface="Times New Roman"/>
              </a:rPr>
              <a:t>"KA-10-FL-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5404", </a:t>
            </a:r>
            <a:r>
              <a:rPr sz="1100" spc="85" dirty="0">
                <a:solidFill>
                  <a:srgbClr val="282A2D"/>
                </a:solidFill>
                <a:latin typeface="Times New Roman"/>
                <a:cs typeface="Times New Roman"/>
              </a:rPr>
              <a:t>"operator":</a:t>
            </a:r>
            <a:r>
              <a:rPr sz="1100" spc="33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"KSRTC"</a:t>
            </a:r>
            <a:r>
              <a:rPr sz="1100" spc="-10" dirty="0">
                <a:solidFill>
                  <a:srgbClr val="050707"/>
                </a:solidFill>
                <a:latin typeface="Times New Roman"/>
                <a:cs typeface="Times New Roman"/>
              </a:rPr>
              <a:t>,</a:t>
            </a:r>
            <a:endParaRPr sz="1100">
              <a:latin typeface="Times New Roman"/>
              <a:cs typeface="Times New Roman"/>
            </a:endParaRPr>
          </a:p>
          <a:p>
            <a:pPr marL="292735" marR="1353185">
              <a:lnSpc>
                <a:spcPts val="1420"/>
              </a:lnSpc>
              <a:spcBef>
                <a:spcPts val="15"/>
              </a:spcBef>
            </a:pPr>
            <a:r>
              <a:rPr sz="1100" spc="85" dirty="0">
                <a:solidFill>
                  <a:srgbClr val="282A2D"/>
                </a:solidFill>
                <a:latin typeface="Times New Roman"/>
                <a:cs typeface="Times New Roman"/>
              </a:rPr>
              <a:t>"type":</a:t>
            </a:r>
            <a:r>
              <a:rPr sz="1100" spc="19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65" dirty="0">
                <a:solidFill>
                  <a:srgbClr val="282A2D"/>
                </a:solidFill>
                <a:latin typeface="Times New Roman"/>
                <a:cs typeface="Times New Roman"/>
              </a:rPr>
              <a:t>"AC</a:t>
            </a:r>
            <a:r>
              <a:rPr sz="1100" spc="19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65" dirty="0">
                <a:solidFill>
                  <a:srgbClr val="282A2D"/>
                </a:solidFill>
                <a:latin typeface="Times New Roman"/>
                <a:cs typeface="Times New Roman"/>
              </a:rPr>
              <a:t>Sleeper", </a:t>
            </a:r>
            <a:r>
              <a:rPr sz="1100" spc="85" dirty="0">
                <a:solidFill>
                  <a:srgbClr val="282A2D"/>
                </a:solidFill>
                <a:latin typeface="Times New Roman"/>
                <a:cs typeface="Times New Roman"/>
              </a:rPr>
              <a:t>"capacity":</a:t>
            </a:r>
            <a:r>
              <a:rPr sz="1100" spc="36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25" dirty="0">
                <a:solidFill>
                  <a:srgbClr val="282A2D"/>
                </a:solidFill>
                <a:latin typeface="Times New Roman"/>
                <a:cs typeface="Times New Roman"/>
              </a:rPr>
              <a:t>30</a:t>
            </a:r>
            <a:endParaRPr sz="1100">
              <a:latin typeface="Times New Roman"/>
              <a:cs typeface="Times New Roman"/>
            </a:endParaRPr>
          </a:p>
          <a:p>
            <a:pPr marL="164465">
              <a:lnSpc>
                <a:spcPts val="1185"/>
              </a:lnSpc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}</a:t>
            </a:r>
            <a:endParaRPr sz="10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9448" y="3642062"/>
            <a:ext cx="2840990" cy="3962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625475" marR="5080" indent="-613410">
              <a:lnSpc>
                <a:spcPct val="102499"/>
              </a:lnSpc>
              <a:spcBef>
                <a:spcPts val="65"/>
              </a:spcBef>
            </a:pP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Stores</a:t>
            </a:r>
            <a:r>
              <a:rPr sz="1200" spc="7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bus</a:t>
            </a:r>
            <a:r>
              <a:rPr sz="1200" spc="9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details,</a:t>
            </a:r>
            <a:r>
              <a:rPr sz="1200" spc="8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including</a:t>
            </a:r>
            <a:r>
              <a:rPr sz="1200" spc="3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16181A"/>
                </a:solidFill>
                <a:latin typeface="Arial"/>
                <a:cs typeface="Arial"/>
              </a:rPr>
              <a:t>registration,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operator,</a:t>
            </a:r>
            <a:r>
              <a:rPr sz="1200" spc="6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and</a:t>
            </a:r>
            <a:r>
              <a:rPr sz="1200" spc="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82A2D"/>
                </a:solidFill>
                <a:latin typeface="Arial"/>
                <a:cs typeface="Arial"/>
              </a:rPr>
              <a:t>capacity.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584948" y="1255704"/>
            <a:ext cx="2689860" cy="50419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855980" marR="5080" indent="-843915">
              <a:lnSpc>
                <a:spcPts val="1839"/>
              </a:lnSpc>
              <a:spcBef>
                <a:spcPts val="229"/>
              </a:spcBef>
            </a:pPr>
            <a:r>
              <a:rPr sz="1600" b="1" spc="-45" dirty="0">
                <a:solidFill>
                  <a:srgbClr val="050707"/>
                </a:solidFill>
                <a:latin typeface="Arial"/>
                <a:cs typeface="Arial"/>
              </a:rPr>
              <a:t>Real-</a:t>
            </a:r>
            <a:r>
              <a:rPr sz="1600" b="1" spc="-30" dirty="0">
                <a:solidFill>
                  <a:srgbClr val="050707"/>
                </a:solidFill>
                <a:latin typeface="Arial"/>
                <a:cs typeface="Arial"/>
              </a:rPr>
              <a:t>time</a:t>
            </a:r>
            <a:r>
              <a:rPr sz="1600" b="1" spc="-20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85" dirty="0">
                <a:solidFill>
                  <a:srgbClr val="050707"/>
                </a:solidFill>
                <a:latin typeface="Arial"/>
                <a:cs typeface="Arial"/>
              </a:rPr>
              <a:t>Booking</a:t>
            </a:r>
            <a:r>
              <a:rPr sz="1600" b="1" spc="10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40" dirty="0">
                <a:solidFill>
                  <a:srgbClr val="050707"/>
                </a:solidFill>
                <a:latin typeface="Arial"/>
                <a:cs typeface="Arial"/>
              </a:rPr>
              <a:t>Collection </a:t>
            </a:r>
            <a:r>
              <a:rPr sz="1600" b="1" spc="-10" dirty="0">
                <a:solidFill>
                  <a:srgbClr val="050707"/>
                </a:solidFill>
                <a:latin typeface="Arial"/>
                <a:cs typeface="Arial"/>
              </a:rPr>
              <a:t>(Bookings)</a:t>
            </a:r>
            <a:endParaRPr sz="16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549296" y="1974511"/>
            <a:ext cx="64769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{</a:t>
            </a:r>
            <a:endParaRPr sz="10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49935" y="3212488"/>
            <a:ext cx="6921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}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674658" y="2136545"/>
            <a:ext cx="2699385" cy="10896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1067435" indent="9525">
              <a:lnSpc>
                <a:spcPct val="105200"/>
              </a:lnSpc>
              <a:spcBef>
                <a:spcPts val="130"/>
              </a:spcBef>
              <a:tabLst>
                <a:tab pos="904875" algn="l"/>
              </a:tabLst>
            </a:pPr>
            <a:r>
              <a:rPr sz="1100" spc="90" dirty="0">
                <a:solidFill>
                  <a:srgbClr val="282A2D"/>
                </a:solidFill>
                <a:latin typeface="Times New Roman"/>
                <a:cs typeface="Times New Roman"/>
              </a:rPr>
              <a:t>"_id":</a:t>
            </a:r>
            <a:r>
              <a:rPr sz="1100" spc="31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"booking_98765", </a:t>
            </a:r>
            <a:r>
              <a:rPr sz="1100" spc="90" dirty="0">
                <a:solidFill>
                  <a:srgbClr val="282A2D"/>
                </a:solidFill>
                <a:latin typeface="Times New Roman"/>
                <a:cs typeface="Times New Roman"/>
              </a:rPr>
              <a:t>"user_id":</a:t>
            </a:r>
            <a:r>
              <a:rPr sz="1100" spc="29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45" dirty="0">
                <a:solidFill>
                  <a:srgbClr val="282A2D"/>
                </a:solidFill>
                <a:latin typeface="Times New Roman"/>
                <a:cs typeface="Times New Roman"/>
              </a:rPr>
              <a:t>"user_123", </a:t>
            </a:r>
            <a:r>
              <a:rPr sz="1100" u="heavy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"bus</a:t>
            </a:r>
            <a:r>
              <a:rPr sz="1100" u="heavy" spc="365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00" u="heavy" spc="114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id":</a:t>
            </a:r>
            <a:r>
              <a:rPr sz="1100" u="heavy" spc="295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00" u="heavy" spc="50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"bus</a:t>
            </a:r>
            <a:r>
              <a:rPr sz="1100" u="heavy" spc="295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00" u="heavy" spc="-10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001",</a:t>
            </a:r>
            <a:r>
              <a:rPr sz="1100" u="none" spc="-1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50" b="1" u="none" dirty="0">
                <a:solidFill>
                  <a:srgbClr val="0A6421"/>
                </a:solidFill>
                <a:latin typeface="Times New Roman"/>
                <a:cs typeface="Times New Roman"/>
              </a:rPr>
              <a:t>"status":</a:t>
            </a:r>
            <a:r>
              <a:rPr sz="1150" b="1" u="none" spc="195" dirty="0">
                <a:solidFill>
                  <a:srgbClr val="0A6421"/>
                </a:solidFill>
                <a:latin typeface="Times New Roman"/>
                <a:cs typeface="Times New Roman"/>
              </a:rPr>
              <a:t>  </a:t>
            </a:r>
            <a:r>
              <a:rPr sz="1150" u="none" spc="-50" dirty="0">
                <a:solidFill>
                  <a:srgbClr val="050707"/>
                </a:solidFill>
                <a:latin typeface="Times New Roman"/>
                <a:cs typeface="Times New Roman"/>
              </a:rPr>
              <a:t>•</a:t>
            </a:r>
            <a:r>
              <a:rPr sz="1150" u="none" dirty="0">
                <a:solidFill>
                  <a:srgbClr val="050707"/>
                </a:solidFill>
                <a:latin typeface="Times New Roman"/>
                <a:cs typeface="Times New Roman"/>
              </a:rPr>
              <a:t>	</a:t>
            </a:r>
            <a:r>
              <a:rPr sz="1150" b="1" u="none" spc="-235" dirty="0">
                <a:solidFill>
                  <a:srgbClr val="0A6421"/>
                </a:solidFill>
                <a:latin typeface="Times New Roman"/>
                <a:cs typeface="Times New Roman"/>
              </a:rPr>
              <a:t>CONFIRMED",</a:t>
            </a:r>
            <a:endParaRPr sz="1150">
              <a:latin typeface="Times New Roman"/>
              <a:cs typeface="Times New Roman"/>
            </a:endParaRPr>
          </a:p>
          <a:p>
            <a:pPr marL="15875" marR="5080" indent="6350">
              <a:lnSpc>
                <a:spcPts val="1370"/>
              </a:lnSpc>
              <a:spcBef>
                <a:spcPts val="45"/>
              </a:spcBef>
            </a:pPr>
            <a:r>
              <a:rPr sz="1100" spc="20" dirty="0">
                <a:solidFill>
                  <a:srgbClr val="282A2D"/>
                </a:solidFill>
                <a:latin typeface="Times New Roman"/>
                <a:cs typeface="Times New Roman"/>
              </a:rPr>
              <a:t>"booking_time":</a:t>
            </a:r>
            <a:r>
              <a:rPr sz="1100" spc="290" dirty="0">
                <a:solidFill>
                  <a:srgbClr val="282A2D"/>
                </a:solidFill>
                <a:latin typeface="Times New Roman"/>
                <a:cs typeface="Times New Roman"/>
              </a:rPr>
              <a:t>  </a:t>
            </a:r>
            <a:r>
              <a:rPr sz="1100" spc="20" dirty="0">
                <a:solidFill>
                  <a:srgbClr val="16181A"/>
                </a:solidFill>
                <a:latin typeface="Times New Roman"/>
                <a:cs typeface="Times New Roman"/>
              </a:rPr>
              <a:t>"2024-05-</a:t>
            </a:r>
            <a:r>
              <a:rPr sz="1100" spc="-10" dirty="0">
                <a:solidFill>
                  <a:srgbClr val="16181A"/>
                </a:solidFill>
                <a:latin typeface="Times New Roman"/>
                <a:cs typeface="Times New Roman"/>
              </a:rPr>
              <a:t>10Tl4:30:00Z", </a:t>
            </a:r>
            <a:r>
              <a:rPr sz="1100" dirty="0">
                <a:solidFill>
                  <a:srgbClr val="282A2D"/>
                </a:solidFill>
                <a:latin typeface="Times New Roman"/>
                <a:cs typeface="Times New Roman"/>
              </a:rPr>
              <a:t>"seat_numbe</a:t>
            </a:r>
            <a:r>
              <a:rPr sz="1100" spc="-6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dirty="0">
                <a:solidFill>
                  <a:srgbClr val="16181A"/>
                </a:solidFill>
                <a:latin typeface="Times New Roman"/>
                <a:cs typeface="Times New Roman"/>
              </a:rPr>
              <a:t>r":</a:t>
            </a:r>
            <a:r>
              <a:rPr sz="1100" spc="204" dirty="0">
                <a:solidFill>
                  <a:srgbClr val="16181A"/>
                </a:solidFill>
                <a:latin typeface="Times New Roman"/>
                <a:cs typeface="Times New Roman"/>
              </a:rPr>
              <a:t>  </a:t>
            </a:r>
            <a:r>
              <a:rPr sz="1100" spc="-20" dirty="0">
                <a:solidFill>
                  <a:srgbClr val="282A2D"/>
                </a:solidFill>
                <a:latin typeface="Times New Roman"/>
                <a:cs typeface="Times New Roman"/>
              </a:rPr>
              <a:t>"A4"</a:t>
            </a:r>
            <a:endParaRPr sz="1100">
              <a:latin typeface="Times New Roman"/>
              <a:cs typeface="Times New Roman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554190" y="3642062"/>
            <a:ext cx="2753360" cy="3962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292735" marR="5080" indent="-280670">
              <a:lnSpc>
                <a:spcPct val="102499"/>
              </a:lnSpc>
              <a:spcBef>
                <a:spcPts val="65"/>
              </a:spcBef>
            </a:pP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Records</a:t>
            </a:r>
            <a:r>
              <a:rPr sz="1200" spc="13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real-time</a:t>
            </a:r>
            <a:r>
              <a:rPr sz="1200" spc="9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booking</a:t>
            </a:r>
            <a:r>
              <a:rPr sz="1200" spc="17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16181A"/>
                </a:solidFill>
                <a:latin typeface="Arial"/>
                <a:cs typeface="Arial"/>
              </a:rPr>
              <a:t>transactions </a:t>
            </a:r>
            <a:r>
              <a:rPr sz="1200" spc="60" dirty="0">
                <a:solidFill>
                  <a:srgbClr val="282A2D"/>
                </a:solidFill>
                <a:latin typeface="Arial"/>
                <a:cs typeface="Arial"/>
              </a:rPr>
              <a:t>with</a:t>
            </a:r>
            <a:r>
              <a:rPr sz="1200" spc="-2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immediate</a:t>
            </a:r>
            <a:r>
              <a:rPr sz="1200" spc="114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status</a:t>
            </a:r>
            <a:r>
              <a:rPr sz="1200" spc="8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82A2D"/>
                </a:solidFill>
                <a:latin typeface="Arial"/>
                <a:cs typeface="Arial"/>
              </a:rPr>
              <a:t>updates.</a:t>
            </a:r>
            <a:endParaRPr sz="12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272607" y="4464499"/>
            <a:ext cx="2613025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302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Utilizing</a:t>
            </a:r>
            <a:r>
              <a:rPr sz="1100" spc="5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MongoDB's</a:t>
            </a:r>
            <a:r>
              <a:rPr sz="1100" spc="9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flexible</a:t>
            </a:r>
            <a:r>
              <a:rPr sz="1100" spc="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schema</a:t>
            </a:r>
            <a:r>
              <a:rPr sz="1100" spc="7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282A2D"/>
                </a:solidFill>
                <a:latin typeface="Arial"/>
                <a:cs typeface="Arial"/>
              </a:rPr>
              <a:t>for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scalable</a:t>
            </a:r>
            <a:r>
              <a:rPr sz="1100" spc="11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and</a:t>
            </a:r>
            <a:r>
              <a:rPr sz="1100" spc="2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6181A"/>
                </a:solidFill>
                <a:latin typeface="Arial"/>
                <a:cs typeface="Arial"/>
              </a:rPr>
              <a:t>efficient</a:t>
            </a:r>
            <a:r>
              <a:rPr sz="1100" spc="100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data</a:t>
            </a:r>
            <a:r>
              <a:rPr sz="1100" spc="114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Arial"/>
                <a:cs typeface="Arial"/>
              </a:rPr>
              <a:t>management.</a:t>
            </a:r>
            <a:endParaRPr sz="1100">
              <a:latin typeface="Arial"/>
              <a:cs typeface="Arial"/>
            </a:endParaRP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DCA6A385-5120-2879-0BF2-4A13583DFE3E}"/>
              </a:ext>
            </a:extLst>
          </p:cNvPr>
          <p:cNvSpPr/>
          <p:nvPr/>
        </p:nvSpPr>
        <p:spPr>
          <a:xfrm>
            <a:off x="4021444" y="2315564"/>
            <a:ext cx="1114457" cy="4547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B46068-1087-F455-C6D5-5C23720AF4A2}"/>
              </a:ext>
            </a:extLst>
          </p:cNvPr>
          <p:cNvSpPr txBox="1"/>
          <p:nvPr/>
        </p:nvSpPr>
        <p:spPr>
          <a:xfrm>
            <a:off x="4227295" y="2053165"/>
            <a:ext cx="74148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dirty="0"/>
              <a:t>DATA FLOW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8825" y="2288527"/>
            <a:ext cx="1248729" cy="1217901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27781" y="2248376"/>
            <a:ext cx="1262156" cy="1231284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1664972" y="2248375"/>
            <a:ext cx="0" cy="1245235"/>
          </a:xfrm>
          <a:custGeom>
            <a:avLst/>
            <a:gdLst/>
            <a:ahLst/>
            <a:cxnLst/>
            <a:rect l="l" t="t" r="r" b="b"/>
            <a:pathLst>
              <a:path h="1245235">
                <a:moveTo>
                  <a:pt x="0" y="124466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322252" y="1311528"/>
            <a:ext cx="8513445" cy="0"/>
          </a:xfrm>
          <a:custGeom>
            <a:avLst/>
            <a:gdLst/>
            <a:ahLst/>
            <a:cxnLst/>
            <a:rect l="l" t="t" r="r" b="b"/>
            <a:pathLst>
              <a:path w="8513445">
                <a:moveTo>
                  <a:pt x="0" y="0"/>
                </a:moveTo>
                <a:lnTo>
                  <a:pt x="851284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35679" y="2261759"/>
            <a:ext cx="1343025" cy="0"/>
          </a:xfrm>
          <a:custGeom>
            <a:avLst/>
            <a:gdLst/>
            <a:ahLst/>
            <a:cxnLst/>
            <a:rect l="l" t="t" r="r" b="b"/>
            <a:pathLst>
              <a:path w="1343025">
                <a:moveTo>
                  <a:pt x="0" y="0"/>
                </a:moveTo>
                <a:lnTo>
                  <a:pt x="134272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6839" rIns="0" bIns="0" rtlCol="0">
            <a:spAutoFit/>
          </a:bodyPr>
          <a:lstStyle/>
          <a:p>
            <a:pPr marL="107950">
              <a:lnSpc>
                <a:spcPct val="100000"/>
              </a:lnSpc>
              <a:spcBef>
                <a:spcPts val="115"/>
              </a:spcBef>
            </a:pPr>
            <a:r>
              <a:rPr sz="5500" spc="-535" dirty="0">
                <a:solidFill>
                  <a:srgbClr val="080503"/>
                </a:solidFill>
              </a:rPr>
              <a:t>Software</a:t>
            </a:r>
            <a:r>
              <a:rPr sz="5500" spc="-15" dirty="0">
                <a:solidFill>
                  <a:srgbClr val="080503"/>
                </a:solidFill>
              </a:rPr>
              <a:t> </a:t>
            </a:r>
            <a:r>
              <a:rPr sz="5500" spc="-535" dirty="0">
                <a:solidFill>
                  <a:srgbClr val="080503"/>
                </a:solidFill>
              </a:rPr>
              <a:t>Products</a:t>
            </a:r>
            <a:r>
              <a:rPr sz="5500" spc="-100" dirty="0">
                <a:solidFill>
                  <a:srgbClr val="080503"/>
                </a:solidFill>
              </a:rPr>
              <a:t> </a:t>
            </a:r>
            <a:r>
              <a:rPr sz="5500" spc="-545" dirty="0">
                <a:solidFill>
                  <a:srgbClr val="080503"/>
                </a:solidFill>
              </a:rPr>
              <a:t>(Development)</a:t>
            </a:r>
            <a:endParaRPr sz="5500"/>
          </a:p>
        </p:txBody>
      </p:sp>
      <p:sp>
        <p:nvSpPr>
          <p:cNvPr id="8" name="object 8"/>
          <p:cNvSpPr txBox="1"/>
          <p:nvPr/>
        </p:nvSpPr>
        <p:spPr>
          <a:xfrm>
            <a:off x="1949613" y="2303472"/>
            <a:ext cx="2364740" cy="1042035"/>
          </a:xfrm>
          <a:prstGeom prst="rect">
            <a:avLst/>
          </a:prstGeom>
        </p:spPr>
        <p:txBody>
          <a:bodyPr vert="horz" wrap="square" lIns="0" tIns="61594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484"/>
              </a:spcBef>
            </a:pPr>
            <a:r>
              <a:rPr sz="2450" b="1" spc="-300" dirty="0">
                <a:solidFill>
                  <a:srgbClr val="080503"/>
                </a:solidFill>
                <a:latin typeface="Arial"/>
                <a:cs typeface="Arial"/>
              </a:rPr>
              <a:t>VS</a:t>
            </a:r>
            <a:r>
              <a:rPr sz="2450" b="1" spc="-2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450" b="1" spc="-335" dirty="0">
                <a:solidFill>
                  <a:srgbClr val="080503"/>
                </a:solidFill>
                <a:latin typeface="Arial"/>
                <a:cs typeface="Arial"/>
              </a:rPr>
              <a:t>Code</a:t>
            </a:r>
            <a:endParaRPr sz="2450">
              <a:latin typeface="Arial"/>
              <a:cs typeface="Arial"/>
            </a:endParaRPr>
          </a:p>
          <a:p>
            <a:pPr marL="15240" marR="5080" indent="-3175">
              <a:lnSpc>
                <a:spcPts val="2160"/>
              </a:lnSpc>
              <a:spcBef>
                <a:spcPts val="420"/>
              </a:spcBef>
            </a:pPr>
            <a:r>
              <a:rPr sz="1850" spc="-170" dirty="0">
                <a:solidFill>
                  <a:srgbClr val="080503"/>
                </a:solidFill>
                <a:latin typeface="Arial"/>
                <a:cs typeface="Arial"/>
              </a:rPr>
              <a:t>Primary</a:t>
            </a:r>
            <a:r>
              <a:rPr sz="1850" spc="1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80" dirty="0">
                <a:solidFill>
                  <a:srgbClr val="080503"/>
                </a:solidFill>
                <a:latin typeface="Arial"/>
                <a:cs typeface="Arial"/>
              </a:rPr>
              <a:t>source</a:t>
            </a:r>
            <a:r>
              <a:rPr sz="1850" spc="-4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70" dirty="0">
                <a:solidFill>
                  <a:srgbClr val="080503"/>
                </a:solidFill>
                <a:latin typeface="Arial"/>
                <a:cs typeface="Arial"/>
              </a:rPr>
              <a:t>code</a:t>
            </a:r>
            <a:r>
              <a:rPr sz="1850" spc="-1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05" dirty="0">
                <a:solidFill>
                  <a:srgbClr val="080503"/>
                </a:solidFill>
                <a:latin typeface="Arial"/>
                <a:cs typeface="Arial"/>
              </a:rPr>
              <a:t>editor </a:t>
            </a:r>
            <a:r>
              <a:rPr sz="1850" spc="-175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850" spc="-18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65" dirty="0">
                <a:solidFill>
                  <a:srgbClr val="080503"/>
                </a:solidFill>
                <a:latin typeface="Arial"/>
                <a:cs typeface="Arial"/>
              </a:rPr>
              <a:t>Git</a:t>
            </a:r>
            <a:r>
              <a:rPr sz="1850" spc="-9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75" dirty="0">
                <a:solidFill>
                  <a:srgbClr val="080503"/>
                </a:solidFill>
                <a:latin typeface="Arial"/>
                <a:cs typeface="Arial"/>
              </a:rPr>
              <a:t>manager.</a:t>
            </a:r>
            <a:endParaRPr sz="18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36328" y="2294611"/>
            <a:ext cx="2216785" cy="1050925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555"/>
              </a:spcBef>
            </a:pPr>
            <a:r>
              <a:rPr sz="2450" b="1" spc="-305" dirty="0">
                <a:solidFill>
                  <a:srgbClr val="080503"/>
                </a:solidFill>
                <a:latin typeface="Arial"/>
                <a:cs typeface="Arial"/>
              </a:rPr>
              <a:t>GitHub</a:t>
            </a:r>
            <a:endParaRPr sz="2450">
              <a:latin typeface="Arial"/>
              <a:cs typeface="Arial"/>
            </a:endParaRPr>
          </a:p>
          <a:p>
            <a:pPr marL="12700" marR="5080" indent="8255">
              <a:lnSpc>
                <a:spcPts val="2110"/>
              </a:lnSpc>
              <a:spcBef>
                <a:spcPts val="509"/>
              </a:spcBef>
            </a:pPr>
            <a:r>
              <a:rPr sz="1850" spc="-180" dirty="0">
                <a:solidFill>
                  <a:srgbClr val="080503"/>
                </a:solidFill>
                <a:latin typeface="Arial"/>
                <a:cs typeface="Arial"/>
              </a:rPr>
              <a:t>Version</a:t>
            </a:r>
            <a:r>
              <a:rPr sz="1850" spc="-1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25" dirty="0">
                <a:solidFill>
                  <a:srgbClr val="080503"/>
                </a:solidFill>
                <a:latin typeface="Arial"/>
                <a:cs typeface="Arial"/>
              </a:rPr>
              <a:t>control</a:t>
            </a:r>
            <a:r>
              <a:rPr sz="1850" spc="-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75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850" spc="-1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20" dirty="0">
                <a:solidFill>
                  <a:srgbClr val="080503"/>
                </a:solidFill>
                <a:latin typeface="Arial"/>
                <a:cs typeface="Arial"/>
              </a:rPr>
              <a:t>team </a:t>
            </a:r>
            <a:r>
              <a:rPr sz="1850" spc="-140" dirty="0">
                <a:solidFill>
                  <a:srgbClr val="080503"/>
                </a:solidFill>
                <a:latin typeface="Arial"/>
                <a:cs typeface="Arial"/>
              </a:rPr>
              <a:t>collaboration</a:t>
            </a:r>
            <a:r>
              <a:rPr sz="1850" spc="7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0" dirty="0">
                <a:solidFill>
                  <a:srgbClr val="080503"/>
                </a:solidFill>
                <a:latin typeface="Arial"/>
                <a:cs typeface="Arial"/>
              </a:rPr>
              <a:t>platform</a:t>
            </a:r>
            <a:r>
              <a:rPr sz="1850" spc="-10" dirty="0">
                <a:solidFill>
                  <a:srgbClr val="261F18"/>
                </a:solidFill>
                <a:latin typeface="Arial"/>
                <a:cs typeface="Arial"/>
              </a:rPr>
              <a:t>.</a:t>
            </a:r>
            <a:endParaRPr sz="18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9670" y="2649881"/>
            <a:ext cx="1087602" cy="96361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75481" y="2288527"/>
            <a:ext cx="1181593" cy="1311586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4927780" y="2248375"/>
            <a:ext cx="0" cy="1124585"/>
          </a:xfrm>
          <a:custGeom>
            <a:avLst/>
            <a:gdLst/>
            <a:ahLst/>
            <a:cxnLst/>
            <a:rect l="l" t="t" r="r" b="b"/>
            <a:pathLst>
              <a:path h="1124585">
                <a:moveTo>
                  <a:pt x="0" y="1124217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81971" y="1304836"/>
            <a:ext cx="8593455" cy="0"/>
          </a:xfrm>
          <a:custGeom>
            <a:avLst/>
            <a:gdLst/>
            <a:ahLst/>
            <a:cxnLst/>
            <a:rect l="l" t="t" r="r" b="b"/>
            <a:pathLst>
              <a:path w="8593455">
                <a:moveTo>
                  <a:pt x="0" y="0"/>
                </a:moveTo>
                <a:lnTo>
                  <a:pt x="859340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914353" y="2261759"/>
            <a:ext cx="1209040" cy="0"/>
          </a:xfrm>
          <a:custGeom>
            <a:avLst/>
            <a:gdLst/>
            <a:ahLst/>
            <a:cxnLst/>
            <a:rect l="l" t="t" r="r" b="b"/>
            <a:pathLst>
              <a:path w="1209039">
                <a:moveTo>
                  <a:pt x="0" y="0"/>
                </a:moveTo>
                <a:lnTo>
                  <a:pt x="120844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0147" rIns="0" bIns="0" rtlCol="0">
            <a:spAutoFit/>
          </a:bodyPr>
          <a:lstStyle/>
          <a:p>
            <a:pPr marL="74295">
              <a:lnSpc>
                <a:spcPct val="100000"/>
              </a:lnSpc>
              <a:spcBef>
                <a:spcPts val="115"/>
              </a:spcBef>
            </a:pPr>
            <a:r>
              <a:rPr sz="5500" spc="-509" dirty="0">
                <a:solidFill>
                  <a:srgbClr val="0A0705"/>
                </a:solidFill>
              </a:rPr>
              <a:t>Software</a:t>
            </a:r>
            <a:r>
              <a:rPr sz="5500" spc="-45" dirty="0">
                <a:solidFill>
                  <a:srgbClr val="0A0705"/>
                </a:solidFill>
              </a:rPr>
              <a:t> </a:t>
            </a:r>
            <a:r>
              <a:rPr sz="5500" spc="-509" dirty="0">
                <a:solidFill>
                  <a:srgbClr val="0A0705"/>
                </a:solidFill>
              </a:rPr>
              <a:t>Products</a:t>
            </a:r>
            <a:r>
              <a:rPr sz="5500" spc="-200" dirty="0">
                <a:solidFill>
                  <a:srgbClr val="0A0705"/>
                </a:solidFill>
              </a:rPr>
              <a:t> </a:t>
            </a:r>
            <a:r>
              <a:rPr sz="5500" spc="-505" dirty="0">
                <a:solidFill>
                  <a:srgbClr val="0A0705"/>
                </a:solidFill>
              </a:rPr>
              <a:t>(Testing)</a:t>
            </a:r>
            <a:endParaRPr sz="5500"/>
          </a:p>
        </p:txBody>
      </p:sp>
      <p:sp>
        <p:nvSpPr>
          <p:cNvPr id="8" name="object 8"/>
          <p:cNvSpPr txBox="1"/>
          <p:nvPr/>
        </p:nvSpPr>
        <p:spPr>
          <a:xfrm>
            <a:off x="1198802" y="2291952"/>
            <a:ext cx="468630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55295" algn="l"/>
              </a:tabLst>
            </a:pPr>
            <a:r>
              <a:rPr sz="1450" u="heavy" spc="-25" dirty="0">
                <a:solidFill>
                  <a:srgbClr val="6E5046"/>
                </a:solidFill>
                <a:uFill>
                  <a:solidFill>
                    <a:srgbClr val="6E5046"/>
                  </a:solidFill>
                </a:uFill>
                <a:latin typeface="Arial"/>
                <a:cs typeface="Arial"/>
              </a:rPr>
              <a:t>==</a:t>
            </a:r>
            <a:r>
              <a:rPr sz="1450" u="heavy" dirty="0">
                <a:solidFill>
                  <a:srgbClr val="6E5046"/>
                </a:solidFill>
                <a:uFill>
                  <a:solidFill>
                    <a:srgbClr val="6E5046"/>
                  </a:solidFill>
                </a:uFill>
                <a:latin typeface="Arial"/>
                <a:cs typeface="Arial"/>
              </a:rPr>
              <a:t>	</a:t>
            </a:r>
            <a:endParaRPr sz="14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21651" y="2392979"/>
            <a:ext cx="131445" cy="2622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550" u="heavy" dirty="0">
                <a:solidFill>
                  <a:srgbClr val="6E5046"/>
                </a:solidFill>
                <a:uFill>
                  <a:solidFill>
                    <a:srgbClr val="6E5046"/>
                  </a:solidFill>
                </a:uFill>
                <a:latin typeface="Times New Roman"/>
                <a:cs typeface="Times New Roman"/>
              </a:rPr>
              <a:t>0</a:t>
            </a:r>
            <a:endParaRPr sz="155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204461" y="2303883"/>
            <a:ext cx="3076575" cy="1050925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85"/>
              </a:spcBef>
              <a:tabLst>
                <a:tab pos="724535" algn="l"/>
              </a:tabLst>
            </a:pPr>
            <a:r>
              <a:rPr sz="2050" spc="40" dirty="0">
                <a:solidFill>
                  <a:srgbClr val="6E5046"/>
                </a:solidFill>
                <a:latin typeface="Times New Roman"/>
                <a:cs typeface="Times New Roman"/>
              </a:rPr>
              <a:t>=</a:t>
            </a:r>
            <a:r>
              <a:rPr sz="2050" dirty="0">
                <a:solidFill>
                  <a:srgbClr val="6E5046"/>
                </a:solidFill>
                <a:latin typeface="Times New Roman"/>
                <a:cs typeface="Times New Roman"/>
              </a:rPr>
              <a:t>	</a:t>
            </a:r>
            <a:r>
              <a:rPr sz="2600" b="1" spc="-330" dirty="0">
                <a:solidFill>
                  <a:srgbClr val="0A0705"/>
                </a:solidFill>
                <a:latin typeface="Arial"/>
                <a:cs typeface="Arial"/>
              </a:rPr>
              <a:t>Postman</a:t>
            </a:r>
            <a:endParaRPr sz="2600">
              <a:latin typeface="Arial"/>
              <a:cs typeface="Arial"/>
            </a:endParaRPr>
          </a:p>
          <a:p>
            <a:pPr marL="733425" marR="5080" indent="2540">
              <a:lnSpc>
                <a:spcPts val="2110"/>
              </a:lnSpc>
              <a:spcBef>
                <a:spcPts val="480"/>
              </a:spcBef>
            </a:pPr>
            <a:r>
              <a:rPr sz="1950" spc="-240" dirty="0">
                <a:solidFill>
                  <a:srgbClr val="0A0705"/>
                </a:solidFill>
                <a:latin typeface="Arial"/>
                <a:cs typeface="Arial"/>
              </a:rPr>
              <a:t>API</a:t>
            </a:r>
            <a:r>
              <a:rPr sz="1950" spc="2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170" dirty="0">
                <a:solidFill>
                  <a:srgbClr val="0A0705"/>
                </a:solidFill>
                <a:latin typeface="Arial"/>
                <a:cs typeface="Arial"/>
              </a:rPr>
              <a:t>development</a:t>
            </a:r>
            <a:r>
              <a:rPr sz="1950" spc="-170" dirty="0">
                <a:solidFill>
                  <a:srgbClr val="342B26"/>
                </a:solidFill>
                <a:latin typeface="Arial"/>
                <a:cs typeface="Arial"/>
              </a:rPr>
              <a:t>,</a:t>
            </a:r>
            <a:r>
              <a:rPr sz="1950" spc="-275" dirty="0">
                <a:solidFill>
                  <a:srgbClr val="342B26"/>
                </a:solidFill>
                <a:latin typeface="Arial"/>
                <a:cs typeface="Arial"/>
              </a:rPr>
              <a:t> </a:t>
            </a:r>
            <a:r>
              <a:rPr sz="1950" spc="-125" dirty="0">
                <a:solidFill>
                  <a:srgbClr val="0A0705"/>
                </a:solidFill>
                <a:latin typeface="Arial"/>
                <a:cs typeface="Arial"/>
              </a:rPr>
              <a:t>testing, </a:t>
            </a:r>
            <a:r>
              <a:rPr sz="1950" spc="-215" dirty="0">
                <a:solidFill>
                  <a:srgbClr val="0A0705"/>
                </a:solidFill>
                <a:latin typeface="Arial"/>
                <a:cs typeface="Arial"/>
              </a:rPr>
              <a:t>and</a:t>
            </a:r>
            <a:r>
              <a:rPr sz="1950" spc="-11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95" dirty="0">
                <a:solidFill>
                  <a:srgbClr val="0A0705"/>
                </a:solidFill>
                <a:latin typeface="Arial"/>
                <a:cs typeface="Arial"/>
              </a:rPr>
              <a:t>documentation.</a:t>
            </a:r>
            <a:endParaRPr sz="19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441677" y="2272992"/>
            <a:ext cx="2456180" cy="1362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955">
              <a:lnSpc>
                <a:spcPts val="2930"/>
              </a:lnSpc>
              <a:spcBef>
                <a:spcPts val="105"/>
              </a:spcBef>
            </a:pPr>
            <a:r>
              <a:rPr sz="2600" b="1" spc="-350" dirty="0">
                <a:solidFill>
                  <a:srgbClr val="0A0705"/>
                </a:solidFill>
                <a:latin typeface="Arial"/>
                <a:cs typeface="Arial"/>
              </a:rPr>
              <a:t>Google</a:t>
            </a:r>
            <a:r>
              <a:rPr sz="2600" b="1" spc="-8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2600" b="1" spc="-335" dirty="0">
                <a:solidFill>
                  <a:srgbClr val="0A0705"/>
                </a:solidFill>
                <a:latin typeface="Arial"/>
                <a:cs typeface="Arial"/>
              </a:rPr>
              <a:t>Chrome</a:t>
            </a:r>
            <a:r>
              <a:rPr sz="2600" b="1" spc="-13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2650" spc="-425" dirty="0">
                <a:solidFill>
                  <a:srgbClr val="0A0705"/>
                </a:solidFill>
                <a:latin typeface="Times New Roman"/>
                <a:cs typeface="Times New Roman"/>
              </a:rPr>
              <a:t>&amp;</a:t>
            </a:r>
            <a:endParaRPr sz="2650">
              <a:latin typeface="Times New Roman"/>
              <a:cs typeface="Times New Roman"/>
            </a:endParaRPr>
          </a:p>
          <a:p>
            <a:pPr marL="12700">
              <a:lnSpc>
                <a:spcPts val="2870"/>
              </a:lnSpc>
            </a:pPr>
            <a:r>
              <a:rPr sz="2600" b="1" spc="-260" dirty="0">
                <a:solidFill>
                  <a:srgbClr val="0A0705"/>
                </a:solidFill>
                <a:latin typeface="Arial"/>
                <a:cs typeface="Arial"/>
              </a:rPr>
              <a:t>React</a:t>
            </a:r>
            <a:r>
              <a:rPr sz="2600" b="1" spc="-155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2600" b="1" spc="-325" dirty="0">
                <a:solidFill>
                  <a:srgbClr val="0A0705"/>
                </a:solidFill>
                <a:latin typeface="Arial"/>
                <a:cs typeface="Arial"/>
              </a:rPr>
              <a:t>Dev</a:t>
            </a:r>
            <a:r>
              <a:rPr sz="2600" b="1" spc="-8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2600" b="1" spc="-350" dirty="0">
                <a:solidFill>
                  <a:srgbClr val="0A0705"/>
                </a:solidFill>
                <a:latin typeface="Arial"/>
                <a:cs typeface="Arial"/>
              </a:rPr>
              <a:t>Tools</a:t>
            </a:r>
            <a:endParaRPr sz="2600">
              <a:latin typeface="Arial"/>
              <a:cs typeface="Arial"/>
            </a:endParaRPr>
          </a:p>
          <a:p>
            <a:pPr marL="20320" marR="5080" indent="-1905">
              <a:lnSpc>
                <a:spcPts val="2160"/>
              </a:lnSpc>
              <a:spcBef>
                <a:spcPts val="440"/>
              </a:spcBef>
            </a:pPr>
            <a:r>
              <a:rPr sz="1950" spc="-190" dirty="0">
                <a:solidFill>
                  <a:srgbClr val="0A0705"/>
                </a:solidFill>
                <a:latin typeface="Arial"/>
                <a:cs typeface="Arial"/>
              </a:rPr>
              <a:t>Browser</a:t>
            </a:r>
            <a:r>
              <a:rPr sz="1950" spc="1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190" dirty="0">
                <a:solidFill>
                  <a:srgbClr val="0A0705"/>
                </a:solidFill>
                <a:latin typeface="Arial"/>
                <a:cs typeface="Arial"/>
              </a:rPr>
              <a:t>debugging</a:t>
            </a:r>
            <a:r>
              <a:rPr sz="1950" spc="-5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195" dirty="0">
                <a:solidFill>
                  <a:srgbClr val="0A0705"/>
                </a:solidFill>
                <a:latin typeface="Arial"/>
                <a:cs typeface="Arial"/>
              </a:rPr>
              <a:t>and</a:t>
            </a:r>
            <a:r>
              <a:rPr sz="1950" spc="-15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135" dirty="0">
                <a:solidFill>
                  <a:srgbClr val="0A0705"/>
                </a:solidFill>
                <a:latin typeface="Arial"/>
                <a:cs typeface="Arial"/>
              </a:rPr>
              <a:t>UI </a:t>
            </a:r>
            <a:r>
              <a:rPr sz="1950" spc="-75" dirty="0">
                <a:solidFill>
                  <a:srgbClr val="0A0705"/>
                </a:solidFill>
                <a:latin typeface="Arial"/>
                <a:cs typeface="Arial"/>
              </a:rPr>
              <a:t>inspection.</a:t>
            </a:r>
            <a:endParaRPr sz="19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9107" y="1970095"/>
            <a:ext cx="2984098" cy="2695617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349107" y="1324912"/>
            <a:ext cx="8459470" cy="0"/>
          </a:xfrm>
          <a:custGeom>
            <a:avLst/>
            <a:gdLst/>
            <a:ahLst/>
            <a:cxnLst/>
            <a:rect l="l" t="t" r="r" b="b"/>
            <a:pathLst>
              <a:path w="8459470">
                <a:moveTo>
                  <a:pt x="0" y="0"/>
                </a:moveTo>
                <a:lnTo>
                  <a:pt x="845913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2954" rIns="0" bIns="0" rtlCol="0">
            <a:spAutoFit/>
          </a:bodyPr>
          <a:lstStyle/>
          <a:p>
            <a:pPr marL="142875">
              <a:lnSpc>
                <a:spcPct val="100000"/>
              </a:lnSpc>
              <a:spcBef>
                <a:spcPts val="115"/>
              </a:spcBef>
            </a:pPr>
            <a:r>
              <a:rPr sz="5400" spc="-540" dirty="0">
                <a:solidFill>
                  <a:srgbClr val="080503"/>
                </a:solidFill>
              </a:rPr>
              <a:t>Hardware</a:t>
            </a:r>
            <a:r>
              <a:rPr sz="5400" spc="-15" dirty="0">
                <a:solidFill>
                  <a:srgbClr val="080503"/>
                </a:solidFill>
              </a:rPr>
              <a:t> </a:t>
            </a:r>
            <a:r>
              <a:rPr sz="5400" spc="-450" dirty="0">
                <a:solidFill>
                  <a:srgbClr val="080503"/>
                </a:solidFill>
              </a:rPr>
              <a:t>Requirements</a:t>
            </a:r>
            <a:endParaRPr sz="5400"/>
          </a:p>
        </p:txBody>
      </p:sp>
      <p:sp>
        <p:nvSpPr>
          <p:cNvPr id="7" name="object 7"/>
          <p:cNvSpPr txBox="1"/>
          <p:nvPr/>
        </p:nvSpPr>
        <p:spPr>
          <a:xfrm>
            <a:off x="357009" y="1445350"/>
            <a:ext cx="7492365" cy="3238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spc="-165" dirty="0">
                <a:solidFill>
                  <a:srgbClr val="080503"/>
                </a:solidFill>
                <a:latin typeface="Arial"/>
                <a:cs typeface="Arial"/>
              </a:rPr>
              <a:t>Essential</a:t>
            </a:r>
            <a:r>
              <a:rPr sz="1950" spc="-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55" dirty="0">
                <a:solidFill>
                  <a:srgbClr val="080503"/>
                </a:solidFill>
                <a:latin typeface="Arial"/>
                <a:cs typeface="Arial"/>
              </a:rPr>
              <a:t>physical</a:t>
            </a:r>
            <a:r>
              <a:rPr sz="1950" spc="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85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950" spc="-13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20" dirty="0">
                <a:solidFill>
                  <a:srgbClr val="080503"/>
                </a:solidFill>
                <a:latin typeface="Arial"/>
                <a:cs typeface="Arial"/>
              </a:rPr>
              <a:t>infrastructure</a:t>
            </a:r>
            <a:r>
              <a:rPr sz="1950" spc="-2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80" dirty="0">
                <a:solidFill>
                  <a:srgbClr val="080503"/>
                </a:solidFill>
                <a:latin typeface="Arial"/>
                <a:cs typeface="Arial"/>
              </a:rPr>
              <a:t>resources</a:t>
            </a:r>
            <a:r>
              <a:rPr sz="1950" spc="8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85" dirty="0">
                <a:solidFill>
                  <a:srgbClr val="080503"/>
                </a:solidFill>
                <a:latin typeface="Arial"/>
                <a:cs typeface="Arial"/>
              </a:rPr>
              <a:t>for</a:t>
            </a:r>
            <a:r>
              <a:rPr sz="1950" spc="-6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95" dirty="0">
                <a:solidFill>
                  <a:srgbClr val="080503"/>
                </a:solidFill>
                <a:latin typeface="Arial"/>
                <a:cs typeface="Arial"/>
              </a:rPr>
              <a:t>development</a:t>
            </a:r>
            <a:r>
              <a:rPr sz="1950" spc="1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85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950" spc="-1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14" dirty="0">
                <a:solidFill>
                  <a:srgbClr val="080503"/>
                </a:solidFill>
                <a:latin typeface="Arial"/>
                <a:cs typeface="Arial"/>
              </a:rPr>
              <a:t>deployment.</a:t>
            </a:r>
            <a:endParaRPr sz="19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888606" y="1889637"/>
            <a:ext cx="2286000" cy="700833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R="41910" algn="ctr">
              <a:lnSpc>
                <a:spcPct val="100000"/>
              </a:lnSpc>
              <a:spcBef>
                <a:spcPts val="305"/>
              </a:spcBef>
            </a:pPr>
            <a:r>
              <a:rPr lang="en-US" sz="2300" b="1" spc="-300" dirty="0">
                <a:solidFill>
                  <a:srgbClr val="080503"/>
                </a:solidFill>
                <a:latin typeface="Arial"/>
                <a:cs typeface="Arial"/>
              </a:rPr>
              <a:t>Processor</a:t>
            </a:r>
            <a:endParaRPr sz="2300" dirty="0">
              <a:latin typeface="Arial"/>
              <a:cs typeface="Arial"/>
            </a:endParaRPr>
          </a:p>
          <a:p>
            <a:pPr marL="12700" marR="5080" indent="-35560" algn="ctr">
              <a:lnSpc>
                <a:spcPts val="2110"/>
              </a:lnSpc>
              <a:spcBef>
                <a:spcPts val="275"/>
              </a:spcBef>
            </a:pPr>
            <a:r>
              <a:rPr lang="en-US" spc="-185" dirty="0">
                <a:solidFill>
                  <a:srgbClr val="080503"/>
                </a:solidFill>
                <a:latin typeface="Arial"/>
                <a:cs typeface="Arial"/>
              </a:rPr>
              <a:t>Intel Core i3 or higher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13" name="object 8">
            <a:extLst>
              <a:ext uri="{FF2B5EF4-FFF2-40B4-BE49-F238E27FC236}">
                <a16:creationId xmlns:a16="http://schemas.microsoft.com/office/drawing/2014/main" id="{8359DCF3-091D-955F-2B08-813692B1E361}"/>
              </a:ext>
            </a:extLst>
          </p:cNvPr>
          <p:cNvSpPr txBox="1"/>
          <p:nvPr/>
        </p:nvSpPr>
        <p:spPr>
          <a:xfrm>
            <a:off x="4800600" y="2810278"/>
            <a:ext cx="2362200" cy="700833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R="41910" algn="ctr">
              <a:lnSpc>
                <a:spcPct val="100000"/>
              </a:lnSpc>
              <a:spcBef>
                <a:spcPts val="305"/>
              </a:spcBef>
            </a:pPr>
            <a:r>
              <a:rPr lang="en-US" sz="2300" b="1" spc="-300" dirty="0">
                <a:solidFill>
                  <a:srgbClr val="080503"/>
                </a:solidFill>
                <a:latin typeface="Arial"/>
                <a:cs typeface="Arial"/>
              </a:rPr>
              <a:t>Storage</a:t>
            </a:r>
            <a:endParaRPr sz="2300" dirty="0">
              <a:latin typeface="Arial"/>
              <a:cs typeface="Arial"/>
            </a:endParaRPr>
          </a:p>
          <a:p>
            <a:pPr marL="12700" marR="5080" indent="-35560" algn="ctr">
              <a:lnSpc>
                <a:spcPts val="2110"/>
              </a:lnSpc>
              <a:spcBef>
                <a:spcPts val="275"/>
              </a:spcBef>
            </a:pPr>
            <a:r>
              <a:rPr lang="en-US" sz="1800" spc="-185" dirty="0">
                <a:solidFill>
                  <a:srgbClr val="080503"/>
                </a:solidFill>
                <a:latin typeface="Arial"/>
                <a:cs typeface="Arial"/>
              </a:rPr>
              <a:t>At least 1 GB  free disk space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14" name="object 8">
            <a:extLst>
              <a:ext uri="{FF2B5EF4-FFF2-40B4-BE49-F238E27FC236}">
                <a16:creationId xmlns:a16="http://schemas.microsoft.com/office/drawing/2014/main" id="{4E59A4C4-925F-A635-A27D-E2E6AC9FC586}"/>
              </a:ext>
            </a:extLst>
          </p:cNvPr>
          <p:cNvSpPr txBox="1"/>
          <p:nvPr/>
        </p:nvSpPr>
        <p:spPr>
          <a:xfrm>
            <a:off x="4578842" y="3730919"/>
            <a:ext cx="3012316" cy="683136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R="41910" algn="ctr">
              <a:lnSpc>
                <a:spcPct val="100000"/>
              </a:lnSpc>
              <a:spcBef>
                <a:spcPts val="305"/>
              </a:spcBef>
            </a:pPr>
            <a:r>
              <a:rPr lang="en-US" sz="2300" b="1" spc="-300" dirty="0">
                <a:solidFill>
                  <a:srgbClr val="080503"/>
                </a:solidFill>
                <a:latin typeface="Arial"/>
                <a:cs typeface="Arial"/>
              </a:rPr>
              <a:t>Ram</a:t>
            </a:r>
            <a:endParaRPr sz="2300" dirty="0">
              <a:latin typeface="Arial"/>
              <a:cs typeface="Arial"/>
            </a:endParaRPr>
          </a:p>
          <a:p>
            <a:pPr marL="12700" marR="5080" indent="-35560" algn="ctr">
              <a:lnSpc>
                <a:spcPts val="2110"/>
              </a:lnSpc>
              <a:spcBef>
                <a:spcPts val="275"/>
              </a:spcBef>
            </a:pPr>
            <a:r>
              <a:rPr lang="en-US" sz="1700" spc="-185" dirty="0">
                <a:solidFill>
                  <a:srgbClr val="080503"/>
                </a:solidFill>
                <a:latin typeface="Arial"/>
                <a:cs typeface="Arial"/>
              </a:rPr>
              <a:t>4 GB Minimum (8 GB Recommended)</a:t>
            </a:r>
            <a:endParaRPr sz="17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F115791-7294-3F0D-013F-E030EE79B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18E1C549-7016-8A57-33B4-D57EE7E627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CF6747E-DA9C-296F-67F5-95184FCD7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24350"/>
            <a:ext cx="6382481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955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12FC531-B3E5-2A48-391E-FE280B84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874CA9-E3BB-1387-7CAA-726BB0909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778C098-1247-748A-D040-79D556096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514350"/>
            <a:ext cx="6858000" cy="380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18720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2AF11-90E6-A053-A160-B4CB59650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453511-F09A-6DD0-702E-4864CBA65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E80A4798-5D26-A390-2CFD-002E5853E9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4F8978E3-79ED-8640-BF1B-515EEAD6F56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DACE0B-4C6D-7363-8CEB-27917CB0C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24E0750-3A06-855F-FD8C-C58A2F934CBD}"/>
              </a:ext>
            </a:extLst>
          </p:cNvPr>
          <p:cNvSpPr txBox="1"/>
          <p:nvPr/>
        </p:nvSpPr>
        <p:spPr>
          <a:xfrm>
            <a:off x="2334905" y="347703"/>
            <a:ext cx="477899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>
                <a:solidFill>
                  <a:schemeClr val="accent5">
                    <a:lumMod val="50000"/>
                  </a:schemeClr>
                </a:solidFill>
              </a:rPr>
              <a:t>Test Case for Sign-Up </a:t>
            </a:r>
          </a:p>
          <a:p>
            <a:endParaRPr lang="en-IN" sz="3200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2EC0FD2-8BAE-5531-03C5-401D0BCABE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52116"/>
              </p:ext>
            </p:extLst>
          </p:nvPr>
        </p:nvGraphicFramePr>
        <p:xfrm>
          <a:off x="224695" y="2076764"/>
          <a:ext cx="8435230" cy="1081431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544471">
                  <a:extLst>
                    <a:ext uri="{9D8B030D-6E8A-4147-A177-3AD203B41FA5}">
                      <a16:colId xmlns:a16="http://schemas.microsoft.com/office/drawing/2014/main" val="4052877013"/>
                    </a:ext>
                  </a:extLst>
                </a:gridCol>
                <a:gridCol w="958919">
                  <a:extLst>
                    <a:ext uri="{9D8B030D-6E8A-4147-A177-3AD203B41FA5}">
                      <a16:colId xmlns:a16="http://schemas.microsoft.com/office/drawing/2014/main" val="3728239562"/>
                    </a:ext>
                  </a:extLst>
                </a:gridCol>
                <a:gridCol w="3461857">
                  <a:extLst>
                    <a:ext uri="{9D8B030D-6E8A-4147-A177-3AD203B41FA5}">
                      <a16:colId xmlns:a16="http://schemas.microsoft.com/office/drawing/2014/main" val="1004609603"/>
                    </a:ext>
                  </a:extLst>
                </a:gridCol>
                <a:gridCol w="2779237">
                  <a:extLst>
                    <a:ext uri="{9D8B030D-6E8A-4147-A177-3AD203B41FA5}">
                      <a16:colId xmlns:a16="http://schemas.microsoft.com/office/drawing/2014/main" val="2974595340"/>
                    </a:ext>
                  </a:extLst>
                </a:gridCol>
                <a:gridCol w="690746">
                  <a:extLst>
                    <a:ext uri="{9D8B030D-6E8A-4147-A177-3AD203B41FA5}">
                      <a16:colId xmlns:a16="http://schemas.microsoft.com/office/drawing/2014/main" val="2019677394"/>
                    </a:ext>
                  </a:extLst>
                </a:gridCol>
              </a:tblGrid>
              <a:tr h="42046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1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Reg Page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400" u="none" strike="noStrike">
                          <a:effectLst/>
                        </a:rPr>
                        <a:t>Email: newuser@example.com, Password: pass123</a:t>
                      </a:r>
                      <a:endParaRPr lang="fr-FR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Valid registration details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Pass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extLst>
                  <a:ext uri="{0D108BD9-81ED-4DB2-BD59-A6C34878D82A}">
                    <a16:rowId xmlns:a16="http://schemas.microsoft.com/office/drawing/2014/main" val="4113964131"/>
                  </a:ext>
                </a:extLst>
              </a:tr>
              <a:tr h="420469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2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Reg Page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400" u="none" strike="noStrike" dirty="0">
                          <a:effectLst/>
                        </a:rPr>
                        <a:t>Email: existing@example.com, </a:t>
                      </a:r>
                      <a:r>
                        <a:rPr lang="fr-FR" sz="1400" u="none" strike="noStrike" dirty="0" err="1">
                          <a:effectLst/>
                        </a:rPr>
                        <a:t>Password</a:t>
                      </a:r>
                      <a:r>
                        <a:rPr lang="fr-FR" sz="1400" u="none" strike="noStrike" dirty="0">
                          <a:effectLst/>
                        </a:rPr>
                        <a:t>: pass123</a:t>
                      </a:r>
                      <a:endParaRPr lang="fr-FR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Duplicate email registration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Fail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extLst>
                  <a:ext uri="{0D108BD9-81ED-4DB2-BD59-A6C34878D82A}">
                    <a16:rowId xmlns:a16="http://schemas.microsoft.com/office/drawing/2014/main" val="3259525073"/>
                  </a:ext>
                </a:extLst>
              </a:tr>
              <a:tr h="21267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3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Reg Page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Email: '', Password: pass123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Missing mandatory fields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Fail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877" marR="4877" marT="4877" marB="0" anchor="b"/>
                </a:tc>
                <a:extLst>
                  <a:ext uri="{0D108BD9-81ED-4DB2-BD59-A6C34878D82A}">
                    <a16:rowId xmlns:a16="http://schemas.microsoft.com/office/drawing/2014/main" val="266693709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087D4D3-FCC9-2352-05D9-503CB85D3F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644349"/>
              </p:ext>
            </p:extLst>
          </p:nvPr>
        </p:nvGraphicFramePr>
        <p:xfrm>
          <a:off x="224694" y="1540635"/>
          <a:ext cx="8435231" cy="51816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535924">
                  <a:extLst>
                    <a:ext uri="{9D8B030D-6E8A-4147-A177-3AD203B41FA5}">
                      <a16:colId xmlns:a16="http://schemas.microsoft.com/office/drawing/2014/main" val="3983818758"/>
                    </a:ext>
                  </a:extLst>
                </a:gridCol>
                <a:gridCol w="988050">
                  <a:extLst>
                    <a:ext uri="{9D8B030D-6E8A-4147-A177-3AD203B41FA5}">
                      <a16:colId xmlns:a16="http://schemas.microsoft.com/office/drawing/2014/main" val="1907969622"/>
                    </a:ext>
                  </a:extLst>
                </a:gridCol>
                <a:gridCol w="3420173">
                  <a:extLst>
                    <a:ext uri="{9D8B030D-6E8A-4147-A177-3AD203B41FA5}">
                      <a16:colId xmlns:a16="http://schemas.microsoft.com/office/drawing/2014/main" val="3395045102"/>
                    </a:ext>
                  </a:extLst>
                </a:gridCol>
                <a:gridCol w="2812142">
                  <a:extLst>
                    <a:ext uri="{9D8B030D-6E8A-4147-A177-3AD203B41FA5}">
                      <a16:colId xmlns:a16="http://schemas.microsoft.com/office/drawing/2014/main" val="118286240"/>
                    </a:ext>
                  </a:extLst>
                </a:gridCol>
                <a:gridCol w="678942">
                  <a:extLst>
                    <a:ext uri="{9D8B030D-6E8A-4147-A177-3AD203B41FA5}">
                      <a16:colId xmlns:a16="http://schemas.microsoft.com/office/drawing/2014/main" val="22638391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9579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9369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2A60A1B-1630-1CC6-9B31-D98869D83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56FB3A02-EBC4-EB8A-DFE8-A640FED57E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32496F2-FF8B-72BD-A803-55ED716688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6" y="0"/>
            <a:ext cx="9138424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960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04D9DA8-25AB-E8B2-4735-425661E83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A435C5A0-77D8-B2FE-030D-F0D223BC03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BAC39F-4C14-50B2-3CA5-E18532D4F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666751"/>
            <a:ext cx="6477000" cy="360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919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B7108-DCBC-2EC5-7FE6-F873F76B9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20F78-24B4-3F2E-8924-4C25732E25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53B7A854-8B43-DF58-D3C9-1218F95F404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3AEC5E7A-4D7F-B021-C9AC-531D0C2FAC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E46BB2-93FF-4A70-7B87-ABFCFB9E1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D843BD7-0778-D926-03C0-50E617F6CF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2266034"/>
              </p:ext>
            </p:extLst>
          </p:nvPr>
        </p:nvGraphicFramePr>
        <p:xfrm>
          <a:off x="455247" y="1995357"/>
          <a:ext cx="8263792" cy="1457586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533405">
                  <a:extLst>
                    <a:ext uri="{9D8B030D-6E8A-4147-A177-3AD203B41FA5}">
                      <a16:colId xmlns:a16="http://schemas.microsoft.com/office/drawing/2014/main" val="468731472"/>
                    </a:ext>
                  </a:extLst>
                </a:gridCol>
                <a:gridCol w="939430">
                  <a:extLst>
                    <a:ext uri="{9D8B030D-6E8A-4147-A177-3AD203B41FA5}">
                      <a16:colId xmlns:a16="http://schemas.microsoft.com/office/drawing/2014/main" val="3080153917"/>
                    </a:ext>
                  </a:extLst>
                </a:gridCol>
                <a:gridCol w="3391498">
                  <a:extLst>
                    <a:ext uri="{9D8B030D-6E8A-4147-A177-3AD203B41FA5}">
                      <a16:colId xmlns:a16="http://schemas.microsoft.com/office/drawing/2014/main" val="701111548"/>
                    </a:ext>
                  </a:extLst>
                </a:gridCol>
                <a:gridCol w="2722752">
                  <a:extLst>
                    <a:ext uri="{9D8B030D-6E8A-4147-A177-3AD203B41FA5}">
                      <a16:colId xmlns:a16="http://schemas.microsoft.com/office/drawing/2014/main" val="4012080754"/>
                    </a:ext>
                  </a:extLst>
                </a:gridCol>
                <a:gridCol w="676707">
                  <a:extLst>
                    <a:ext uri="{9D8B030D-6E8A-4147-A177-3AD203B41FA5}">
                      <a16:colId xmlns:a16="http://schemas.microsoft.com/office/drawing/2014/main" val="1616774646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Test No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Test Name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Test Data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Test Description</a:t>
                      </a:r>
                      <a:endParaRPr lang="en-IN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Result</a:t>
                      </a:r>
                      <a:endParaRPr lang="en-IN" sz="1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/>
                </a:tc>
                <a:extLst>
                  <a:ext uri="{0D108BD9-81ED-4DB2-BD59-A6C34878D82A}">
                    <a16:rowId xmlns:a16="http://schemas.microsoft.com/office/drawing/2014/main" val="313585489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Login Page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Username: user1, Password: </a:t>
                      </a:r>
                      <a:r>
                        <a:rPr lang="en-IN" sz="1400" u="none" strike="noStrike" dirty="0" err="1">
                          <a:effectLst/>
                        </a:rPr>
                        <a:t>correctpass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Valid login credentials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Pass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extLst>
                  <a:ext uri="{0D108BD9-81ED-4DB2-BD59-A6C34878D82A}">
                    <a16:rowId xmlns:a16="http://schemas.microsoft.com/office/drawing/2014/main" val="401398191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2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Login Page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Username: user1, Password: wrongpass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Invalid login credentials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Fail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extLst>
                  <a:ext uri="{0D108BD9-81ED-4DB2-BD59-A6C34878D82A}">
                    <a16:rowId xmlns:a16="http://schemas.microsoft.com/office/drawing/2014/main" val="342342401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3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Login Page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Username: '', Password: ''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Empty username and password fields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Fail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extLst>
                  <a:ext uri="{0D108BD9-81ED-4DB2-BD59-A6C34878D82A}">
                    <a16:rowId xmlns:a16="http://schemas.microsoft.com/office/drawing/2014/main" val="423306568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C37C2D7-414B-1119-683C-44CE564CE853}"/>
              </a:ext>
            </a:extLst>
          </p:cNvPr>
          <p:cNvSpPr txBox="1"/>
          <p:nvPr/>
        </p:nvSpPr>
        <p:spPr>
          <a:xfrm>
            <a:off x="2209800" y="627494"/>
            <a:ext cx="4114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solidFill>
                  <a:schemeClr val="accent5">
                    <a:lumMod val="50000"/>
                  </a:schemeClr>
                </a:solidFill>
              </a:rPr>
              <a:t>Test Case for Login </a:t>
            </a:r>
          </a:p>
        </p:txBody>
      </p:sp>
      <p:sp>
        <p:nvSpPr>
          <p:cNvPr id="13" name="AutoShape 6">
            <a:extLst>
              <a:ext uri="{FF2B5EF4-FFF2-40B4-BE49-F238E27FC236}">
                <a16:creationId xmlns:a16="http://schemas.microsoft.com/office/drawing/2014/main" id="{E248FB53-4805-B4EA-6041-0E3E7C7DEE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24400" y="27241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3332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6C96B1A-E480-E5DF-A53D-801ED144F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F35524-363B-3FF3-5296-A758097053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56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2599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38F5620-C88F-0664-0969-E25DBC1D8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D2879B2-FAEF-091B-3AC2-C5753E555B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37888B-919B-907E-3D97-4EFB65399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100" y="438150"/>
            <a:ext cx="6781800" cy="4031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827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EA4F5B6-CB2C-95FB-9C07-F2102241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90215E-7E70-E9D3-BC47-2045B012F9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2488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66D2FA-514C-2B41-E138-1FCBB4E8D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A891EED-95BB-D8F9-7755-F05B020DBB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5FD3E2-F7EA-2BF7-3CDB-CF3A9373E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742951"/>
            <a:ext cx="6705600" cy="3529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1606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4DEF1-2004-147F-63B7-F69AD77C7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C6875-6157-A151-D50D-4CE1FE22B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72766C-95E0-5EBA-2675-B1C478DA9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049083F6-786B-BF6F-57D0-D817CF1133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0219EA92-950D-EF4F-A2F8-23C9273FFD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CD2911-D205-57E8-4EE2-95A6EAD63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4F89DDF-130B-3CF4-EDFF-203A364425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334867"/>
              </p:ext>
            </p:extLst>
          </p:nvPr>
        </p:nvGraphicFramePr>
        <p:xfrm>
          <a:off x="533400" y="2419350"/>
          <a:ext cx="7924801" cy="118110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511524">
                  <a:extLst>
                    <a:ext uri="{9D8B030D-6E8A-4147-A177-3AD203B41FA5}">
                      <a16:colId xmlns:a16="http://schemas.microsoft.com/office/drawing/2014/main" val="3102602219"/>
                    </a:ext>
                  </a:extLst>
                </a:gridCol>
                <a:gridCol w="900893">
                  <a:extLst>
                    <a:ext uri="{9D8B030D-6E8A-4147-A177-3AD203B41FA5}">
                      <a16:colId xmlns:a16="http://schemas.microsoft.com/office/drawing/2014/main" val="3140527626"/>
                    </a:ext>
                  </a:extLst>
                </a:gridCol>
                <a:gridCol w="3252375">
                  <a:extLst>
                    <a:ext uri="{9D8B030D-6E8A-4147-A177-3AD203B41FA5}">
                      <a16:colId xmlns:a16="http://schemas.microsoft.com/office/drawing/2014/main" val="4270980654"/>
                    </a:ext>
                  </a:extLst>
                </a:gridCol>
                <a:gridCol w="2611062">
                  <a:extLst>
                    <a:ext uri="{9D8B030D-6E8A-4147-A177-3AD203B41FA5}">
                      <a16:colId xmlns:a16="http://schemas.microsoft.com/office/drawing/2014/main" val="769685799"/>
                    </a:ext>
                  </a:extLst>
                </a:gridCol>
                <a:gridCol w="648947">
                  <a:extLst>
                    <a:ext uri="{9D8B030D-6E8A-4147-A177-3AD203B41FA5}">
                      <a16:colId xmlns:a16="http://schemas.microsoft.com/office/drawing/2014/main" val="708705756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7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Search Bar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From: </a:t>
                      </a:r>
                      <a:r>
                        <a:rPr lang="en-US" sz="1400" u="none" strike="noStrike" dirty="0" err="1">
                          <a:effectLst/>
                        </a:rPr>
                        <a:t>CityA</a:t>
                      </a:r>
                      <a:r>
                        <a:rPr lang="en-US" sz="1400" u="none" strike="noStrike" dirty="0">
                          <a:effectLst/>
                        </a:rPr>
                        <a:t>, To: </a:t>
                      </a:r>
                      <a:r>
                        <a:rPr lang="en-US" sz="1400" u="none" strike="noStrike" dirty="0" err="1">
                          <a:effectLst/>
                        </a:rPr>
                        <a:t>CityB</a:t>
                      </a:r>
                      <a:r>
                        <a:rPr lang="en-US" sz="1400" u="none" strike="noStrike" dirty="0">
                          <a:effectLst/>
                        </a:rPr>
                        <a:t>, Date: 2026-04-10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Valid bus route search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Pass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extLst>
                  <a:ext uri="{0D108BD9-81ED-4DB2-BD59-A6C34878D82A}">
                    <a16:rowId xmlns:a16="http://schemas.microsoft.com/office/drawing/2014/main" val="331987566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8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Search Bar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From: CityX, To: CityY, Date: 2026-04-10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Invalid bus route search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Fail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extLst>
                  <a:ext uri="{0D108BD9-81ED-4DB2-BD59-A6C34878D82A}">
                    <a16:rowId xmlns:a16="http://schemas.microsoft.com/office/drawing/2014/main" val="2979088374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9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Search Bar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From: '', To: '', Date: ''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Empty search fields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Fail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extLst>
                  <a:ext uri="{0D108BD9-81ED-4DB2-BD59-A6C34878D82A}">
                    <a16:rowId xmlns:a16="http://schemas.microsoft.com/office/drawing/2014/main" val="129349377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D7120E1-0BB0-775E-F196-AC928361370D}"/>
              </a:ext>
            </a:extLst>
          </p:cNvPr>
          <p:cNvSpPr txBox="1"/>
          <p:nvPr/>
        </p:nvSpPr>
        <p:spPr>
          <a:xfrm>
            <a:off x="2182299" y="940352"/>
            <a:ext cx="46270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>
                <a:solidFill>
                  <a:schemeClr val="accent5">
                    <a:lumMod val="50000"/>
                  </a:schemeClr>
                </a:solidFill>
              </a:rPr>
              <a:t>Test Case for Search 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40B6E25-2ED9-BFE4-544F-C690A1EBAA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818340"/>
              </p:ext>
            </p:extLst>
          </p:nvPr>
        </p:nvGraphicFramePr>
        <p:xfrm>
          <a:off x="533400" y="1890735"/>
          <a:ext cx="7924801" cy="51816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533400">
                  <a:extLst>
                    <a:ext uri="{9D8B030D-6E8A-4147-A177-3AD203B41FA5}">
                      <a16:colId xmlns:a16="http://schemas.microsoft.com/office/drawing/2014/main" val="80782298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683682236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1092126737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134960330"/>
                    </a:ext>
                  </a:extLst>
                </a:gridCol>
                <a:gridCol w="685801">
                  <a:extLst>
                    <a:ext uri="{9D8B030D-6E8A-4147-A177-3AD203B41FA5}">
                      <a16:colId xmlns:a16="http://schemas.microsoft.com/office/drawing/2014/main" val="21400425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28859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9401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790203D-B239-A14E-7F46-90E4766F6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D67C44-07F7-28E7-B25D-1783EB670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878" y="0"/>
            <a:ext cx="917187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22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2D5CB75-89F2-A622-B172-3AD59A08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0FF5724-0950-195A-BAEE-8A8C459AB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CD543D-FCB1-2755-C3CE-08CC64BE57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235410"/>
            <a:ext cx="6400800" cy="431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407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87C1E-A9AD-9055-2112-11AAB2B25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8D4E9-8135-9812-682C-0BF09579A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E4293C-3C67-8DAC-83A3-148F66F3E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2D196E58-A5F6-FFCA-55B0-4ED0DCA24D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E7CE335A-40CB-1641-86A3-BAE05B5130B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D312E4-8558-EEEE-6BAE-96ACD38AA0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CF5D9B3-1AFE-743C-3925-8052785993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0787"/>
              </p:ext>
            </p:extLst>
          </p:nvPr>
        </p:nvGraphicFramePr>
        <p:xfrm>
          <a:off x="685800" y="2400828"/>
          <a:ext cx="7848600" cy="1365794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506606">
                  <a:extLst>
                    <a:ext uri="{9D8B030D-6E8A-4147-A177-3AD203B41FA5}">
                      <a16:colId xmlns:a16="http://schemas.microsoft.com/office/drawing/2014/main" val="2722650538"/>
                    </a:ext>
                  </a:extLst>
                </a:gridCol>
                <a:gridCol w="892230">
                  <a:extLst>
                    <a:ext uri="{9D8B030D-6E8A-4147-A177-3AD203B41FA5}">
                      <a16:colId xmlns:a16="http://schemas.microsoft.com/office/drawing/2014/main" val="3371008089"/>
                    </a:ext>
                  </a:extLst>
                </a:gridCol>
                <a:gridCol w="3221101">
                  <a:extLst>
                    <a:ext uri="{9D8B030D-6E8A-4147-A177-3AD203B41FA5}">
                      <a16:colId xmlns:a16="http://schemas.microsoft.com/office/drawing/2014/main" val="3342989594"/>
                    </a:ext>
                  </a:extLst>
                </a:gridCol>
                <a:gridCol w="2585955">
                  <a:extLst>
                    <a:ext uri="{9D8B030D-6E8A-4147-A177-3AD203B41FA5}">
                      <a16:colId xmlns:a16="http://schemas.microsoft.com/office/drawing/2014/main" val="3356542713"/>
                    </a:ext>
                  </a:extLst>
                </a:gridCol>
                <a:gridCol w="642708">
                  <a:extLst>
                    <a:ext uri="{9D8B030D-6E8A-4147-A177-3AD203B41FA5}">
                      <a16:colId xmlns:a16="http://schemas.microsoft.com/office/drawing/2014/main" val="4001849734"/>
                    </a:ext>
                  </a:extLst>
                </a:gridCol>
              </a:tblGrid>
              <a:tr h="437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600" u="none" strike="noStrike" dirty="0">
                          <a:effectLst/>
                        </a:rPr>
                        <a:t>1</a:t>
                      </a: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Booking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Bus ID: 123, Seat: A1, Name: John Doe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Valid booking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Pass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extLst>
                  <a:ext uri="{0D108BD9-81ED-4DB2-BD59-A6C34878D82A}">
                    <a16:rowId xmlns:a16="http://schemas.microsoft.com/office/drawing/2014/main" val="2204819061"/>
                  </a:ext>
                </a:extLst>
              </a:tr>
              <a:tr h="437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Booking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Bus ID: 123, Seat: '', Name: John Doe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Booking without selecting seat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Fail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extLst>
                  <a:ext uri="{0D108BD9-81ED-4DB2-BD59-A6C34878D82A}">
                    <a16:rowId xmlns:a16="http://schemas.microsoft.com/office/drawing/2014/main" val="1519163911"/>
                  </a:ext>
                </a:extLst>
              </a:tr>
              <a:tr h="437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Booking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Bus ID: 123, Seat: A1, Name: ''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Booking with invalid passenger details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600" u="none" strike="noStrike" dirty="0">
                          <a:effectLst/>
                        </a:rPr>
                        <a:t>Fail</a:t>
                      </a: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extLst>
                  <a:ext uri="{0D108BD9-81ED-4DB2-BD59-A6C34878D82A}">
                    <a16:rowId xmlns:a16="http://schemas.microsoft.com/office/drawing/2014/main" val="266265117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F57126-DA5C-8197-BBE9-62B5EEB263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743397"/>
              </p:ext>
            </p:extLst>
          </p:nvPr>
        </p:nvGraphicFramePr>
        <p:xfrm>
          <a:off x="685800" y="1873407"/>
          <a:ext cx="7848600" cy="51816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533400">
                  <a:extLst>
                    <a:ext uri="{9D8B030D-6E8A-4147-A177-3AD203B41FA5}">
                      <a16:colId xmlns:a16="http://schemas.microsoft.com/office/drawing/2014/main" val="8300141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554120377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831398213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114673549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2779031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269397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7DA9AF8-89FF-BB78-A078-5F8BB322231E}"/>
              </a:ext>
            </a:extLst>
          </p:cNvPr>
          <p:cNvSpPr txBox="1"/>
          <p:nvPr/>
        </p:nvSpPr>
        <p:spPr>
          <a:xfrm>
            <a:off x="2563299" y="733834"/>
            <a:ext cx="46270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>
                <a:solidFill>
                  <a:schemeClr val="accent5">
                    <a:lumMod val="50000"/>
                  </a:schemeClr>
                </a:solidFill>
              </a:rPr>
              <a:t>Test Case for Booking </a:t>
            </a:r>
          </a:p>
        </p:txBody>
      </p:sp>
    </p:spTree>
    <p:extLst>
      <p:ext uri="{BB962C8B-B14F-4D97-AF65-F5344CB8AC3E}">
        <p14:creationId xmlns:p14="http://schemas.microsoft.com/office/powerpoint/2010/main" val="35169780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493488-C75A-0934-ABD9-B217C6156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D2DA1F-4D41-41BF-3A6A-FC03CC5E9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323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9925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DC8AD64-9828-55FA-DF22-77B5B8296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EBA4FDF-F1CE-6273-EF9C-D9478C19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9325F2B-184D-BB06-F8A2-20A3FCA8F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666751"/>
            <a:ext cx="6629400" cy="360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5732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A73C6-FB54-D38D-07A5-4D0492F2C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4A711-6CCD-6A22-20B6-71A068079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627D21-9E4B-A69E-BFDB-6B5E9291E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746FDCBA-58EA-4370-1CAF-BD67757539A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AEC230BE-C14F-29FB-A5D5-4FB704CC18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C2E0363-D3C1-AFA8-3BF0-134318CA3A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626" y="0"/>
            <a:ext cx="9144000" cy="5143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324A1ED-0217-4A8C-8354-30AFF1F21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64245"/>
              </p:ext>
            </p:extLst>
          </p:nvPr>
        </p:nvGraphicFramePr>
        <p:xfrm>
          <a:off x="551724" y="2411186"/>
          <a:ext cx="7746551" cy="1286658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515076">
                  <a:extLst>
                    <a:ext uri="{9D8B030D-6E8A-4147-A177-3AD203B41FA5}">
                      <a16:colId xmlns:a16="http://schemas.microsoft.com/office/drawing/2014/main" val="745732336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414733263"/>
                    </a:ext>
                  </a:extLst>
                </a:gridCol>
                <a:gridCol w="3238050">
                  <a:extLst>
                    <a:ext uri="{9D8B030D-6E8A-4147-A177-3AD203B41FA5}">
                      <a16:colId xmlns:a16="http://schemas.microsoft.com/office/drawing/2014/main" val="3764674519"/>
                    </a:ext>
                  </a:extLst>
                </a:gridCol>
                <a:gridCol w="2649199">
                  <a:extLst>
                    <a:ext uri="{9D8B030D-6E8A-4147-A177-3AD203B41FA5}">
                      <a16:colId xmlns:a16="http://schemas.microsoft.com/office/drawing/2014/main" val="2094793985"/>
                    </a:ext>
                  </a:extLst>
                </a:gridCol>
                <a:gridCol w="658426">
                  <a:extLst>
                    <a:ext uri="{9D8B030D-6E8A-4147-A177-3AD203B41FA5}">
                      <a16:colId xmlns:a16="http://schemas.microsoft.com/office/drawing/2014/main" val="2975128241"/>
                    </a:ext>
                  </a:extLst>
                </a:gridCol>
              </a:tblGrid>
              <a:tr h="37422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Payment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Card: 4111111111111111, Exp: 12/28, CVV: 123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Successful payment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Pass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extLst>
                  <a:ext uri="{0D108BD9-81ED-4DB2-BD59-A6C34878D82A}">
                    <a16:rowId xmlns:a16="http://schemas.microsoft.com/office/drawing/2014/main" val="2992802593"/>
                  </a:ext>
                </a:extLst>
              </a:tr>
              <a:tr h="37422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Payment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Card: 4000000000000002, Exp: 12/28, CVV: 123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Payment declined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Fail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extLst>
                  <a:ext uri="{0D108BD9-81ED-4DB2-BD59-A6C34878D82A}">
                    <a16:rowId xmlns:a16="http://schemas.microsoft.com/office/drawing/2014/main" val="1235338253"/>
                  </a:ext>
                </a:extLst>
              </a:tr>
              <a:tr h="374227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>
                          <a:effectLst/>
                        </a:rPr>
                        <a:t>Payment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Card: 1234567890123456, Exp: 12/28, CVV: </a:t>
                      </a:r>
                      <a:r>
                        <a:rPr lang="en-US" sz="1400" u="none" strike="noStrike" dirty="0" err="1">
                          <a:effectLst/>
                        </a:rPr>
                        <a:t>abc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Payment with invalid card details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400" u="none" strike="noStrike" dirty="0">
                          <a:effectLst/>
                        </a:rPr>
                        <a:t>Fail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166" marR="2166" marT="2166" marB="0" anchor="b"/>
                </a:tc>
                <a:extLst>
                  <a:ext uri="{0D108BD9-81ED-4DB2-BD59-A6C34878D82A}">
                    <a16:rowId xmlns:a16="http://schemas.microsoft.com/office/drawing/2014/main" val="411718646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82EB836-D5F2-829B-36A4-9ADA69BCEA46}"/>
              </a:ext>
            </a:extLst>
          </p:cNvPr>
          <p:cNvSpPr txBox="1"/>
          <p:nvPr/>
        </p:nvSpPr>
        <p:spPr>
          <a:xfrm>
            <a:off x="2338943" y="644173"/>
            <a:ext cx="4627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>
                <a:solidFill>
                  <a:schemeClr val="accent5">
                    <a:lumMod val="50000"/>
                  </a:schemeClr>
                </a:solidFill>
              </a:rPr>
              <a:t>Test Case for Payment 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719DF42-4ACC-1D5E-7B43-0725C9E461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649288"/>
              </p:ext>
            </p:extLst>
          </p:nvPr>
        </p:nvGraphicFramePr>
        <p:xfrm>
          <a:off x="551724" y="1880851"/>
          <a:ext cx="7746552" cy="518160"/>
        </p:xfrm>
        <a:graphic>
          <a:graphicData uri="http://schemas.openxmlformats.org/drawingml/2006/table">
            <a:tbl>
              <a:tblPr firstRow="1" bandRow="1">
                <a:tableStyleId>{16D9F66E-5EB9-4882-86FB-DCBF35E3C3E4}</a:tableStyleId>
              </a:tblPr>
              <a:tblGrid>
                <a:gridCol w="534399">
                  <a:extLst>
                    <a:ext uri="{9D8B030D-6E8A-4147-A177-3AD203B41FA5}">
                      <a16:colId xmlns:a16="http://schemas.microsoft.com/office/drawing/2014/main" val="629019137"/>
                    </a:ext>
                  </a:extLst>
                </a:gridCol>
                <a:gridCol w="676893">
                  <a:extLst>
                    <a:ext uri="{9D8B030D-6E8A-4147-A177-3AD203B41FA5}">
                      <a16:colId xmlns:a16="http://schemas.microsoft.com/office/drawing/2014/main" val="3676868885"/>
                    </a:ext>
                  </a:extLst>
                </a:gridCol>
                <a:gridCol w="3234042">
                  <a:extLst>
                    <a:ext uri="{9D8B030D-6E8A-4147-A177-3AD203B41FA5}">
                      <a16:colId xmlns:a16="http://schemas.microsoft.com/office/drawing/2014/main" val="535855540"/>
                    </a:ext>
                  </a:extLst>
                </a:gridCol>
                <a:gridCol w="2622942">
                  <a:extLst>
                    <a:ext uri="{9D8B030D-6E8A-4147-A177-3AD203B41FA5}">
                      <a16:colId xmlns:a16="http://schemas.microsoft.com/office/drawing/2014/main" val="3545635150"/>
                    </a:ext>
                  </a:extLst>
                </a:gridCol>
                <a:gridCol w="678276">
                  <a:extLst>
                    <a:ext uri="{9D8B030D-6E8A-4147-A177-3AD203B41FA5}">
                      <a16:colId xmlns:a16="http://schemas.microsoft.com/office/drawing/2014/main" val="3486418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Test 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400" b="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721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43374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6C1A75B-0A33-4348-4DDB-7D52BB972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25FAD6-6EE6-D70C-A0A2-1A2B40F6D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220200" cy="5143500"/>
          </a:xfrm>
          <a:prstGeom prst="rect">
            <a:avLst/>
          </a:prstGeom>
        </p:spPr>
      </p:pic>
      <p:sp>
        <p:nvSpPr>
          <p:cNvPr id="11" name="Title 52">
            <a:extLst>
              <a:ext uri="{FF2B5EF4-FFF2-40B4-BE49-F238E27FC236}">
                <a16:creationId xmlns:a16="http://schemas.microsoft.com/office/drawing/2014/main" id="{981A776F-FDF7-F739-1A28-64146B3E1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971550"/>
            <a:ext cx="3199874" cy="2769989"/>
          </a:xfrm>
        </p:spPr>
        <p:txBody>
          <a:bodyPr/>
          <a:lstStyle/>
          <a:p>
            <a:r>
              <a:rPr lang="en-US" sz="3600" dirty="0">
                <a:solidFill>
                  <a:schemeClr val="accent6">
                    <a:lumMod val="50000"/>
                  </a:schemeClr>
                </a:solidFill>
              </a:rPr>
              <a:t>Activity Diagram for </a:t>
            </a:r>
            <a:r>
              <a:rPr lang="en-US" sz="3600" dirty="0" err="1">
                <a:solidFill>
                  <a:schemeClr val="accent6">
                    <a:lumMod val="50000"/>
                  </a:schemeClr>
                </a:solidFill>
              </a:rPr>
              <a:t>TravelEase</a:t>
            </a:r>
            <a:r>
              <a:rPr lang="en-US" sz="3600" dirty="0">
                <a:solidFill>
                  <a:schemeClr val="accent6">
                    <a:lumMod val="50000"/>
                  </a:schemeClr>
                </a:solidFill>
              </a:rPr>
              <a:t> Bus Booking Application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94015FA-042F-C658-B074-BC89FC444C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285750"/>
            <a:ext cx="2439452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2198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4787" y="1779952"/>
            <a:ext cx="1101030" cy="148557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94642" y="2061006"/>
            <a:ext cx="953331" cy="116436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316517" y="2114541"/>
            <a:ext cx="644505" cy="116436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384305" y="1927171"/>
            <a:ext cx="1329292" cy="137850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035851" y="2020855"/>
            <a:ext cx="1289010" cy="1284819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578674" y="1084008"/>
            <a:ext cx="0" cy="3507104"/>
          </a:xfrm>
          <a:custGeom>
            <a:avLst/>
            <a:gdLst/>
            <a:ahLst/>
            <a:cxnLst/>
            <a:rect l="l" t="t" r="r" b="b"/>
            <a:pathLst>
              <a:path h="3507104">
                <a:moveTo>
                  <a:pt x="0" y="3506485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1319022" y="160346"/>
            <a:ext cx="6509384" cy="4762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950" spc="-100" dirty="0">
                <a:solidFill>
                  <a:srgbClr val="0A1321"/>
                </a:solidFill>
                <a:latin typeface="Arial"/>
                <a:cs typeface="Arial"/>
              </a:rPr>
              <a:t>Compatibility</a:t>
            </a:r>
            <a:r>
              <a:rPr sz="2950" spc="-8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0A1321"/>
                </a:solidFill>
                <a:latin typeface="Arial"/>
                <a:cs typeface="Arial"/>
              </a:rPr>
              <a:t>&amp;</a:t>
            </a:r>
            <a:r>
              <a:rPr sz="2800" spc="-22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2950" spc="-135" dirty="0">
                <a:solidFill>
                  <a:srgbClr val="0A1321"/>
                </a:solidFill>
                <a:latin typeface="Arial"/>
                <a:cs typeface="Arial"/>
              </a:rPr>
              <a:t>Cross-</a:t>
            </a:r>
            <a:r>
              <a:rPr sz="2950" spc="-110" dirty="0">
                <a:solidFill>
                  <a:srgbClr val="0A1321"/>
                </a:solidFill>
                <a:latin typeface="Arial"/>
                <a:cs typeface="Arial"/>
              </a:rPr>
              <a:t>Browser</a:t>
            </a:r>
            <a:r>
              <a:rPr sz="2950" spc="5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2950" spc="-65" dirty="0">
                <a:solidFill>
                  <a:srgbClr val="0A1321"/>
                </a:solidFill>
                <a:latin typeface="Arial"/>
                <a:cs typeface="Arial"/>
              </a:rPr>
              <a:t>Testing</a:t>
            </a:r>
            <a:endParaRPr sz="29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77301" y="1139156"/>
            <a:ext cx="3365500" cy="361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200" spc="-90" dirty="0">
                <a:solidFill>
                  <a:srgbClr val="265277"/>
                </a:solidFill>
                <a:latin typeface="Arial"/>
                <a:cs typeface="Arial"/>
              </a:rPr>
              <a:t>Device</a:t>
            </a:r>
            <a:r>
              <a:rPr sz="2200" spc="-65" dirty="0">
                <a:solidFill>
                  <a:srgbClr val="265277"/>
                </a:solidFill>
                <a:latin typeface="Arial"/>
                <a:cs typeface="Arial"/>
              </a:rPr>
              <a:t> </a:t>
            </a:r>
            <a:r>
              <a:rPr sz="2200" spc="-35" dirty="0">
                <a:solidFill>
                  <a:srgbClr val="265277"/>
                </a:solidFill>
                <a:latin typeface="Arial"/>
                <a:cs typeface="Arial"/>
              </a:rPr>
              <a:t>Compatibility</a:t>
            </a:r>
            <a:r>
              <a:rPr sz="2200" spc="5" dirty="0">
                <a:solidFill>
                  <a:srgbClr val="265277"/>
                </a:solidFill>
                <a:latin typeface="Arial"/>
                <a:cs typeface="Arial"/>
              </a:rPr>
              <a:t> </a:t>
            </a:r>
            <a:r>
              <a:rPr sz="2200" spc="-60" dirty="0">
                <a:solidFill>
                  <a:srgbClr val="265277"/>
                </a:solidFill>
                <a:latin typeface="Arial"/>
                <a:cs typeface="Arial"/>
              </a:rPr>
              <a:t>Testing</a:t>
            </a:r>
            <a:endParaRPr sz="22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602923" y="3075064"/>
            <a:ext cx="168275" cy="426084"/>
          </a:xfrm>
          <a:prstGeom prst="rect">
            <a:avLst/>
          </a:prstGeom>
          <a:solidFill>
            <a:srgbClr val="EBF6FB"/>
          </a:solidFill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2450" spc="-45" dirty="0">
                <a:solidFill>
                  <a:srgbClr val="B5C4C8"/>
                </a:solidFill>
                <a:latin typeface="Arial"/>
                <a:cs typeface="Arial"/>
              </a:rPr>
              <a:t>.,</a:t>
            </a:r>
            <a:endParaRPr sz="24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79333" y="3693477"/>
            <a:ext cx="3492500" cy="61468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72110" marR="5080" indent="-360045">
              <a:lnSpc>
                <a:spcPct val="106700"/>
              </a:lnSpc>
              <a:spcBef>
                <a:spcPts val="55"/>
              </a:spcBef>
              <a:tabLst>
                <a:tab pos="375285" algn="l"/>
              </a:tabLst>
            </a:pPr>
            <a:r>
              <a:rPr sz="1850" b="1" spc="30" dirty="0">
                <a:solidFill>
                  <a:srgbClr val="427EBF"/>
                </a:solidFill>
                <a:latin typeface="Arial"/>
                <a:cs typeface="Arial"/>
              </a:rPr>
              <a:t>0</a:t>
            </a:r>
            <a:r>
              <a:rPr sz="1850" b="1" dirty="0">
                <a:solidFill>
                  <a:srgbClr val="427EBF"/>
                </a:solidFill>
                <a:latin typeface="Arial"/>
                <a:cs typeface="Arial"/>
              </a:rPr>
              <a:t>		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Testing</a:t>
            </a:r>
            <a:r>
              <a:rPr sz="1800" spc="28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75" dirty="0">
                <a:solidFill>
                  <a:srgbClr val="0A1321"/>
                </a:solidFill>
                <a:latin typeface="Arial"/>
                <a:cs typeface="Arial"/>
              </a:rPr>
              <a:t>on</a:t>
            </a:r>
            <a:r>
              <a:rPr sz="1800" spc="13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desktops,</a:t>
            </a:r>
            <a:r>
              <a:rPr sz="1800" spc="24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50" dirty="0">
                <a:solidFill>
                  <a:srgbClr val="0A1321"/>
                </a:solidFill>
                <a:latin typeface="Arial"/>
                <a:cs typeface="Arial"/>
              </a:rPr>
              <a:t>tablets, </a:t>
            </a:r>
            <a:r>
              <a:rPr sz="1800" spc="65" dirty="0">
                <a:solidFill>
                  <a:srgbClr val="0A1321"/>
                </a:solidFill>
                <a:latin typeface="Arial"/>
                <a:cs typeface="Arial"/>
              </a:rPr>
              <a:t>and</a:t>
            </a:r>
            <a:r>
              <a:rPr sz="1800" spc="-20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A1321"/>
                </a:solidFill>
                <a:latin typeface="Arial"/>
                <a:cs typeface="Arial"/>
              </a:rPr>
              <a:t>smartphones.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297131" y="1139156"/>
            <a:ext cx="2998470" cy="361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200" spc="-85" dirty="0">
                <a:solidFill>
                  <a:srgbClr val="265277"/>
                </a:solidFill>
                <a:latin typeface="Arial"/>
                <a:cs typeface="Arial"/>
              </a:rPr>
              <a:t>Cross-</a:t>
            </a:r>
            <a:r>
              <a:rPr sz="2200" spc="-50" dirty="0">
                <a:solidFill>
                  <a:srgbClr val="265277"/>
                </a:solidFill>
                <a:latin typeface="Arial"/>
                <a:cs typeface="Arial"/>
              </a:rPr>
              <a:t>Browser</a:t>
            </a:r>
            <a:r>
              <a:rPr sz="2200" spc="-5" dirty="0">
                <a:solidFill>
                  <a:srgbClr val="265277"/>
                </a:solidFill>
                <a:latin typeface="Arial"/>
                <a:cs typeface="Arial"/>
              </a:rPr>
              <a:t> </a:t>
            </a:r>
            <a:r>
              <a:rPr sz="2200" spc="-60" dirty="0">
                <a:solidFill>
                  <a:srgbClr val="265277"/>
                </a:solidFill>
                <a:latin typeface="Arial"/>
                <a:cs typeface="Arial"/>
              </a:rPr>
              <a:t>Validation</a:t>
            </a:r>
            <a:endParaRPr sz="22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240835" y="3693477"/>
            <a:ext cx="2974340" cy="61468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00355" marR="5080" indent="-288290">
              <a:lnSpc>
                <a:spcPct val="106700"/>
              </a:lnSpc>
              <a:spcBef>
                <a:spcPts val="55"/>
              </a:spcBef>
              <a:tabLst>
                <a:tab pos="309880" algn="l"/>
              </a:tabLst>
            </a:pPr>
            <a:r>
              <a:rPr sz="1850" b="1" spc="-50" dirty="0">
                <a:solidFill>
                  <a:srgbClr val="427EBF"/>
                </a:solidFill>
                <a:latin typeface="Arial"/>
                <a:cs typeface="Arial"/>
              </a:rPr>
              <a:t>0</a:t>
            </a:r>
            <a:r>
              <a:rPr sz="1850" b="1" dirty="0">
                <a:solidFill>
                  <a:srgbClr val="427EBF"/>
                </a:solidFill>
                <a:latin typeface="Arial"/>
                <a:cs typeface="Arial"/>
              </a:rPr>
              <a:t>		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Validation</a:t>
            </a:r>
            <a:r>
              <a:rPr sz="1800" spc="240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on</a:t>
            </a:r>
            <a:r>
              <a:rPr sz="1800" spc="8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Firefox</a:t>
            </a:r>
            <a:r>
              <a:rPr sz="1800" spc="32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-25" dirty="0">
                <a:solidFill>
                  <a:srgbClr val="0A1321"/>
                </a:solidFill>
                <a:latin typeface="Arial"/>
                <a:cs typeface="Arial"/>
              </a:rPr>
              <a:t>and </a:t>
            </a:r>
            <a:r>
              <a:rPr sz="1800" spc="60" dirty="0">
                <a:solidFill>
                  <a:srgbClr val="0A1321"/>
                </a:solidFill>
                <a:latin typeface="Arial"/>
                <a:cs typeface="Arial"/>
              </a:rPr>
              <a:t>Microsoft</a:t>
            </a:r>
            <a:r>
              <a:rPr sz="1800" spc="13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A1321"/>
                </a:solidFill>
                <a:latin typeface="Arial"/>
                <a:cs typeface="Arial"/>
              </a:rPr>
              <a:t>Edge.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5350" y="1806719"/>
            <a:ext cx="926476" cy="936847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8625" y="1806719"/>
            <a:ext cx="966758" cy="936847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483379" y="1605966"/>
            <a:ext cx="0" cy="2556510"/>
          </a:xfrm>
          <a:custGeom>
            <a:avLst/>
            <a:gdLst/>
            <a:ahLst/>
            <a:cxnLst/>
            <a:rect l="l" t="t" r="r" b="b"/>
            <a:pathLst>
              <a:path h="2556510">
                <a:moveTo>
                  <a:pt x="0" y="255625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404119" y="1592583"/>
            <a:ext cx="0" cy="2583180"/>
          </a:xfrm>
          <a:custGeom>
            <a:avLst/>
            <a:gdLst/>
            <a:ahLst/>
            <a:cxnLst/>
            <a:rect l="l" t="t" r="r" b="b"/>
            <a:pathLst>
              <a:path h="2583179">
                <a:moveTo>
                  <a:pt x="0" y="2583021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753227" y="1605966"/>
            <a:ext cx="0" cy="2556510"/>
          </a:xfrm>
          <a:custGeom>
            <a:avLst/>
            <a:gdLst/>
            <a:ahLst/>
            <a:cxnLst/>
            <a:rect l="l" t="t" r="r" b="b"/>
            <a:pathLst>
              <a:path h="2556510">
                <a:moveTo>
                  <a:pt x="0" y="255625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673969" y="1592583"/>
            <a:ext cx="0" cy="2583180"/>
          </a:xfrm>
          <a:custGeom>
            <a:avLst/>
            <a:gdLst/>
            <a:ahLst/>
            <a:cxnLst/>
            <a:rect l="l" t="t" r="r" b="b"/>
            <a:pathLst>
              <a:path h="2583179">
                <a:moveTo>
                  <a:pt x="0" y="2583021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820363" y="1518973"/>
            <a:ext cx="3786504" cy="0"/>
          </a:xfrm>
          <a:custGeom>
            <a:avLst/>
            <a:gdLst/>
            <a:ahLst/>
            <a:cxnLst/>
            <a:rect l="l" t="t" r="r" b="b"/>
            <a:pathLst>
              <a:path w="3786504">
                <a:moveTo>
                  <a:pt x="0" y="0"/>
                </a:moveTo>
                <a:lnTo>
                  <a:pt x="378646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63942" y="1518973"/>
            <a:ext cx="3773170" cy="0"/>
          </a:xfrm>
          <a:custGeom>
            <a:avLst/>
            <a:gdLst/>
            <a:ahLst/>
            <a:cxnLst/>
            <a:rect l="l" t="t" r="r" b="b"/>
            <a:pathLst>
              <a:path w="3773170">
                <a:moveTo>
                  <a:pt x="0" y="0"/>
                </a:moveTo>
                <a:lnTo>
                  <a:pt x="377304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847218" y="4242522"/>
            <a:ext cx="3746500" cy="0"/>
          </a:xfrm>
          <a:custGeom>
            <a:avLst/>
            <a:gdLst/>
            <a:ahLst/>
            <a:cxnLst/>
            <a:rect l="l" t="t" r="r" b="b"/>
            <a:pathLst>
              <a:path w="3746500">
                <a:moveTo>
                  <a:pt x="0" y="0"/>
                </a:moveTo>
                <a:lnTo>
                  <a:pt x="3746186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63942" y="4242522"/>
            <a:ext cx="3759835" cy="0"/>
          </a:xfrm>
          <a:custGeom>
            <a:avLst/>
            <a:gdLst/>
            <a:ahLst/>
            <a:cxnLst/>
            <a:rect l="l" t="t" r="r" b="b"/>
            <a:pathLst>
              <a:path w="3759835">
                <a:moveTo>
                  <a:pt x="0" y="0"/>
                </a:moveTo>
                <a:lnTo>
                  <a:pt x="375961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71757" rIns="0" bIns="0" rtlCol="0">
            <a:spAutoFit/>
          </a:bodyPr>
          <a:lstStyle/>
          <a:p>
            <a:pPr marL="1056005">
              <a:lnSpc>
                <a:spcPct val="100000"/>
              </a:lnSpc>
              <a:spcBef>
                <a:spcPts val="105"/>
              </a:spcBef>
            </a:pPr>
            <a:r>
              <a:rPr sz="3250" dirty="0">
                <a:solidFill>
                  <a:srgbClr val="08244D"/>
                </a:solidFill>
                <a:latin typeface="Arial"/>
                <a:cs typeface="Arial"/>
              </a:rPr>
              <a:t>Security</a:t>
            </a:r>
            <a:r>
              <a:rPr sz="3250" spc="305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3250" dirty="0">
                <a:solidFill>
                  <a:srgbClr val="08244D"/>
                </a:solidFill>
                <a:latin typeface="Arial"/>
                <a:cs typeface="Arial"/>
              </a:rPr>
              <a:t>Testing</a:t>
            </a:r>
            <a:r>
              <a:rPr sz="3250" spc="215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3250" spc="70" dirty="0">
                <a:solidFill>
                  <a:srgbClr val="08244D"/>
                </a:solidFill>
                <a:latin typeface="Arial"/>
                <a:cs typeface="Arial"/>
              </a:rPr>
              <a:t>Implementation</a:t>
            </a:r>
            <a:endParaRPr sz="325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68339" y="1934826"/>
            <a:ext cx="3061335" cy="16262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101725">
              <a:lnSpc>
                <a:spcPct val="100000"/>
              </a:lnSpc>
              <a:spcBef>
                <a:spcPts val="105"/>
              </a:spcBef>
            </a:pPr>
            <a:r>
              <a:rPr sz="2050" b="1" dirty="0">
                <a:solidFill>
                  <a:srgbClr val="08244D"/>
                </a:solidFill>
                <a:latin typeface="Arial"/>
                <a:cs typeface="Arial"/>
              </a:rPr>
              <a:t>Secure</a:t>
            </a:r>
            <a:r>
              <a:rPr sz="2050" b="1" spc="70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2050" b="1" dirty="0">
                <a:solidFill>
                  <a:srgbClr val="08244D"/>
                </a:solidFill>
                <a:latin typeface="Arial"/>
                <a:cs typeface="Arial"/>
              </a:rPr>
              <a:t>Login</a:t>
            </a:r>
            <a:r>
              <a:rPr sz="2050" b="1" spc="80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2100" spc="30" dirty="0">
                <a:solidFill>
                  <a:srgbClr val="08244D"/>
                </a:solidFill>
                <a:latin typeface="Arial"/>
                <a:cs typeface="Arial"/>
              </a:rPr>
              <a:t>&amp;</a:t>
            </a:r>
            <a:endParaRPr sz="2100">
              <a:latin typeface="Arial"/>
              <a:cs typeface="Arial"/>
            </a:endParaRPr>
          </a:p>
          <a:p>
            <a:pPr marL="1098550">
              <a:lnSpc>
                <a:spcPct val="100000"/>
              </a:lnSpc>
              <a:spcBef>
                <a:spcPts val="60"/>
              </a:spcBef>
            </a:pPr>
            <a:r>
              <a:rPr sz="2050" b="1" spc="-10" dirty="0">
                <a:solidFill>
                  <a:srgbClr val="08244D"/>
                </a:solidFill>
                <a:latin typeface="Arial"/>
                <a:cs typeface="Arial"/>
              </a:rPr>
              <a:t>Encryption</a:t>
            </a:r>
            <a:endParaRPr sz="20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2050">
              <a:latin typeface="Arial"/>
              <a:cs typeface="Arial"/>
            </a:endParaRPr>
          </a:p>
          <a:p>
            <a:pPr marL="14604" marR="34925" indent="-2540">
              <a:lnSpc>
                <a:spcPct val="108600"/>
              </a:lnSpc>
            </a:pP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Secure login</a:t>
            </a:r>
            <a:r>
              <a:rPr sz="1900" spc="-2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spc="-10" dirty="0">
                <a:solidFill>
                  <a:srgbClr val="01070F"/>
                </a:solidFill>
                <a:latin typeface="Arial"/>
                <a:cs typeface="Arial"/>
              </a:rPr>
              <a:t>authentication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and</a:t>
            </a:r>
            <a:r>
              <a:rPr sz="1900" spc="1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password</a:t>
            </a:r>
            <a:r>
              <a:rPr sz="1900" spc="90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spc="-10" dirty="0">
                <a:solidFill>
                  <a:srgbClr val="01070F"/>
                </a:solidFill>
                <a:latin typeface="Arial"/>
                <a:cs typeface="Arial"/>
              </a:rPr>
              <a:t>encryption.</a:t>
            </a:r>
            <a:endParaRPr sz="19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036892" y="1941192"/>
            <a:ext cx="3220720" cy="193421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159510" marR="71755" indent="-5715">
              <a:lnSpc>
                <a:spcPct val="102800"/>
              </a:lnSpc>
              <a:spcBef>
                <a:spcPts val="35"/>
              </a:spcBef>
            </a:pPr>
            <a:r>
              <a:rPr sz="2050" b="1" dirty="0">
                <a:solidFill>
                  <a:srgbClr val="08244D"/>
                </a:solidFill>
                <a:latin typeface="Arial"/>
                <a:cs typeface="Arial"/>
              </a:rPr>
              <a:t>Role-</a:t>
            </a:r>
            <a:r>
              <a:rPr sz="2050" b="1" spc="-10" dirty="0">
                <a:solidFill>
                  <a:srgbClr val="08244D"/>
                </a:solidFill>
                <a:latin typeface="Arial"/>
                <a:cs typeface="Arial"/>
              </a:rPr>
              <a:t>Based </a:t>
            </a:r>
            <a:r>
              <a:rPr sz="2050" b="1" dirty="0">
                <a:solidFill>
                  <a:srgbClr val="08244D"/>
                </a:solidFill>
                <a:latin typeface="Arial"/>
                <a:cs typeface="Arial"/>
              </a:rPr>
              <a:t>Access</a:t>
            </a:r>
            <a:r>
              <a:rPr sz="2050" b="1" spc="160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2050" b="1" spc="-10" dirty="0">
                <a:solidFill>
                  <a:srgbClr val="08244D"/>
                </a:solidFill>
                <a:latin typeface="Arial"/>
                <a:cs typeface="Arial"/>
              </a:rPr>
              <a:t>Control</a:t>
            </a:r>
            <a:endParaRPr sz="20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2050">
              <a:latin typeface="Arial"/>
              <a:cs typeface="Arial"/>
            </a:endParaRPr>
          </a:p>
          <a:p>
            <a:pPr marL="15240" marR="5080" indent="-3175">
              <a:lnSpc>
                <a:spcPct val="108600"/>
              </a:lnSpc>
              <a:spcBef>
                <a:spcPts val="5"/>
              </a:spcBef>
            </a:pPr>
            <a:r>
              <a:rPr sz="1900" spc="-10" dirty="0">
                <a:solidFill>
                  <a:srgbClr val="01070F"/>
                </a:solidFill>
                <a:latin typeface="Arial"/>
                <a:cs typeface="Arial"/>
              </a:rPr>
              <a:t>Role-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based</a:t>
            </a:r>
            <a:r>
              <a:rPr sz="1900" spc="240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access</a:t>
            </a:r>
            <a:r>
              <a:rPr sz="1900" spc="9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control</a:t>
            </a:r>
            <a:r>
              <a:rPr sz="1900" spc="7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spc="-25" dirty="0">
                <a:solidFill>
                  <a:srgbClr val="01070F"/>
                </a:solidFill>
                <a:latin typeface="Arial"/>
                <a:cs typeface="Arial"/>
              </a:rPr>
              <a:t>to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prevent</a:t>
            </a:r>
            <a:r>
              <a:rPr sz="1900" spc="13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unauthorized</a:t>
            </a:r>
            <a:r>
              <a:rPr sz="1900" spc="23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spc="-10" dirty="0">
                <a:solidFill>
                  <a:srgbClr val="01070F"/>
                </a:solidFill>
                <a:latin typeface="Arial"/>
                <a:cs typeface="Arial"/>
              </a:rPr>
              <a:t>admin access</a:t>
            </a:r>
            <a:r>
              <a:rPr sz="1900" spc="-10" dirty="0">
                <a:solidFill>
                  <a:srgbClr val="18212F"/>
                </a:solidFill>
                <a:latin typeface="Arial"/>
                <a:cs typeface="Arial"/>
              </a:rPr>
              <a:t>.</a:t>
            </a:r>
            <a:endParaRPr sz="1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854" y="3814249"/>
            <a:ext cx="308825" cy="41488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15109" y="2810484"/>
            <a:ext cx="496806" cy="50857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954635" y="2569580"/>
            <a:ext cx="469951" cy="40150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868336" y="1980706"/>
            <a:ext cx="496806" cy="48180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754533" y="709270"/>
            <a:ext cx="389467" cy="709327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22956" y="1164309"/>
            <a:ext cx="0" cy="2998470"/>
          </a:xfrm>
          <a:custGeom>
            <a:avLst/>
            <a:gdLst/>
            <a:ahLst/>
            <a:cxnLst/>
            <a:rect l="l" t="t" r="r" b="b"/>
            <a:pathLst>
              <a:path h="2998470">
                <a:moveTo>
                  <a:pt x="0" y="2997911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021444" y="2770333"/>
            <a:ext cx="0" cy="1391920"/>
          </a:xfrm>
          <a:custGeom>
            <a:avLst/>
            <a:gdLst/>
            <a:ahLst/>
            <a:cxnLst/>
            <a:rect l="l" t="t" r="r" b="b"/>
            <a:pathLst>
              <a:path h="1391920">
                <a:moveTo>
                  <a:pt x="0" y="1391887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021444" y="1164309"/>
            <a:ext cx="0" cy="1151255"/>
          </a:xfrm>
          <a:custGeom>
            <a:avLst/>
            <a:gdLst/>
            <a:ahLst/>
            <a:cxnLst/>
            <a:rect l="l" t="t" r="r" b="b"/>
            <a:pathLst>
              <a:path h="1151255">
                <a:moveTo>
                  <a:pt x="0" y="1150983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135902" y="2971087"/>
            <a:ext cx="0" cy="1204595"/>
          </a:xfrm>
          <a:custGeom>
            <a:avLst/>
            <a:gdLst/>
            <a:ahLst/>
            <a:cxnLst/>
            <a:rect l="l" t="t" r="r" b="b"/>
            <a:pathLst>
              <a:path h="1204595">
                <a:moveTo>
                  <a:pt x="0" y="1204517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35902" y="1164309"/>
            <a:ext cx="0" cy="923925"/>
          </a:xfrm>
          <a:custGeom>
            <a:avLst/>
            <a:gdLst/>
            <a:ahLst/>
            <a:cxnLst/>
            <a:rect l="l" t="t" r="r" b="b"/>
            <a:pathLst>
              <a:path h="923925">
                <a:moveTo>
                  <a:pt x="0" y="923463"/>
                </a:moveTo>
                <a:lnTo>
                  <a:pt x="0" y="0"/>
                </a:lnTo>
              </a:path>
            </a:pathLst>
          </a:custGeom>
          <a:ln w="3175">
            <a:solidFill>
              <a:srgbClr val="BFC4C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397732" y="1913788"/>
            <a:ext cx="0" cy="655955"/>
          </a:xfrm>
          <a:custGeom>
            <a:avLst/>
            <a:gdLst/>
            <a:ahLst/>
            <a:cxnLst/>
            <a:rect l="l" t="t" r="r" b="b"/>
            <a:pathLst>
              <a:path h="655955">
                <a:moveTo>
                  <a:pt x="0" y="655792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727678" y="1164309"/>
            <a:ext cx="0" cy="2998470"/>
          </a:xfrm>
          <a:custGeom>
            <a:avLst/>
            <a:gdLst/>
            <a:ahLst/>
            <a:cxnLst/>
            <a:rect l="l" t="t" r="r" b="b"/>
            <a:pathLst>
              <a:path h="2998470">
                <a:moveTo>
                  <a:pt x="0" y="2997911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209751" y="1097392"/>
            <a:ext cx="3464560" cy="0"/>
          </a:xfrm>
          <a:custGeom>
            <a:avLst/>
            <a:gdLst/>
            <a:ahLst/>
            <a:cxnLst/>
            <a:rect l="l" t="t" r="r" b="b"/>
            <a:pathLst>
              <a:path w="3464559">
                <a:moveTo>
                  <a:pt x="0" y="0"/>
                </a:moveTo>
                <a:lnTo>
                  <a:pt x="34642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96806" y="1097392"/>
            <a:ext cx="3464560" cy="0"/>
          </a:xfrm>
          <a:custGeom>
            <a:avLst/>
            <a:gdLst/>
            <a:ahLst/>
            <a:cxnLst/>
            <a:rect l="l" t="t" r="r" b="b"/>
            <a:pathLst>
              <a:path w="3464560">
                <a:moveTo>
                  <a:pt x="0" y="0"/>
                </a:moveTo>
                <a:lnTo>
                  <a:pt x="34642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411159" y="1893712"/>
            <a:ext cx="2739390" cy="0"/>
          </a:xfrm>
          <a:custGeom>
            <a:avLst/>
            <a:gdLst/>
            <a:ahLst/>
            <a:cxnLst/>
            <a:rect l="l" t="t" r="r" b="b"/>
            <a:pathLst>
              <a:path w="2739390">
                <a:moveTo>
                  <a:pt x="0" y="0"/>
                </a:moveTo>
                <a:lnTo>
                  <a:pt x="273914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296703" y="2777025"/>
            <a:ext cx="658495" cy="0"/>
          </a:xfrm>
          <a:custGeom>
            <a:avLst/>
            <a:gdLst/>
            <a:ahLst/>
            <a:cxnLst/>
            <a:rect l="l" t="t" r="r" b="b"/>
            <a:pathLst>
              <a:path w="658495">
                <a:moveTo>
                  <a:pt x="0" y="0"/>
                </a:moveTo>
                <a:lnTo>
                  <a:pt x="65793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5411159" y="3513119"/>
            <a:ext cx="3061970" cy="0"/>
          </a:xfrm>
          <a:custGeom>
            <a:avLst/>
            <a:gdLst/>
            <a:ahLst/>
            <a:cxnLst/>
            <a:rect l="l" t="t" r="r" b="b"/>
            <a:pathLst>
              <a:path w="3061970">
                <a:moveTo>
                  <a:pt x="0" y="0"/>
                </a:moveTo>
                <a:lnTo>
                  <a:pt x="306140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196324" y="4222446"/>
            <a:ext cx="3477895" cy="0"/>
          </a:xfrm>
          <a:custGeom>
            <a:avLst/>
            <a:gdLst/>
            <a:ahLst/>
            <a:cxnLst/>
            <a:rect l="l" t="t" r="r" b="b"/>
            <a:pathLst>
              <a:path w="3477895">
                <a:moveTo>
                  <a:pt x="0" y="0"/>
                </a:moveTo>
                <a:lnTo>
                  <a:pt x="3477644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96806" y="4222446"/>
            <a:ext cx="3464560" cy="0"/>
          </a:xfrm>
          <a:custGeom>
            <a:avLst/>
            <a:gdLst/>
            <a:ahLst/>
            <a:cxnLst/>
            <a:rect l="l" t="t" r="r" b="b"/>
            <a:pathLst>
              <a:path w="3464560">
                <a:moveTo>
                  <a:pt x="0" y="0"/>
                </a:moveTo>
                <a:lnTo>
                  <a:pt x="34642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6003" rIns="0" bIns="0" rtlCol="0">
            <a:spAutoFit/>
          </a:bodyPr>
          <a:lstStyle/>
          <a:p>
            <a:pPr marL="819785">
              <a:lnSpc>
                <a:spcPct val="100000"/>
              </a:lnSpc>
              <a:spcBef>
                <a:spcPts val="105"/>
              </a:spcBef>
            </a:pPr>
            <a:r>
              <a:rPr sz="2400" dirty="0">
                <a:solidFill>
                  <a:srgbClr val="0F2B3D"/>
                </a:solidFill>
                <a:latin typeface="Arial"/>
                <a:cs typeface="Arial"/>
              </a:rPr>
              <a:t>Database</a:t>
            </a:r>
            <a:r>
              <a:rPr sz="2400" spc="65" dirty="0">
                <a:solidFill>
                  <a:srgbClr val="0F2B3D"/>
                </a:solidFill>
                <a:latin typeface="Arial"/>
                <a:cs typeface="Arial"/>
              </a:rPr>
              <a:t> </a:t>
            </a:r>
            <a:r>
              <a:rPr sz="2400" spc="45" dirty="0">
                <a:solidFill>
                  <a:srgbClr val="0F2B3D"/>
                </a:solidFill>
                <a:latin typeface="Arial"/>
                <a:cs typeface="Arial"/>
              </a:rPr>
              <a:t>Implementation</a:t>
            </a:r>
            <a:r>
              <a:rPr sz="2400" spc="-40" dirty="0">
                <a:solidFill>
                  <a:srgbClr val="0F2B3D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0F2B3D"/>
                </a:solidFill>
                <a:latin typeface="Arial"/>
                <a:cs typeface="Arial"/>
              </a:rPr>
              <a:t>(MongoDB </a:t>
            </a:r>
            <a:r>
              <a:rPr sz="2400" spc="-10" dirty="0">
                <a:solidFill>
                  <a:srgbClr val="0F2B3D"/>
                </a:solidFill>
                <a:latin typeface="Arial"/>
                <a:cs typeface="Arial"/>
              </a:rPr>
              <a:t>Snapshot)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86132" y="1255704"/>
            <a:ext cx="2458720" cy="50419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889635" marR="5080" indent="-877569">
              <a:lnSpc>
                <a:spcPts val="1839"/>
              </a:lnSpc>
              <a:spcBef>
                <a:spcPts val="229"/>
              </a:spcBef>
            </a:pPr>
            <a:r>
              <a:rPr sz="1600" b="1" spc="-100" dirty="0">
                <a:solidFill>
                  <a:srgbClr val="050707"/>
                </a:solidFill>
                <a:latin typeface="Arial"/>
                <a:cs typeface="Arial"/>
              </a:rPr>
              <a:t>Bus</a:t>
            </a:r>
            <a:r>
              <a:rPr sz="1600" b="1" spc="-85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45" dirty="0">
                <a:solidFill>
                  <a:srgbClr val="050707"/>
                </a:solidFill>
                <a:latin typeface="Arial"/>
                <a:cs typeface="Arial"/>
              </a:rPr>
              <a:t>Information</a:t>
            </a:r>
            <a:r>
              <a:rPr sz="1600" b="1" spc="-10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50" dirty="0">
                <a:solidFill>
                  <a:srgbClr val="050707"/>
                </a:solidFill>
                <a:latin typeface="Arial"/>
                <a:cs typeface="Arial"/>
              </a:rPr>
              <a:t>Collection </a:t>
            </a:r>
            <a:r>
              <a:rPr sz="1600" b="1" spc="-10" dirty="0">
                <a:solidFill>
                  <a:srgbClr val="050707"/>
                </a:solidFill>
                <a:latin typeface="Arial"/>
                <a:cs typeface="Arial"/>
              </a:rPr>
              <a:t>(Buses)</a:t>
            </a:r>
            <a:endParaRPr sz="16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84787" y="1893712"/>
            <a:ext cx="3075305" cy="1619885"/>
          </a:xfrm>
          <a:prstGeom prst="rect">
            <a:avLst/>
          </a:prstGeom>
          <a:ln w="13427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3175">
              <a:lnSpc>
                <a:spcPts val="790"/>
              </a:lnSpc>
            </a:pPr>
            <a:r>
              <a:rPr sz="800" b="1" i="1" spc="-50" dirty="0">
                <a:solidFill>
                  <a:srgbClr val="466472"/>
                </a:solidFill>
                <a:latin typeface="Arial"/>
                <a:cs typeface="Arial"/>
              </a:rPr>
              <a:t>r</a:t>
            </a:r>
            <a:endParaRPr sz="800">
              <a:latin typeface="Arial"/>
              <a:cs typeface="Arial"/>
            </a:endParaRPr>
          </a:p>
          <a:p>
            <a:pPr marL="163830">
              <a:lnSpc>
                <a:spcPct val="100000"/>
              </a:lnSpc>
              <a:spcBef>
                <a:spcPts val="630"/>
              </a:spcBef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{</a:t>
            </a:r>
            <a:endParaRPr sz="1000">
              <a:latin typeface="Arial"/>
              <a:cs typeface="Arial"/>
            </a:endParaRPr>
          </a:p>
          <a:p>
            <a:pPr marL="292735" marR="113664">
              <a:lnSpc>
                <a:spcPct val="107800"/>
              </a:lnSpc>
              <a:spcBef>
                <a:spcPts val="70"/>
              </a:spcBef>
            </a:pPr>
            <a:r>
              <a:rPr sz="1100" spc="90" dirty="0">
                <a:solidFill>
                  <a:srgbClr val="282A2D"/>
                </a:solidFill>
                <a:latin typeface="Times New Roman"/>
                <a:cs typeface="Times New Roman"/>
              </a:rPr>
              <a:t>"_id"</a:t>
            </a:r>
            <a:r>
              <a:rPr sz="1100" spc="90" dirty="0">
                <a:solidFill>
                  <a:srgbClr val="050707"/>
                </a:solidFill>
                <a:latin typeface="Times New Roman"/>
                <a:cs typeface="Times New Roman"/>
              </a:rPr>
              <a:t>:</a:t>
            </a:r>
            <a:r>
              <a:rPr sz="1100" spc="300" dirty="0">
                <a:solidFill>
                  <a:srgbClr val="050707"/>
                </a:solidFill>
                <a:latin typeface="Times New Roman"/>
                <a:cs typeface="Times New Roman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"bus_001",</a:t>
            </a:r>
            <a:r>
              <a:rPr sz="1100" spc="500" dirty="0">
                <a:solidFill>
                  <a:srgbClr val="282A2D"/>
                </a:solidFill>
                <a:latin typeface="Times New Roman"/>
                <a:cs typeface="Times New Roman"/>
              </a:rPr>
              <a:t>  </a:t>
            </a:r>
            <a:r>
              <a:rPr sz="1100" spc="70" dirty="0">
                <a:solidFill>
                  <a:srgbClr val="282A2D"/>
                </a:solidFill>
                <a:latin typeface="Times New Roman"/>
                <a:cs typeface="Times New Roman"/>
              </a:rPr>
              <a:t>"registration_number":</a:t>
            </a:r>
            <a:r>
              <a:rPr sz="1100" spc="42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dirty="0">
                <a:solidFill>
                  <a:srgbClr val="282A2D"/>
                </a:solidFill>
                <a:latin typeface="Times New Roman"/>
                <a:cs typeface="Times New Roman"/>
              </a:rPr>
              <a:t>"KA-10-FL-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5404", </a:t>
            </a:r>
            <a:r>
              <a:rPr sz="1100" spc="85" dirty="0">
                <a:solidFill>
                  <a:srgbClr val="282A2D"/>
                </a:solidFill>
                <a:latin typeface="Times New Roman"/>
                <a:cs typeface="Times New Roman"/>
              </a:rPr>
              <a:t>"operator":</a:t>
            </a:r>
            <a:r>
              <a:rPr sz="1100" spc="33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"KSRTC"</a:t>
            </a:r>
            <a:r>
              <a:rPr sz="1100" spc="-10" dirty="0">
                <a:solidFill>
                  <a:srgbClr val="050707"/>
                </a:solidFill>
                <a:latin typeface="Times New Roman"/>
                <a:cs typeface="Times New Roman"/>
              </a:rPr>
              <a:t>,</a:t>
            </a:r>
            <a:endParaRPr sz="1100">
              <a:latin typeface="Times New Roman"/>
              <a:cs typeface="Times New Roman"/>
            </a:endParaRPr>
          </a:p>
          <a:p>
            <a:pPr marL="292735" marR="1353185">
              <a:lnSpc>
                <a:spcPts val="1420"/>
              </a:lnSpc>
              <a:spcBef>
                <a:spcPts val="15"/>
              </a:spcBef>
            </a:pPr>
            <a:r>
              <a:rPr sz="1100" spc="85" dirty="0">
                <a:solidFill>
                  <a:srgbClr val="282A2D"/>
                </a:solidFill>
                <a:latin typeface="Times New Roman"/>
                <a:cs typeface="Times New Roman"/>
              </a:rPr>
              <a:t>"type":</a:t>
            </a:r>
            <a:r>
              <a:rPr sz="1100" spc="19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65" dirty="0">
                <a:solidFill>
                  <a:srgbClr val="282A2D"/>
                </a:solidFill>
                <a:latin typeface="Times New Roman"/>
                <a:cs typeface="Times New Roman"/>
              </a:rPr>
              <a:t>"AC</a:t>
            </a:r>
            <a:r>
              <a:rPr sz="1100" spc="19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65" dirty="0">
                <a:solidFill>
                  <a:srgbClr val="282A2D"/>
                </a:solidFill>
                <a:latin typeface="Times New Roman"/>
                <a:cs typeface="Times New Roman"/>
              </a:rPr>
              <a:t>Sleeper", </a:t>
            </a:r>
            <a:r>
              <a:rPr sz="1100" spc="85" dirty="0">
                <a:solidFill>
                  <a:srgbClr val="282A2D"/>
                </a:solidFill>
                <a:latin typeface="Times New Roman"/>
                <a:cs typeface="Times New Roman"/>
              </a:rPr>
              <a:t>"capacity":</a:t>
            </a:r>
            <a:r>
              <a:rPr sz="1100" spc="36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25" dirty="0">
                <a:solidFill>
                  <a:srgbClr val="282A2D"/>
                </a:solidFill>
                <a:latin typeface="Times New Roman"/>
                <a:cs typeface="Times New Roman"/>
              </a:rPr>
              <a:t>30</a:t>
            </a:r>
            <a:endParaRPr sz="1100">
              <a:latin typeface="Times New Roman"/>
              <a:cs typeface="Times New Roman"/>
            </a:endParaRPr>
          </a:p>
          <a:p>
            <a:pPr marL="164465">
              <a:lnSpc>
                <a:spcPts val="1185"/>
              </a:lnSpc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}</a:t>
            </a:r>
            <a:endParaRPr sz="10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9448" y="3642062"/>
            <a:ext cx="2840990" cy="3962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625475" marR="5080" indent="-613410">
              <a:lnSpc>
                <a:spcPct val="102499"/>
              </a:lnSpc>
              <a:spcBef>
                <a:spcPts val="65"/>
              </a:spcBef>
            </a:pP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Stores</a:t>
            </a:r>
            <a:r>
              <a:rPr sz="1200" spc="7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bus</a:t>
            </a:r>
            <a:r>
              <a:rPr sz="1200" spc="9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details,</a:t>
            </a:r>
            <a:r>
              <a:rPr sz="1200" spc="8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including</a:t>
            </a:r>
            <a:r>
              <a:rPr sz="1200" spc="3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16181A"/>
                </a:solidFill>
                <a:latin typeface="Arial"/>
                <a:cs typeface="Arial"/>
              </a:rPr>
              <a:t>registration,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operator,</a:t>
            </a:r>
            <a:r>
              <a:rPr sz="1200" spc="6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and</a:t>
            </a:r>
            <a:r>
              <a:rPr sz="1200" spc="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82A2D"/>
                </a:solidFill>
                <a:latin typeface="Arial"/>
                <a:cs typeface="Arial"/>
              </a:rPr>
              <a:t>capacity.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584948" y="1255704"/>
            <a:ext cx="2689860" cy="50419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855980" marR="5080" indent="-843915">
              <a:lnSpc>
                <a:spcPts val="1839"/>
              </a:lnSpc>
              <a:spcBef>
                <a:spcPts val="229"/>
              </a:spcBef>
            </a:pPr>
            <a:r>
              <a:rPr sz="1600" b="1" spc="-45" dirty="0">
                <a:solidFill>
                  <a:srgbClr val="050707"/>
                </a:solidFill>
                <a:latin typeface="Arial"/>
                <a:cs typeface="Arial"/>
              </a:rPr>
              <a:t>Real-</a:t>
            </a:r>
            <a:r>
              <a:rPr sz="1600" b="1" spc="-30" dirty="0">
                <a:solidFill>
                  <a:srgbClr val="050707"/>
                </a:solidFill>
                <a:latin typeface="Arial"/>
                <a:cs typeface="Arial"/>
              </a:rPr>
              <a:t>time</a:t>
            </a:r>
            <a:r>
              <a:rPr sz="1600" b="1" spc="-20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85" dirty="0">
                <a:solidFill>
                  <a:srgbClr val="050707"/>
                </a:solidFill>
                <a:latin typeface="Arial"/>
                <a:cs typeface="Arial"/>
              </a:rPr>
              <a:t>Booking</a:t>
            </a:r>
            <a:r>
              <a:rPr sz="1600" b="1" spc="10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40" dirty="0">
                <a:solidFill>
                  <a:srgbClr val="050707"/>
                </a:solidFill>
                <a:latin typeface="Arial"/>
                <a:cs typeface="Arial"/>
              </a:rPr>
              <a:t>Collection </a:t>
            </a:r>
            <a:r>
              <a:rPr sz="1600" b="1" spc="-10" dirty="0">
                <a:solidFill>
                  <a:srgbClr val="050707"/>
                </a:solidFill>
                <a:latin typeface="Arial"/>
                <a:cs typeface="Arial"/>
              </a:rPr>
              <a:t>(Bookings)</a:t>
            </a:r>
            <a:endParaRPr sz="16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549296" y="1974511"/>
            <a:ext cx="64769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{</a:t>
            </a:r>
            <a:endParaRPr sz="10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131760" y="2376668"/>
            <a:ext cx="810895" cy="3568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240"/>
              </a:lnSpc>
              <a:spcBef>
                <a:spcPts val="100"/>
              </a:spcBef>
            </a:pPr>
            <a:r>
              <a:rPr sz="1100" spc="-50" dirty="0">
                <a:solidFill>
                  <a:srgbClr val="466472"/>
                </a:solidFill>
                <a:latin typeface="Arial"/>
                <a:cs typeface="Arial"/>
              </a:rPr>
              <a:t>�</a:t>
            </a:r>
            <a:endParaRPr sz="1100">
              <a:latin typeface="Arial"/>
              <a:cs typeface="Arial"/>
            </a:endParaRPr>
          </a:p>
          <a:p>
            <a:pPr marL="106045">
              <a:lnSpc>
                <a:spcPts val="1360"/>
              </a:lnSpc>
            </a:pP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Data</a:t>
            </a:r>
            <a:r>
              <a:rPr sz="1200" spc="-5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16181A"/>
                </a:solidFill>
                <a:latin typeface="Arial"/>
                <a:cs typeface="Arial"/>
              </a:rPr>
              <a:t>Flow</a:t>
            </a:r>
            <a:endParaRPr sz="12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49935" y="3212488"/>
            <a:ext cx="6921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}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674658" y="2136545"/>
            <a:ext cx="2699385" cy="10896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1067435" indent="9525">
              <a:lnSpc>
                <a:spcPct val="105200"/>
              </a:lnSpc>
              <a:spcBef>
                <a:spcPts val="130"/>
              </a:spcBef>
              <a:tabLst>
                <a:tab pos="904875" algn="l"/>
              </a:tabLst>
            </a:pPr>
            <a:r>
              <a:rPr sz="1100" spc="90" dirty="0">
                <a:solidFill>
                  <a:srgbClr val="282A2D"/>
                </a:solidFill>
                <a:latin typeface="Times New Roman"/>
                <a:cs typeface="Times New Roman"/>
              </a:rPr>
              <a:t>"_id":</a:t>
            </a:r>
            <a:r>
              <a:rPr sz="1100" spc="31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"booking_98765", </a:t>
            </a:r>
            <a:r>
              <a:rPr sz="1100" spc="90" dirty="0">
                <a:solidFill>
                  <a:srgbClr val="282A2D"/>
                </a:solidFill>
                <a:latin typeface="Times New Roman"/>
                <a:cs typeface="Times New Roman"/>
              </a:rPr>
              <a:t>"user_id":</a:t>
            </a:r>
            <a:r>
              <a:rPr sz="1100" spc="29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45" dirty="0">
                <a:solidFill>
                  <a:srgbClr val="282A2D"/>
                </a:solidFill>
                <a:latin typeface="Times New Roman"/>
                <a:cs typeface="Times New Roman"/>
              </a:rPr>
              <a:t>"user_123", </a:t>
            </a:r>
            <a:r>
              <a:rPr sz="1100" u="heavy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"bus</a:t>
            </a:r>
            <a:r>
              <a:rPr sz="1100" u="heavy" spc="365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00" u="heavy" spc="114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id":</a:t>
            </a:r>
            <a:r>
              <a:rPr sz="1100" u="heavy" spc="295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00" u="heavy" spc="50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"bus</a:t>
            </a:r>
            <a:r>
              <a:rPr sz="1100" u="heavy" spc="295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00" u="heavy" spc="-10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001",</a:t>
            </a:r>
            <a:r>
              <a:rPr sz="1100" u="none" spc="-1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50" b="1" u="none" dirty="0">
                <a:solidFill>
                  <a:srgbClr val="0A6421"/>
                </a:solidFill>
                <a:latin typeface="Times New Roman"/>
                <a:cs typeface="Times New Roman"/>
              </a:rPr>
              <a:t>"status":</a:t>
            </a:r>
            <a:r>
              <a:rPr sz="1150" b="1" u="none" spc="195" dirty="0">
                <a:solidFill>
                  <a:srgbClr val="0A6421"/>
                </a:solidFill>
                <a:latin typeface="Times New Roman"/>
                <a:cs typeface="Times New Roman"/>
              </a:rPr>
              <a:t>  </a:t>
            </a:r>
            <a:r>
              <a:rPr sz="1150" u="none" spc="-50" dirty="0">
                <a:solidFill>
                  <a:srgbClr val="050707"/>
                </a:solidFill>
                <a:latin typeface="Times New Roman"/>
                <a:cs typeface="Times New Roman"/>
              </a:rPr>
              <a:t>•</a:t>
            </a:r>
            <a:r>
              <a:rPr sz="1150" u="none" dirty="0">
                <a:solidFill>
                  <a:srgbClr val="050707"/>
                </a:solidFill>
                <a:latin typeface="Times New Roman"/>
                <a:cs typeface="Times New Roman"/>
              </a:rPr>
              <a:t>	</a:t>
            </a:r>
            <a:r>
              <a:rPr sz="1150" b="1" u="none" spc="-235" dirty="0">
                <a:solidFill>
                  <a:srgbClr val="0A6421"/>
                </a:solidFill>
                <a:latin typeface="Times New Roman"/>
                <a:cs typeface="Times New Roman"/>
              </a:rPr>
              <a:t>CONFIRMED",</a:t>
            </a:r>
            <a:endParaRPr sz="1150">
              <a:latin typeface="Times New Roman"/>
              <a:cs typeface="Times New Roman"/>
            </a:endParaRPr>
          </a:p>
          <a:p>
            <a:pPr marL="15875" marR="5080" indent="6350">
              <a:lnSpc>
                <a:spcPts val="1370"/>
              </a:lnSpc>
              <a:spcBef>
                <a:spcPts val="45"/>
              </a:spcBef>
            </a:pPr>
            <a:r>
              <a:rPr sz="1100" spc="20" dirty="0">
                <a:solidFill>
                  <a:srgbClr val="282A2D"/>
                </a:solidFill>
                <a:latin typeface="Times New Roman"/>
                <a:cs typeface="Times New Roman"/>
              </a:rPr>
              <a:t>"booking_time":</a:t>
            </a:r>
            <a:r>
              <a:rPr sz="1100" spc="290" dirty="0">
                <a:solidFill>
                  <a:srgbClr val="282A2D"/>
                </a:solidFill>
                <a:latin typeface="Times New Roman"/>
                <a:cs typeface="Times New Roman"/>
              </a:rPr>
              <a:t>  </a:t>
            </a:r>
            <a:r>
              <a:rPr sz="1100" spc="20" dirty="0">
                <a:solidFill>
                  <a:srgbClr val="16181A"/>
                </a:solidFill>
                <a:latin typeface="Times New Roman"/>
                <a:cs typeface="Times New Roman"/>
              </a:rPr>
              <a:t>"2024-05-</a:t>
            </a:r>
            <a:r>
              <a:rPr sz="1100" spc="-10" dirty="0">
                <a:solidFill>
                  <a:srgbClr val="16181A"/>
                </a:solidFill>
                <a:latin typeface="Times New Roman"/>
                <a:cs typeface="Times New Roman"/>
              </a:rPr>
              <a:t>10Tl4:30:00Z", </a:t>
            </a:r>
            <a:r>
              <a:rPr sz="1100" dirty="0">
                <a:solidFill>
                  <a:srgbClr val="282A2D"/>
                </a:solidFill>
                <a:latin typeface="Times New Roman"/>
                <a:cs typeface="Times New Roman"/>
              </a:rPr>
              <a:t>"seat_numbe</a:t>
            </a:r>
            <a:r>
              <a:rPr sz="1100" spc="-6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dirty="0">
                <a:solidFill>
                  <a:srgbClr val="16181A"/>
                </a:solidFill>
                <a:latin typeface="Times New Roman"/>
                <a:cs typeface="Times New Roman"/>
              </a:rPr>
              <a:t>r":</a:t>
            </a:r>
            <a:r>
              <a:rPr sz="1100" spc="204" dirty="0">
                <a:solidFill>
                  <a:srgbClr val="16181A"/>
                </a:solidFill>
                <a:latin typeface="Times New Roman"/>
                <a:cs typeface="Times New Roman"/>
              </a:rPr>
              <a:t>  </a:t>
            </a:r>
            <a:r>
              <a:rPr sz="1100" spc="-20" dirty="0">
                <a:solidFill>
                  <a:srgbClr val="282A2D"/>
                </a:solidFill>
                <a:latin typeface="Times New Roman"/>
                <a:cs typeface="Times New Roman"/>
              </a:rPr>
              <a:t>"A4"</a:t>
            </a:r>
            <a:endParaRPr sz="1100">
              <a:latin typeface="Times New Roman"/>
              <a:cs typeface="Times New Roman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554190" y="3642062"/>
            <a:ext cx="2753360" cy="3962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292735" marR="5080" indent="-280670">
              <a:lnSpc>
                <a:spcPct val="102499"/>
              </a:lnSpc>
              <a:spcBef>
                <a:spcPts val="65"/>
              </a:spcBef>
            </a:pP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Records</a:t>
            </a:r>
            <a:r>
              <a:rPr sz="1200" spc="13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real-time</a:t>
            </a:r>
            <a:r>
              <a:rPr sz="1200" spc="9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booking</a:t>
            </a:r>
            <a:r>
              <a:rPr sz="1200" spc="17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16181A"/>
                </a:solidFill>
                <a:latin typeface="Arial"/>
                <a:cs typeface="Arial"/>
              </a:rPr>
              <a:t>transactions </a:t>
            </a:r>
            <a:r>
              <a:rPr sz="1200" spc="60" dirty="0">
                <a:solidFill>
                  <a:srgbClr val="282A2D"/>
                </a:solidFill>
                <a:latin typeface="Arial"/>
                <a:cs typeface="Arial"/>
              </a:rPr>
              <a:t>with</a:t>
            </a:r>
            <a:r>
              <a:rPr sz="1200" spc="-2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immediate</a:t>
            </a:r>
            <a:r>
              <a:rPr sz="1200" spc="114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status</a:t>
            </a:r>
            <a:r>
              <a:rPr sz="1200" spc="8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82A2D"/>
                </a:solidFill>
                <a:latin typeface="Arial"/>
                <a:cs typeface="Arial"/>
              </a:rPr>
              <a:t>updates.</a:t>
            </a:r>
            <a:endParaRPr sz="12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272607" y="4464499"/>
            <a:ext cx="2613025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302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Utilizing</a:t>
            </a:r>
            <a:r>
              <a:rPr sz="1100" spc="5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MongoDB's</a:t>
            </a:r>
            <a:r>
              <a:rPr sz="1100" spc="9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flexible</a:t>
            </a:r>
            <a:r>
              <a:rPr sz="1100" spc="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schema</a:t>
            </a:r>
            <a:r>
              <a:rPr sz="1100" spc="7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282A2D"/>
                </a:solidFill>
                <a:latin typeface="Arial"/>
                <a:cs typeface="Arial"/>
              </a:rPr>
              <a:t>for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scalable</a:t>
            </a:r>
            <a:r>
              <a:rPr sz="1100" spc="11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and</a:t>
            </a:r>
            <a:r>
              <a:rPr sz="1100" spc="2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6181A"/>
                </a:solidFill>
                <a:latin typeface="Arial"/>
                <a:cs typeface="Arial"/>
              </a:rPr>
              <a:t>efficient</a:t>
            </a:r>
            <a:r>
              <a:rPr sz="1100" spc="100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data</a:t>
            </a:r>
            <a:r>
              <a:rPr sz="1100" spc="114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Arial"/>
                <a:cs typeface="Arial"/>
              </a:rPr>
              <a:t>management.</a:t>
            </a:r>
            <a:endParaRPr sz="1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11264" y="1900405"/>
            <a:ext cx="1235302" cy="1204517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74451" y="1137542"/>
            <a:ext cx="926476" cy="317189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324210" y="1900405"/>
            <a:ext cx="1235302" cy="124466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402815" y="1150926"/>
            <a:ext cx="0" cy="3145155"/>
          </a:xfrm>
          <a:custGeom>
            <a:avLst/>
            <a:gdLst/>
            <a:ahLst/>
            <a:cxnLst/>
            <a:rect l="l" t="t" r="r" b="b"/>
            <a:pathLst>
              <a:path h="3145154">
                <a:moveTo>
                  <a:pt x="0" y="314512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5129188" y="1137542"/>
            <a:ext cx="0" cy="3172460"/>
          </a:xfrm>
          <a:custGeom>
            <a:avLst/>
            <a:gdLst/>
            <a:ahLst/>
            <a:cxnLst/>
            <a:rect l="l" t="t" r="r" b="b"/>
            <a:pathLst>
              <a:path h="3172460">
                <a:moveTo>
                  <a:pt x="0" y="317189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754532" y="1137542"/>
            <a:ext cx="0" cy="3185795"/>
          </a:xfrm>
          <a:custGeom>
            <a:avLst/>
            <a:gdLst/>
            <a:ahLst/>
            <a:cxnLst/>
            <a:rect l="l" t="t" r="r" b="b"/>
            <a:pathLst>
              <a:path h="3185795">
                <a:moveTo>
                  <a:pt x="0" y="318528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196324" y="1084008"/>
            <a:ext cx="3504565" cy="0"/>
          </a:xfrm>
          <a:custGeom>
            <a:avLst/>
            <a:gdLst/>
            <a:ahLst/>
            <a:cxnLst/>
            <a:rect l="l" t="t" r="r" b="b"/>
            <a:pathLst>
              <a:path w="3504565">
                <a:moveTo>
                  <a:pt x="0" y="0"/>
                </a:moveTo>
                <a:lnTo>
                  <a:pt x="350449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9951" y="1084008"/>
            <a:ext cx="3504565" cy="0"/>
          </a:xfrm>
          <a:custGeom>
            <a:avLst/>
            <a:gdLst/>
            <a:ahLst/>
            <a:cxnLst/>
            <a:rect l="l" t="t" r="r" b="b"/>
            <a:pathLst>
              <a:path w="3504565">
                <a:moveTo>
                  <a:pt x="0" y="0"/>
                </a:moveTo>
                <a:lnTo>
                  <a:pt x="350449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83379" y="4362973"/>
            <a:ext cx="3477895" cy="0"/>
          </a:xfrm>
          <a:custGeom>
            <a:avLst/>
            <a:gdLst/>
            <a:ahLst/>
            <a:cxnLst/>
            <a:rect l="l" t="t" r="r" b="b"/>
            <a:pathLst>
              <a:path w="3477895">
                <a:moveTo>
                  <a:pt x="0" y="0"/>
                </a:moveTo>
                <a:lnTo>
                  <a:pt x="3477643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96324" y="4362973"/>
            <a:ext cx="3504565" cy="0"/>
          </a:xfrm>
          <a:custGeom>
            <a:avLst/>
            <a:gdLst/>
            <a:ahLst/>
            <a:cxnLst/>
            <a:rect l="l" t="t" r="r" b="b"/>
            <a:pathLst>
              <a:path w="3504565">
                <a:moveTo>
                  <a:pt x="0" y="0"/>
                </a:moveTo>
                <a:lnTo>
                  <a:pt x="350449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43097" y="4623953"/>
            <a:ext cx="8271509" cy="0"/>
          </a:xfrm>
          <a:custGeom>
            <a:avLst/>
            <a:gdLst/>
            <a:ahLst/>
            <a:cxnLst/>
            <a:rect l="l" t="t" r="r" b="b"/>
            <a:pathLst>
              <a:path w="8271509">
                <a:moveTo>
                  <a:pt x="0" y="0"/>
                </a:moveTo>
                <a:lnTo>
                  <a:pt x="8271153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0209" rIns="0" bIns="0" rtlCol="0">
            <a:spAutoFit/>
          </a:bodyPr>
          <a:lstStyle/>
          <a:p>
            <a:pPr marL="222250">
              <a:lnSpc>
                <a:spcPct val="100000"/>
              </a:lnSpc>
              <a:spcBef>
                <a:spcPts val="110"/>
              </a:spcBef>
            </a:pPr>
            <a:r>
              <a:rPr spc="-80" dirty="0"/>
              <a:t>Inference</a:t>
            </a:r>
            <a:r>
              <a:rPr spc="-75" dirty="0"/>
              <a:t> </a:t>
            </a:r>
            <a:r>
              <a:rPr sz="3400" spc="-315" dirty="0"/>
              <a:t>&amp;</a:t>
            </a:r>
            <a:r>
              <a:rPr sz="3400" spc="-280" dirty="0"/>
              <a:t> </a:t>
            </a:r>
            <a:r>
              <a:rPr spc="-85" dirty="0"/>
              <a:t>Conclusion</a:t>
            </a:r>
            <a:endParaRPr sz="3400"/>
          </a:p>
        </p:txBody>
      </p:sp>
      <p:sp>
        <p:nvSpPr>
          <p:cNvPr id="14" name="object 14"/>
          <p:cNvSpPr txBox="1"/>
          <p:nvPr/>
        </p:nvSpPr>
        <p:spPr>
          <a:xfrm>
            <a:off x="1238452" y="1304498"/>
            <a:ext cx="1938020" cy="316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00" b="1" dirty="0">
                <a:solidFill>
                  <a:srgbClr val="0C0C08"/>
                </a:solidFill>
                <a:latin typeface="Arial"/>
                <a:cs typeface="Arial"/>
              </a:rPr>
              <a:t>User</a:t>
            </a:r>
            <a:r>
              <a:rPr sz="1900" b="1" spc="-40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900" b="1" spc="-10" dirty="0">
                <a:solidFill>
                  <a:srgbClr val="0C0C08"/>
                </a:solidFill>
                <a:latin typeface="Arial"/>
                <a:cs typeface="Arial"/>
              </a:rPr>
              <a:t>Experience</a:t>
            </a:r>
            <a:endParaRPr sz="19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01804" y="3356593"/>
            <a:ext cx="2872740" cy="74422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 algn="ctr">
              <a:lnSpc>
                <a:spcPct val="102000"/>
              </a:lnSpc>
              <a:spcBef>
                <a:spcPts val="65"/>
              </a:spcBef>
            </a:pP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TravelEase</a:t>
            </a:r>
            <a:r>
              <a:rPr sz="1550" spc="12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delivers</a:t>
            </a:r>
            <a:r>
              <a:rPr sz="1550" spc="4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a</a:t>
            </a:r>
            <a:r>
              <a:rPr sz="1550" spc="-1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satisfying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user</a:t>
            </a:r>
            <a:r>
              <a:rPr sz="1550" spc="12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experience</a:t>
            </a:r>
            <a:r>
              <a:rPr sz="1550" spc="19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70" dirty="0">
                <a:solidFill>
                  <a:srgbClr val="0C0C08"/>
                </a:solidFill>
                <a:latin typeface="Arial"/>
                <a:cs typeface="Arial"/>
              </a:rPr>
              <a:t>with</a:t>
            </a:r>
            <a:r>
              <a:rPr sz="1550" spc="30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clear</a:t>
            </a:r>
            <a:r>
              <a:rPr sz="1550" spc="10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20" dirty="0">
                <a:solidFill>
                  <a:srgbClr val="0C0C08"/>
                </a:solidFill>
                <a:latin typeface="Arial"/>
                <a:cs typeface="Arial"/>
              </a:rPr>
              <a:t>info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and</a:t>
            </a:r>
            <a:r>
              <a:rPr sz="1550" spc="21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real-time</a:t>
            </a:r>
            <a:r>
              <a:rPr sz="1550" spc="204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updates.</a:t>
            </a:r>
            <a:endParaRPr sz="155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419975" y="1304498"/>
            <a:ext cx="3065145" cy="316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00" b="1" dirty="0">
                <a:solidFill>
                  <a:srgbClr val="0C0C08"/>
                </a:solidFill>
                <a:latin typeface="Arial"/>
                <a:cs typeface="Arial"/>
              </a:rPr>
              <a:t>Technical</a:t>
            </a:r>
            <a:r>
              <a:rPr sz="1900" b="1" spc="-10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900" b="1" spc="-10" dirty="0">
                <a:solidFill>
                  <a:srgbClr val="0C0C08"/>
                </a:solidFill>
                <a:latin typeface="Arial"/>
                <a:cs typeface="Arial"/>
              </a:rPr>
              <a:t>Implementation</a:t>
            </a:r>
            <a:endParaRPr sz="19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75174" y="3356593"/>
            <a:ext cx="2707005" cy="74422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 algn="ctr">
              <a:lnSpc>
                <a:spcPct val="102000"/>
              </a:lnSpc>
              <a:spcBef>
                <a:spcPts val="65"/>
              </a:spcBef>
            </a:pP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The</a:t>
            </a:r>
            <a:r>
              <a:rPr sz="1550" spc="3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Agile-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MERN</a:t>
            </a:r>
            <a:r>
              <a:rPr sz="1550" spc="13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combination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successfully</a:t>
            </a:r>
            <a:r>
              <a:rPr sz="1550" spc="459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produced</a:t>
            </a:r>
            <a:r>
              <a:rPr sz="1550" spc="26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50" dirty="0">
                <a:solidFill>
                  <a:srgbClr val="0C0C08"/>
                </a:solidFill>
                <a:latin typeface="Arial"/>
                <a:cs typeface="Arial"/>
              </a:rPr>
              <a:t>a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functional,</a:t>
            </a:r>
            <a:r>
              <a:rPr sz="1550" spc="29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scalable</a:t>
            </a:r>
            <a:r>
              <a:rPr sz="1550" spc="22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system.</a:t>
            </a:r>
            <a:endParaRPr sz="15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7574"/>
            <a:ext cx="9143999" cy="50759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185</TotalTime>
  <Words>1072</Words>
  <Application>Microsoft Office PowerPoint</Application>
  <PresentationFormat>On-screen Show (16:9)</PresentationFormat>
  <Paragraphs>262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 New Roman</vt:lpstr>
      <vt:lpstr>Office Theme</vt:lpstr>
      <vt:lpstr>TravelEase - Online Bus Booking System</vt:lpstr>
      <vt:lpstr>PowerPoint Presentation</vt:lpstr>
      <vt:lpstr>Project Objectives</vt:lpstr>
      <vt:lpstr>Technology Stack: MERN Four Core Technologies: MongoDB, Express.js, React.js, and Node.js.</vt:lpstr>
      <vt:lpstr>PowerPoint Presentation</vt:lpstr>
      <vt:lpstr>System Component: Backend Server</vt:lpstr>
      <vt:lpstr>Backend: Express.js &amp; Node.js</vt:lpstr>
      <vt:lpstr>Database Implementation (MongoDB Snapshot)</vt:lpstr>
      <vt:lpstr>Software Products (Development)</vt:lpstr>
      <vt:lpstr>Software Products (Testing)</vt:lpstr>
      <vt:lpstr>Hardware Requirements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Activity Diagram for TravelEase Bus Booking Application</vt:lpstr>
      <vt:lpstr>Compatibility &amp; Cross-Browser Testing</vt:lpstr>
      <vt:lpstr>Security Testing Implementation</vt:lpstr>
      <vt:lpstr>Database Implementation (MongoDB Snapshot)</vt:lpstr>
      <vt:lpstr>Inference &amp; 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vishwas</dc:title>
  <dc:creator>Subrahmanya</dc:creator>
  <cp:lastModifiedBy>B S Niranjan Patgar</cp:lastModifiedBy>
  <cp:revision>9</cp:revision>
  <dcterms:created xsi:type="dcterms:W3CDTF">2026-04-01T00:44:16Z</dcterms:created>
  <dcterms:modified xsi:type="dcterms:W3CDTF">2026-04-06T10:00:11Z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2026-04-01T00:00:00Z</vt:filetime>
  </property>
  <property fmtid="{D5CDD505-2E9C-101B-9397-08002B2CF9AE}" pid="3" name="Creator">
    <vt:lpwstr>Google</vt:lpwstr>
  </property>
  <property fmtid="{D5CDD505-2E9C-101B-9397-08002B2CF9AE}" pid="4" name="LastSaved">
    <vt:filetime>2026-04-01T00:00:00Z</vt:filetime>
  </property>
</Properties>
</file>
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71" r:id="rId9"/>
    <p:sldId id="275" r:id="rId10"/>
    <p:sldId id="276" r:id="rId11"/>
    <p:sldId id="277" r:id="rId12"/>
    <p:sldId id="278" r:id="rId13"/>
    <p:sldId id="279" r:id="rId14"/>
    <p:sldId id="286" r:id="rId15"/>
    <p:sldId id="291" r:id="rId16"/>
    <p:sldId id="292" r:id="rId17"/>
    <p:sldId id="294" r:id="rId18"/>
    <p:sldId id="295" r:id="rId19"/>
    <p:sldId id="314" r:id="rId20"/>
    <p:sldId id="326" r:id="rId21"/>
    <p:sldId id="330" r:id="rId22"/>
    <p:sldId id="315" r:id="rId23"/>
    <p:sldId id="327" r:id="rId24"/>
    <p:sldId id="329" r:id="rId25"/>
    <p:sldId id="316" r:id="rId26"/>
    <p:sldId id="323" r:id="rId27"/>
    <p:sldId id="317" r:id="rId28"/>
    <p:sldId id="325" r:id="rId29"/>
    <p:sldId id="332" r:id="rId30"/>
    <p:sldId id="318" r:id="rId31"/>
    <p:sldId id="322" r:id="rId32"/>
    <p:sldId id="331" r:id="rId33"/>
    <p:sldId id="319" r:id="rId34"/>
    <p:sldId id="324" r:id="rId35"/>
    <p:sldId id="333" r:id="rId36"/>
    <p:sldId id="328" r:id="rId37"/>
    <p:sldId id="306" r:id="rId38"/>
    <p:sldId id="307" r:id="rId39"/>
    <p:sldId id="309" r:id="rId40"/>
    <p:sldId id="312" r:id="rId41"/>
    <p:sldId id="313" r:id="rId4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116" y="2342061"/>
            <a:ext cx="3907315" cy="123128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4635" y="2234993"/>
            <a:ext cx="1221875" cy="137850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55116" y="1291452"/>
            <a:ext cx="8634095" cy="0"/>
          </a:xfrm>
          <a:custGeom>
            <a:avLst/>
            <a:gdLst/>
            <a:ahLst/>
            <a:cxnLst/>
            <a:rect l="l" t="t" r="r" b="b"/>
            <a:pathLst>
              <a:path w="8634095">
                <a:moveTo>
                  <a:pt x="0" y="0"/>
                </a:moveTo>
                <a:lnTo>
                  <a:pt x="863368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258" y="237486"/>
            <a:ext cx="7527290" cy="873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4693" y="205003"/>
            <a:ext cx="8724900" cy="896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rgbClr val="0C0C0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2443" y="1756397"/>
            <a:ext cx="3747770" cy="2710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rgbClr val="07050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g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1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6276" y="2181458"/>
            <a:ext cx="3477723" cy="289084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71359" y="1833486"/>
            <a:ext cx="7828280" cy="0"/>
          </a:xfrm>
          <a:custGeom>
            <a:avLst/>
            <a:gdLst/>
            <a:ahLst/>
            <a:cxnLst/>
            <a:rect l="l" t="t" r="r" b="b"/>
            <a:pathLst>
              <a:path w="7828280">
                <a:moveTo>
                  <a:pt x="0" y="0"/>
                </a:moveTo>
                <a:lnTo>
                  <a:pt x="7828055" y="0"/>
                </a:lnTo>
              </a:path>
            </a:pathLst>
          </a:custGeom>
          <a:ln w="26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31265" y="345391"/>
            <a:ext cx="6278880" cy="135191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1590" marR="5080" indent="-9525">
              <a:lnSpc>
                <a:spcPts val="4850"/>
              </a:lnSpc>
              <a:spcBef>
                <a:spcPts val="880"/>
              </a:spcBef>
            </a:pPr>
            <a:r>
              <a:rPr sz="4650" spc="-10" dirty="0">
                <a:solidFill>
                  <a:srgbClr val="070503"/>
                </a:solidFill>
              </a:rPr>
              <a:t>TravelEase</a:t>
            </a:r>
            <a:r>
              <a:rPr sz="4650" spc="110" dirty="0">
                <a:solidFill>
                  <a:srgbClr val="070503"/>
                </a:solidFill>
              </a:rPr>
              <a:t> </a:t>
            </a:r>
            <a:r>
              <a:rPr sz="4650" b="0" dirty="0">
                <a:solidFill>
                  <a:srgbClr val="070503"/>
                </a:solidFill>
                <a:latin typeface="Times New Roman"/>
                <a:cs typeface="Times New Roman"/>
              </a:rPr>
              <a:t>-</a:t>
            </a:r>
            <a:r>
              <a:rPr sz="4650" b="0" spc="375" dirty="0">
                <a:solidFill>
                  <a:srgbClr val="070503"/>
                </a:solidFill>
                <a:latin typeface="Times New Roman"/>
                <a:cs typeface="Times New Roman"/>
              </a:rPr>
              <a:t> </a:t>
            </a:r>
            <a:r>
              <a:rPr sz="4650" dirty="0">
                <a:solidFill>
                  <a:srgbClr val="070503"/>
                </a:solidFill>
              </a:rPr>
              <a:t>Online</a:t>
            </a:r>
            <a:r>
              <a:rPr sz="4650" spc="45" dirty="0">
                <a:solidFill>
                  <a:srgbClr val="070503"/>
                </a:solidFill>
              </a:rPr>
              <a:t> </a:t>
            </a:r>
            <a:r>
              <a:rPr sz="4650" spc="-25" dirty="0">
                <a:solidFill>
                  <a:srgbClr val="070503"/>
                </a:solidFill>
              </a:rPr>
              <a:t>Bus </a:t>
            </a:r>
            <a:r>
              <a:rPr sz="4650" dirty="0">
                <a:solidFill>
                  <a:srgbClr val="070503"/>
                </a:solidFill>
              </a:rPr>
              <a:t>Booking</a:t>
            </a:r>
            <a:r>
              <a:rPr sz="4650" spc="235" dirty="0">
                <a:solidFill>
                  <a:srgbClr val="070503"/>
                </a:solidFill>
              </a:rPr>
              <a:t> </a:t>
            </a:r>
            <a:r>
              <a:rPr sz="4650" spc="-10" dirty="0">
                <a:solidFill>
                  <a:srgbClr val="070503"/>
                </a:solidFill>
              </a:rPr>
              <a:t>System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274" y="1994725"/>
            <a:ext cx="4719320" cy="2569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050" dirty="0">
                <a:solidFill>
                  <a:srgbClr val="070503"/>
                </a:solidFill>
                <a:latin typeface="Arial"/>
                <a:cs typeface="Arial"/>
              </a:rPr>
              <a:t>Shree</a:t>
            </a:r>
            <a:r>
              <a:rPr sz="2050" spc="-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Vidyadhiraj</a:t>
            </a:r>
            <a:r>
              <a:rPr sz="2050" spc="14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Polytechnic,</a:t>
            </a:r>
            <a:r>
              <a:rPr sz="2050" spc="5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100" dirty="0">
                <a:solidFill>
                  <a:srgbClr val="070503"/>
                </a:solidFill>
                <a:latin typeface="Arial"/>
                <a:cs typeface="Arial"/>
              </a:rPr>
              <a:t>Kumta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sz="2050" dirty="0">
                <a:solidFill>
                  <a:srgbClr val="070503"/>
                </a:solidFill>
                <a:latin typeface="Arial"/>
                <a:cs typeface="Arial"/>
              </a:rPr>
              <a:t>Team</a:t>
            </a:r>
            <a:r>
              <a:rPr sz="2050" spc="6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070503"/>
                </a:solidFill>
                <a:latin typeface="Arial"/>
                <a:cs typeface="Arial"/>
              </a:rPr>
              <a:t>Members:</a:t>
            </a:r>
            <a:endParaRPr sz="2050">
              <a:latin typeface="Arial"/>
              <a:cs typeface="Arial"/>
            </a:endParaRPr>
          </a:p>
          <a:p>
            <a:pPr marL="251460" indent="-238760">
              <a:lnSpc>
                <a:spcPct val="100000"/>
              </a:lnSpc>
              <a:spcBef>
                <a:spcPts val="465"/>
              </a:spcBef>
              <a:buClr>
                <a:srgbClr val="A5746E"/>
              </a:buClr>
              <a:buSzPct val="93750"/>
              <a:buChar char="■"/>
              <a:tabLst>
                <a:tab pos="251460" algn="l"/>
              </a:tabLst>
            </a:pPr>
            <a:r>
              <a:rPr sz="1600" spc="-50" dirty="0">
                <a:solidFill>
                  <a:srgbClr val="070503"/>
                </a:solidFill>
                <a:latin typeface="Arial"/>
                <a:cs typeface="Arial"/>
              </a:rPr>
              <a:t>B.S.</a:t>
            </a:r>
            <a:r>
              <a:rPr sz="1600" spc="-8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070503"/>
                </a:solidFill>
                <a:latin typeface="Arial"/>
                <a:cs typeface="Arial"/>
              </a:rPr>
              <a:t>Niranjan</a:t>
            </a:r>
            <a:endParaRPr sz="16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560"/>
              </a:spcBef>
              <a:buClr>
                <a:srgbClr val="A5746E"/>
              </a:buClr>
              <a:buSzPct val="90625"/>
              <a:buChar char="■"/>
              <a:tabLst>
                <a:tab pos="250190" algn="l"/>
              </a:tabLst>
            </a:pPr>
            <a:r>
              <a:rPr sz="1600" spc="55" dirty="0">
                <a:solidFill>
                  <a:srgbClr val="070503"/>
                </a:solidFill>
                <a:latin typeface="Arial"/>
                <a:cs typeface="Arial"/>
              </a:rPr>
              <a:t>Subrahmanya</a:t>
            </a:r>
            <a:r>
              <a:rPr sz="1600" spc="10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I</a:t>
            </a:r>
            <a:r>
              <a:rPr sz="1600" spc="3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Patgar</a:t>
            </a:r>
            <a:endParaRPr sz="1600">
              <a:latin typeface="Arial"/>
              <a:cs typeface="Arial"/>
            </a:endParaRPr>
          </a:p>
          <a:p>
            <a:pPr marL="250190" indent="-237490">
              <a:lnSpc>
                <a:spcPct val="100000"/>
              </a:lnSpc>
              <a:spcBef>
                <a:spcPts val="505"/>
              </a:spcBef>
              <a:buClr>
                <a:srgbClr val="A5746E"/>
              </a:buClr>
              <a:buSzPct val="90625"/>
              <a:buChar char="■"/>
              <a:tabLst>
                <a:tab pos="250190" algn="l"/>
              </a:tabLst>
            </a:pPr>
            <a:r>
              <a:rPr sz="1600" spc="60" dirty="0">
                <a:solidFill>
                  <a:srgbClr val="070503"/>
                </a:solidFill>
                <a:latin typeface="Arial"/>
                <a:cs typeface="Arial"/>
              </a:rPr>
              <a:t>Rahul</a:t>
            </a:r>
            <a:r>
              <a:rPr sz="1600" spc="-2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114" dirty="0">
                <a:solidFill>
                  <a:srgbClr val="070503"/>
                </a:solidFill>
                <a:latin typeface="Arial"/>
                <a:cs typeface="Arial"/>
              </a:rPr>
              <a:t>N</a:t>
            </a:r>
            <a:r>
              <a:rPr sz="1600" spc="-13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45" dirty="0">
                <a:solidFill>
                  <a:srgbClr val="070503"/>
                </a:solidFill>
                <a:latin typeface="Arial"/>
                <a:cs typeface="Arial"/>
              </a:rPr>
              <a:t>Shanbhag</a:t>
            </a:r>
            <a:endParaRPr sz="1600">
              <a:latin typeface="Arial"/>
              <a:cs typeface="Arial"/>
            </a:endParaRPr>
          </a:p>
          <a:p>
            <a:pPr marL="252095" indent="-239395">
              <a:lnSpc>
                <a:spcPct val="100000"/>
              </a:lnSpc>
              <a:spcBef>
                <a:spcPts val="500"/>
              </a:spcBef>
              <a:buClr>
                <a:srgbClr val="A5746E"/>
              </a:buClr>
              <a:buSzPct val="93750"/>
              <a:buChar char="■"/>
              <a:tabLst>
                <a:tab pos="252095" algn="l"/>
              </a:tabLst>
            </a:pP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Vishwas</a:t>
            </a:r>
            <a:r>
              <a:rPr sz="1600" spc="315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Barker</a:t>
            </a:r>
            <a:endParaRPr sz="1600">
              <a:latin typeface="Arial"/>
              <a:cs typeface="Arial"/>
            </a:endParaRPr>
          </a:p>
          <a:p>
            <a:pPr marL="256540" indent="-243840">
              <a:lnSpc>
                <a:spcPct val="100000"/>
              </a:lnSpc>
              <a:spcBef>
                <a:spcPts val="560"/>
              </a:spcBef>
              <a:buClr>
                <a:srgbClr val="A5746E"/>
              </a:buClr>
              <a:buSzPct val="93750"/>
              <a:buChar char="■"/>
              <a:tabLst>
                <a:tab pos="256540" algn="l"/>
              </a:tabLst>
            </a:pPr>
            <a:r>
              <a:rPr sz="1600" dirty="0">
                <a:solidFill>
                  <a:srgbClr val="070503"/>
                </a:solidFill>
                <a:latin typeface="Arial"/>
                <a:cs typeface="Arial"/>
              </a:rPr>
              <a:t>Farhan</a:t>
            </a:r>
            <a:r>
              <a:rPr sz="1600" spc="240" dirty="0">
                <a:solidFill>
                  <a:srgbClr val="070503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70503"/>
                </a:solidFill>
                <a:latin typeface="Arial"/>
                <a:cs typeface="Arial"/>
              </a:rPr>
              <a:t>Faras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65900" y="2609731"/>
            <a:ext cx="2578100" cy="2463165"/>
            <a:chOff x="6565900" y="2609731"/>
            <a:chExt cx="2578100" cy="24631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0452" y="2609731"/>
              <a:ext cx="2403547" cy="18335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5900" y="4362974"/>
              <a:ext cx="2376614" cy="70932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122032" y="375272"/>
            <a:ext cx="4664075" cy="1698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7650">
              <a:lnSpc>
                <a:spcPct val="100000"/>
              </a:lnSpc>
              <a:spcBef>
                <a:spcPts val="110"/>
              </a:spcBef>
            </a:pPr>
            <a:r>
              <a:rPr sz="4100" b="1" dirty="0">
                <a:solidFill>
                  <a:srgbClr val="28231C"/>
                </a:solidFill>
                <a:latin typeface="Times New Roman"/>
                <a:cs typeface="Times New Roman"/>
              </a:rPr>
              <a:t>Problem</a:t>
            </a:r>
            <a:r>
              <a:rPr sz="4100" b="1" spc="25" dirty="0">
                <a:solidFill>
                  <a:srgbClr val="28231C"/>
                </a:solidFill>
                <a:latin typeface="Times New Roman"/>
                <a:cs typeface="Times New Roman"/>
              </a:rPr>
              <a:t> </a:t>
            </a:r>
            <a:r>
              <a:rPr sz="4100" b="1" spc="45" dirty="0">
                <a:solidFill>
                  <a:srgbClr val="28231C"/>
                </a:solidFill>
                <a:latin typeface="Times New Roman"/>
                <a:cs typeface="Times New Roman"/>
              </a:rPr>
              <a:t>Statement</a:t>
            </a:r>
            <a:endParaRPr sz="4100">
              <a:latin typeface="Times New Roman"/>
              <a:cs typeface="Times New Roman"/>
            </a:endParaRPr>
          </a:p>
          <a:p>
            <a:pPr marL="13335" marR="5080" indent="-1270">
              <a:lnSpc>
                <a:spcPts val="2740"/>
              </a:lnSpc>
              <a:spcBef>
                <a:spcPts val="2835"/>
              </a:spcBef>
            </a:pP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Traditional</a:t>
            </a:r>
            <a:r>
              <a:rPr sz="23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350" spc="1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350" spc="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involves </a:t>
            </a:r>
            <a:r>
              <a:rPr sz="2350" spc="95" dirty="0">
                <a:solidFill>
                  <a:srgbClr val="050301"/>
                </a:solidFill>
                <a:latin typeface="Arial"/>
                <a:cs typeface="Arial"/>
              </a:rPr>
              <a:t>long</a:t>
            </a:r>
            <a:r>
              <a:rPr sz="2350" spc="-12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70" dirty="0">
                <a:solidFill>
                  <a:srgbClr val="050301"/>
                </a:solidFill>
                <a:latin typeface="Arial"/>
                <a:cs typeface="Arial"/>
              </a:rPr>
              <a:t>manual</a:t>
            </a:r>
            <a:r>
              <a:rPr sz="2350" spc="-2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queues.</a:t>
            </a:r>
            <a:endParaRPr sz="2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114" y="1290465"/>
            <a:ext cx="23622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25" dirty="0">
                <a:solidFill>
                  <a:srgbClr val="A5796E"/>
                </a:solidFill>
                <a:latin typeface="Arial"/>
                <a:cs typeface="Arial"/>
              </a:rPr>
              <a:t>(9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163" y="1293136"/>
            <a:ext cx="1038860" cy="306578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955"/>
              </a:spcBef>
            </a:pPr>
            <a:r>
              <a:rPr sz="5250" spc="-425" dirty="0">
                <a:solidFill>
                  <a:srgbClr val="A5796E"/>
                </a:solidFill>
                <a:latin typeface="Times New Roman"/>
                <a:cs typeface="Times New Roman"/>
              </a:rPr>
              <a:t>iiiiii</a:t>
            </a:r>
            <a:endParaRPr sz="5250">
              <a:latin typeface="Times New Roman"/>
              <a:cs typeface="Times New Roman"/>
            </a:endParaRPr>
          </a:p>
          <a:p>
            <a:pPr marL="111125">
              <a:lnSpc>
                <a:spcPct val="100000"/>
              </a:lnSpc>
              <a:spcBef>
                <a:spcPts val="1025"/>
              </a:spcBef>
            </a:pPr>
            <a:r>
              <a:rPr sz="6300" b="1" spc="-155" dirty="0">
                <a:solidFill>
                  <a:srgbClr val="A5796E"/>
                </a:solidFill>
                <a:latin typeface="Arial"/>
                <a:cs typeface="Arial"/>
              </a:rPr>
              <a:t>fta</a:t>
            </a:r>
            <a:endParaRPr sz="6300">
              <a:latin typeface="Arial"/>
              <a:cs typeface="Arial"/>
            </a:endParaRPr>
          </a:p>
          <a:p>
            <a:pPr marL="22225">
              <a:lnSpc>
                <a:spcPts val="2405"/>
              </a:lnSpc>
              <a:spcBef>
                <a:spcPts val="2665"/>
              </a:spcBef>
            </a:pPr>
            <a:r>
              <a:rPr sz="2400" b="1" u="heavy" spc="-45" dirty="0">
                <a:solidFill>
                  <a:srgbClr val="A5796E"/>
                </a:solidFill>
                <a:uFill>
                  <a:solidFill>
                    <a:srgbClr val="A5796E"/>
                  </a:solidFill>
                </a:uFill>
                <a:latin typeface="Arial"/>
                <a:cs typeface="Arial"/>
              </a:rPr>
              <a:t>�1�i1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125"/>
              </a:lnSpc>
              <a:tabLst>
                <a:tab pos="669290" algn="l"/>
              </a:tabLst>
            </a:pPr>
            <a:r>
              <a:rPr sz="3000" u="heavy" dirty="0">
                <a:solidFill>
                  <a:srgbClr val="A5796E"/>
                </a:solidFill>
                <a:uFill>
                  <a:solidFill>
                    <a:srgbClr val="A5796E"/>
                  </a:solidFill>
                </a:uFill>
                <a:latin typeface="Arial"/>
                <a:cs typeface="Arial"/>
              </a:rPr>
              <a:t>� </a:t>
            </a:r>
            <a:r>
              <a:rPr sz="3000" u="none" dirty="0">
                <a:solidFill>
                  <a:srgbClr val="A5796E"/>
                </a:solidFill>
                <a:latin typeface="Arial"/>
                <a:cs typeface="Arial"/>
              </a:rPr>
              <a:t>	</a:t>
            </a:r>
            <a:r>
              <a:rPr sz="3000" u="none" spc="-50" dirty="0">
                <a:solidFill>
                  <a:srgbClr val="A5796E"/>
                </a:solidFill>
                <a:latin typeface="Arial"/>
                <a:cs typeface="Arial"/>
              </a:rPr>
              <a:t>9</a:t>
            </a:r>
            <a:endParaRPr sz="3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4844" y="2471793"/>
            <a:ext cx="4199890" cy="7391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indent="635">
              <a:lnSpc>
                <a:spcPts val="2790"/>
              </a:lnSpc>
              <a:spcBef>
                <a:spcPts val="225"/>
              </a:spcBef>
            </a:pP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Difficulty</a:t>
            </a:r>
            <a:r>
              <a:rPr sz="2350" spc="229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in</a:t>
            </a:r>
            <a:r>
              <a:rPr sz="2350" spc="17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obtaining</a:t>
            </a:r>
            <a:r>
              <a:rPr sz="2350" spc="25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60" dirty="0">
                <a:solidFill>
                  <a:srgbClr val="050301"/>
                </a:solidFill>
                <a:latin typeface="Arial"/>
                <a:cs typeface="Arial"/>
              </a:rPr>
              <a:t>real-</a:t>
            </a:r>
            <a:r>
              <a:rPr sz="2350" spc="50" dirty="0">
                <a:solidFill>
                  <a:srgbClr val="050301"/>
                </a:solidFill>
                <a:latin typeface="Arial"/>
                <a:cs typeface="Arial"/>
              </a:rPr>
              <a:t>time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availability</a:t>
            </a:r>
            <a:r>
              <a:rPr sz="2350" spc="36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information.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852" y="3636160"/>
            <a:ext cx="4760595" cy="7061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6350">
              <a:lnSpc>
                <a:spcPts val="2530"/>
              </a:lnSpc>
              <a:spcBef>
                <a:spcPts val="430"/>
              </a:spcBef>
            </a:pPr>
            <a:r>
              <a:rPr sz="2350" spc="20" dirty="0">
                <a:solidFill>
                  <a:srgbClr val="050301"/>
                </a:solidFill>
                <a:latin typeface="Arial"/>
                <a:cs typeface="Arial"/>
              </a:rPr>
              <a:t>Administrative</a:t>
            </a:r>
            <a:r>
              <a:rPr sz="2350" spc="-21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55" dirty="0">
                <a:solidFill>
                  <a:srgbClr val="050301"/>
                </a:solidFill>
                <a:latin typeface="Arial"/>
                <a:cs typeface="Arial"/>
              </a:rPr>
              <a:t>burden</a:t>
            </a:r>
            <a:r>
              <a:rPr sz="2350" spc="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75" dirty="0">
                <a:solidFill>
                  <a:srgbClr val="050301"/>
                </a:solidFill>
                <a:latin typeface="Arial"/>
                <a:cs typeface="Arial"/>
              </a:rPr>
              <a:t>of</a:t>
            </a:r>
            <a:r>
              <a:rPr sz="235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managing </a:t>
            </a:r>
            <a:r>
              <a:rPr sz="2350" dirty="0">
                <a:solidFill>
                  <a:srgbClr val="050301"/>
                </a:solidFill>
                <a:latin typeface="Arial"/>
                <a:cs typeface="Arial"/>
              </a:rPr>
              <a:t>bookings</a:t>
            </a:r>
            <a:r>
              <a:rPr sz="2350" spc="1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manually.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55003" y="4011689"/>
            <a:ext cx="213995" cy="560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250" spc="-1739" baseline="-6349" dirty="0">
                <a:solidFill>
                  <a:srgbClr val="A5796E"/>
                </a:solidFill>
                <a:latin typeface="Times New Roman"/>
                <a:cs typeface="Times New Roman"/>
              </a:rPr>
              <a:t>-</a:t>
            </a:r>
            <a:r>
              <a:rPr sz="3200" spc="-50" dirty="0">
                <a:solidFill>
                  <a:srgbClr val="916B5B"/>
                </a:solidFill>
                <a:latin typeface="Times New Roman"/>
                <a:cs typeface="Times New Roman"/>
              </a:rPr>
              <a:t>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05716" y="4760377"/>
            <a:ext cx="250825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525" dirty="0">
                <a:solidFill>
                  <a:srgbClr val="B18C7C"/>
                </a:solidFill>
                <a:latin typeface="Arial"/>
                <a:cs typeface="Arial"/>
              </a:rPr>
              <a:t>�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758" y="2475896"/>
            <a:ext cx="845913" cy="19272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9608" y="2569580"/>
            <a:ext cx="2524391" cy="250272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388" rIns="0" bIns="0" rtlCol="0">
            <a:spAutoFit/>
          </a:bodyPr>
          <a:lstStyle/>
          <a:p>
            <a:pPr marL="2366010">
              <a:lnSpc>
                <a:spcPct val="100000"/>
              </a:lnSpc>
              <a:spcBef>
                <a:spcPts val="110"/>
              </a:spcBef>
            </a:pPr>
            <a:r>
              <a:rPr sz="4300" spc="-180" dirty="0">
                <a:solidFill>
                  <a:srgbClr val="2A261F"/>
                </a:solidFill>
              </a:rPr>
              <a:t>Project</a:t>
            </a:r>
            <a:r>
              <a:rPr sz="4300" spc="-95" dirty="0">
                <a:solidFill>
                  <a:srgbClr val="2A261F"/>
                </a:solidFill>
              </a:rPr>
              <a:t> </a:t>
            </a:r>
            <a:r>
              <a:rPr sz="4300" spc="-145" dirty="0">
                <a:solidFill>
                  <a:srgbClr val="2A261F"/>
                </a:solidFill>
              </a:rPr>
              <a:t>Objectives</a:t>
            </a:r>
            <a:endParaRPr sz="4300"/>
          </a:p>
        </p:txBody>
      </p:sp>
      <p:sp>
        <p:nvSpPr>
          <p:cNvPr id="5" name="object 5"/>
          <p:cNvSpPr txBox="1"/>
          <p:nvPr/>
        </p:nvSpPr>
        <p:spPr>
          <a:xfrm>
            <a:off x="916108" y="1354919"/>
            <a:ext cx="5732145" cy="33578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760"/>
              </a:lnSpc>
              <a:spcBef>
                <a:spcPts val="105"/>
              </a:spcBef>
              <a:tabLst>
                <a:tab pos="843915" algn="l"/>
                <a:tab pos="1200785" algn="l"/>
              </a:tabLst>
            </a:pPr>
            <a:r>
              <a:rPr sz="2450" u="heavy" spc="-130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,�</a:t>
            </a:r>
            <a:r>
              <a:rPr sz="2450" u="heavy" spc="-140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 </a:t>
            </a:r>
            <a:r>
              <a:rPr sz="2450" u="heavy" spc="-25" dirty="0">
                <a:solidFill>
                  <a:srgbClr val="91746B"/>
                </a:solidFill>
                <a:uFill>
                  <a:solidFill>
                    <a:srgbClr val="91746B"/>
                  </a:solidFill>
                </a:uFill>
                <a:latin typeface="Arial"/>
                <a:cs typeface="Arial"/>
              </a:rPr>
              <a:t>�]</a:t>
            </a:r>
            <a:r>
              <a:rPr sz="2450" u="none" dirty="0">
                <a:solidFill>
                  <a:srgbClr val="91746B"/>
                </a:solidFill>
                <a:latin typeface="Arial"/>
                <a:cs typeface="Arial"/>
              </a:rPr>
              <a:t>	</a:t>
            </a:r>
            <a:r>
              <a:rPr sz="2450" u="none" spc="-65" dirty="0">
                <a:solidFill>
                  <a:srgbClr val="050301"/>
                </a:solidFill>
                <a:latin typeface="Arial"/>
                <a:cs typeface="Arial"/>
              </a:rPr>
              <a:t>Provide</a:t>
            </a:r>
            <a:r>
              <a:rPr sz="2450" u="none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35" dirty="0">
                <a:solidFill>
                  <a:srgbClr val="050301"/>
                </a:solidFill>
                <a:latin typeface="Arial"/>
                <a:cs typeface="Arial"/>
              </a:rPr>
              <a:t>an</a:t>
            </a:r>
            <a:r>
              <a:rPr sz="2450" u="none" spc="-2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35" dirty="0">
                <a:solidFill>
                  <a:srgbClr val="050301"/>
                </a:solidFill>
                <a:latin typeface="Arial"/>
                <a:cs typeface="Arial"/>
              </a:rPr>
              <a:t>easy-</a:t>
            </a:r>
            <a:r>
              <a:rPr sz="2450" u="none" spc="-30" dirty="0">
                <a:solidFill>
                  <a:srgbClr val="050301"/>
                </a:solidFill>
                <a:latin typeface="Arial"/>
                <a:cs typeface="Arial"/>
              </a:rPr>
              <a:t>to-</a:t>
            </a:r>
            <a:r>
              <a:rPr sz="2450" u="none" dirty="0">
                <a:solidFill>
                  <a:srgbClr val="050301"/>
                </a:solidFill>
                <a:latin typeface="Arial"/>
                <a:cs typeface="Arial"/>
              </a:rPr>
              <a:t>use</a:t>
            </a:r>
            <a:r>
              <a:rPr sz="2450" u="none" spc="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u="none" spc="-10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endParaRPr sz="2450">
              <a:latin typeface="Arial"/>
              <a:cs typeface="Arial"/>
            </a:endParaRPr>
          </a:p>
          <a:p>
            <a:pPr marL="464184">
              <a:lnSpc>
                <a:spcPts val="2760"/>
              </a:lnSpc>
              <a:tabLst>
                <a:tab pos="1198245" algn="l"/>
              </a:tabLst>
            </a:pPr>
            <a:r>
              <a:rPr sz="2450" spc="-50" dirty="0">
                <a:solidFill>
                  <a:srgbClr val="91746B"/>
                </a:solidFill>
                <a:latin typeface="Arial"/>
                <a:cs typeface="Arial"/>
              </a:rPr>
              <a:t>�</a:t>
            </a:r>
            <a:r>
              <a:rPr sz="2450" dirty="0">
                <a:solidFill>
                  <a:srgbClr val="91746B"/>
                </a:solidFill>
                <a:latin typeface="Arial"/>
                <a:cs typeface="Arial"/>
              </a:rPr>
              <a:t>	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45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platform.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450">
              <a:latin typeface="Arial"/>
              <a:cs typeface="Arial"/>
            </a:endParaRPr>
          </a:p>
          <a:p>
            <a:pPr marL="1201420" marR="55880" indent="-1270">
              <a:lnSpc>
                <a:spcPts val="2790"/>
              </a:lnSpc>
            </a:pPr>
            <a:r>
              <a:rPr sz="2450" spc="-95" dirty="0">
                <a:solidFill>
                  <a:srgbClr val="050301"/>
                </a:solidFill>
                <a:latin typeface="Arial"/>
                <a:cs typeface="Arial"/>
              </a:rPr>
              <a:t>Enable</a:t>
            </a:r>
            <a:r>
              <a:rPr sz="245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050301"/>
                </a:solidFill>
                <a:latin typeface="Arial"/>
                <a:cs typeface="Arial"/>
              </a:rPr>
              <a:t>real-</a:t>
            </a:r>
            <a:r>
              <a:rPr sz="2450" dirty="0">
                <a:solidFill>
                  <a:srgbClr val="050301"/>
                </a:solidFill>
                <a:latin typeface="Arial"/>
                <a:cs typeface="Arial"/>
              </a:rPr>
              <a:t>time</a:t>
            </a:r>
            <a:r>
              <a:rPr sz="245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450" spc="-4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050301"/>
                </a:solidFill>
                <a:latin typeface="Arial"/>
                <a:cs typeface="Arial"/>
              </a:rPr>
              <a:t>availability </a:t>
            </a:r>
            <a:r>
              <a:rPr sz="2450" spc="-105" dirty="0">
                <a:solidFill>
                  <a:srgbClr val="050301"/>
                </a:solidFill>
                <a:latin typeface="Arial"/>
                <a:cs typeface="Arial"/>
              </a:rPr>
              <a:t>v</a:t>
            </a:r>
            <a:r>
              <a:rPr sz="2450" spc="-1130" dirty="0">
                <a:solidFill>
                  <a:srgbClr val="050301"/>
                </a:solidFill>
                <a:latin typeface="Arial"/>
                <a:cs typeface="Arial"/>
              </a:rPr>
              <a:t>1</a:t>
            </a:r>
            <a:r>
              <a:rPr sz="1725" spc="-142" baseline="57971" dirty="0">
                <a:solidFill>
                  <a:srgbClr val="050301"/>
                </a:solidFill>
                <a:latin typeface="Arial"/>
                <a:cs typeface="Arial"/>
              </a:rPr>
              <a:t>•</a:t>
            </a:r>
            <a:r>
              <a:rPr sz="1725" spc="202" baseline="57971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50" dirty="0">
                <a:solidFill>
                  <a:srgbClr val="050301"/>
                </a:solidFill>
                <a:latin typeface="Arial"/>
                <a:cs typeface="Arial"/>
              </a:rPr>
              <a:t>ew</a:t>
            </a:r>
            <a:r>
              <a:rPr sz="2450" spc="-1320" dirty="0">
                <a:solidFill>
                  <a:srgbClr val="050301"/>
                </a:solidFill>
                <a:latin typeface="Arial"/>
                <a:cs typeface="Arial"/>
              </a:rPr>
              <a:t>1</a:t>
            </a:r>
            <a:r>
              <a:rPr sz="2025" spc="-209" baseline="49382" dirty="0">
                <a:solidFill>
                  <a:srgbClr val="050301"/>
                </a:solidFill>
                <a:latin typeface="Arial"/>
                <a:cs typeface="Arial"/>
              </a:rPr>
              <a:t>•</a:t>
            </a:r>
            <a:r>
              <a:rPr sz="2025" spc="120" baseline="49382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050301"/>
                </a:solidFill>
                <a:latin typeface="Arial"/>
                <a:cs typeface="Arial"/>
              </a:rPr>
              <a:t>ng.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450">
              <a:latin typeface="Arial"/>
              <a:cs typeface="Arial"/>
            </a:endParaRPr>
          </a:p>
          <a:p>
            <a:pPr marL="1197610" marR="175260" indent="1270">
              <a:lnSpc>
                <a:spcPts val="2790"/>
              </a:lnSpc>
            </a:pPr>
            <a:r>
              <a:rPr sz="2450" spc="-45" dirty="0">
                <a:solidFill>
                  <a:srgbClr val="050301"/>
                </a:solidFill>
                <a:latin typeface="Arial"/>
                <a:cs typeface="Arial"/>
              </a:rPr>
              <a:t>Facilitate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instant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booking </a:t>
            </a:r>
            <a:r>
              <a:rPr sz="2450" spc="-50" dirty="0">
                <a:solidFill>
                  <a:srgbClr val="050301"/>
                </a:solidFill>
                <a:latin typeface="Arial"/>
                <a:cs typeface="Arial"/>
              </a:rPr>
              <a:t>confirmations</a:t>
            </a:r>
            <a:r>
              <a:rPr sz="245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6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450" spc="-19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30" dirty="0">
                <a:solidFill>
                  <a:srgbClr val="050301"/>
                </a:solidFill>
                <a:latin typeface="Arial"/>
                <a:cs typeface="Arial"/>
              </a:rPr>
              <a:t>efficient</a:t>
            </a:r>
            <a:r>
              <a:rPr sz="2450" spc="-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050301"/>
                </a:solidFill>
                <a:latin typeface="Arial"/>
                <a:cs typeface="Arial"/>
              </a:rPr>
              <a:t>admin </a:t>
            </a:r>
            <a:r>
              <a:rPr sz="2450" spc="-10" dirty="0">
                <a:solidFill>
                  <a:srgbClr val="050301"/>
                </a:solidFill>
                <a:latin typeface="Arial"/>
                <a:cs typeface="Arial"/>
              </a:rPr>
              <a:t>management.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166" y="1485515"/>
            <a:ext cx="389388" cy="6825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903" y="2475896"/>
            <a:ext cx="845913" cy="8297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3318" y="2569580"/>
            <a:ext cx="2470682" cy="250272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66758" y="1338295"/>
            <a:ext cx="0" cy="695960"/>
          </a:xfrm>
          <a:custGeom>
            <a:avLst/>
            <a:gdLst/>
            <a:ahLst/>
            <a:cxnLst/>
            <a:rect l="l" t="t" r="r" b="b"/>
            <a:pathLst>
              <a:path h="695960">
                <a:moveTo>
                  <a:pt x="0" y="695943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3330" y="1338295"/>
            <a:ext cx="832485" cy="695960"/>
          </a:xfrm>
          <a:custGeom>
            <a:avLst/>
            <a:gdLst/>
            <a:ahLst/>
            <a:cxnLst/>
            <a:rect l="l" t="t" r="r" b="b"/>
            <a:pathLst>
              <a:path w="832485" h="695960">
                <a:moveTo>
                  <a:pt x="798918" y="695943"/>
                </a:moveTo>
                <a:lnTo>
                  <a:pt x="798918" y="0"/>
                </a:lnTo>
              </a:path>
              <a:path w="832485" h="695960">
                <a:moveTo>
                  <a:pt x="0" y="6691"/>
                </a:moveTo>
                <a:lnTo>
                  <a:pt x="832485" y="6691"/>
                </a:lnTo>
              </a:path>
              <a:path w="832485" h="695960">
                <a:moveTo>
                  <a:pt x="0" y="107067"/>
                </a:moveTo>
                <a:lnTo>
                  <a:pt x="832485" y="107067"/>
                </a:lnTo>
              </a:path>
            </a:pathLst>
          </a:custGeom>
          <a:ln w="201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371" rIns="0" bIns="0" rtlCol="0">
            <a:spAutoFit/>
          </a:bodyPr>
          <a:lstStyle/>
          <a:p>
            <a:pPr marL="715010">
              <a:lnSpc>
                <a:spcPct val="100000"/>
              </a:lnSpc>
              <a:spcBef>
                <a:spcPts val="110"/>
              </a:spcBef>
            </a:pPr>
            <a:r>
              <a:rPr sz="4250" spc="-250" dirty="0">
                <a:solidFill>
                  <a:srgbClr val="2D281F"/>
                </a:solidFill>
              </a:rPr>
              <a:t>Project</a:t>
            </a:r>
            <a:r>
              <a:rPr sz="4250" spc="-45" dirty="0">
                <a:solidFill>
                  <a:srgbClr val="2D281F"/>
                </a:solidFill>
              </a:rPr>
              <a:t> </a:t>
            </a:r>
            <a:r>
              <a:rPr sz="4250" spc="-225" dirty="0">
                <a:solidFill>
                  <a:srgbClr val="2D281F"/>
                </a:solidFill>
              </a:rPr>
              <a:t>Description</a:t>
            </a:r>
            <a:r>
              <a:rPr sz="4250" spc="40" dirty="0">
                <a:solidFill>
                  <a:srgbClr val="2D281F"/>
                </a:solidFill>
              </a:rPr>
              <a:t> </a:t>
            </a:r>
            <a:r>
              <a:rPr sz="4250" b="0" spc="-325" dirty="0">
                <a:solidFill>
                  <a:srgbClr val="2D281F"/>
                </a:solidFill>
                <a:latin typeface="Times New Roman"/>
                <a:cs typeface="Times New Roman"/>
              </a:rPr>
              <a:t>(</a:t>
            </a:r>
            <a:r>
              <a:rPr sz="4250" spc="-325" dirty="0">
                <a:solidFill>
                  <a:srgbClr val="2D281F"/>
                </a:solidFill>
              </a:rPr>
              <a:t>Core</a:t>
            </a:r>
            <a:r>
              <a:rPr sz="4250" spc="-140" dirty="0">
                <a:solidFill>
                  <a:srgbClr val="2D281F"/>
                </a:solidFill>
              </a:rPr>
              <a:t> </a:t>
            </a:r>
            <a:r>
              <a:rPr sz="4250" spc="-285" dirty="0">
                <a:solidFill>
                  <a:srgbClr val="2D281F"/>
                </a:solidFill>
              </a:rPr>
              <a:t>Features)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0679" y="1315093"/>
            <a:ext cx="4920615" cy="19132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3335" marR="303530" indent="10160">
              <a:lnSpc>
                <a:spcPts val="2790"/>
              </a:lnSpc>
              <a:spcBef>
                <a:spcPts val="375"/>
              </a:spcBef>
            </a:pP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Web-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based</a:t>
            </a:r>
            <a:r>
              <a:rPr sz="2500" spc="-1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system</a:t>
            </a:r>
            <a:r>
              <a:rPr sz="2500" spc="-11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accessible</a:t>
            </a:r>
            <a:r>
              <a:rPr sz="2500" spc="-25" dirty="0">
                <a:solidFill>
                  <a:srgbClr val="050301"/>
                </a:solidFill>
                <a:latin typeface="Arial"/>
                <a:cs typeface="Arial"/>
              </a:rPr>
              <a:t> via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browsers.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2500">
              <a:latin typeface="Arial"/>
              <a:cs typeface="Arial"/>
            </a:endParaRPr>
          </a:p>
          <a:p>
            <a:pPr marL="16510" marR="5080" indent="-4445">
              <a:lnSpc>
                <a:spcPts val="2790"/>
              </a:lnSpc>
            </a:pPr>
            <a:r>
              <a:rPr sz="2500" spc="-100" dirty="0">
                <a:solidFill>
                  <a:srgbClr val="050301"/>
                </a:solidFill>
                <a:latin typeface="Arial"/>
                <a:cs typeface="Arial"/>
              </a:rPr>
              <a:t>Search</a:t>
            </a:r>
            <a:r>
              <a:rPr sz="2500" spc="-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functionality</a:t>
            </a:r>
            <a:r>
              <a:rPr sz="2500" spc="-11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050301"/>
                </a:solidFill>
                <a:latin typeface="Arial"/>
                <a:cs typeface="Arial"/>
              </a:rPr>
              <a:t>by</a:t>
            </a:r>
            <a:r>
              <a:rPr sz="2500" spc="-15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date,</a:t>
            </a:r>
            <a:r>
              <a:rPr sz="2500" spc="-1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source, 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destination,</a:t>
            </a:r>
            <a:r>
              <a:rPr sz="2500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500" spc="-1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type.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6339" y="3502464"/>
            <a:ext cx="918844" cy="8648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5"/>
              </a:spcBef>
            </a:pPr>
            <a:r>
              <a:rPr sz="3400" spc="-540" dirty="0">
                <a:solidFill>
                  <a:srgbClr val="90756E"/>
                </a:solidFill>
                <a:latin typeface="Arial"/>
                <a:cs typeface="Arial"/>
              </a:rPr>
              <a:t>��1</a:t>
            </a:r>
            <a:endParaRPr sz="3400">
              <a:latin typeface="Arial"/>
              <a:cs typeface="Arial"/>
            </a:endParaRPr>
          </a:p>
          <a:p>
            <a:pPr marL="60960">
              <a:lnSpc>
                <a:spcPts val="2640"/>
              </a:lnSpc>
            </a:pPr>
            <a:r>
              <a:rPr sz="2300" spc="305" dirty="0">
                <a:solidFill>
                  <a:srgbClr val="90756E"/>
                </a:solidFill>
                <a:latin typeface="Times New Roman"/>
                <a:cs typeface="Times New Roman"/>
              </a:rPr>
              <a:t>E:_io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80679" y="3617061"/>
            <a:ext cx="3094355" cy="751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45"/>
              </a:lnSpc>
              <a:spcBef>
                <a:spcPts val="105"/>
              </a:spcBef>
            </a:pP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Secure</a:t>
            </a:r>
            <a:r>
              <a:rPr sz="2500" spc="-9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0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r>
              <a:rPr sz="2500" spc="-10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payment</a:t>
            </a:r>
            <a:endParaRPr sz="2500">
              <a:latin typeface="Arial"/>
              <a:cs typeface="Arial"/>
            </a:endParaRPr>
          </a:p>
          <a:p>
            <a:pPr marL="13970">
              <a:lnSpc>
                <a:spcPts val="2765"/>
              </a:lnSpc>
            </a:pPr>
            <a:r>
              <a:rPr sz="2350" spc="-10" dirty="0">
                <a:solidFill>
                  <a:srgbClr val="050301"/>
                </a:solidFill>
                <a:latin typeface="Arial"/>
                <a:cs typeface="Arial"/>
              </a:rPr>
              <a:t>integration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622" y="1311528"/>
            <a:ext cx="886195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3049" y="3626879"/>
            <a:ext cx="859340" cy="7896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3598" y="2569580"/>
            <a:ext cx="2430401" cy="250272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272" rIns="0" bIns="0" rtlCol="0">
            <a:spAutoFit/>
          </a:bodyPr>
          <a:lstStyle/>
          <a:p>
            <a:pPr marL="681990">
              <a:lnSpc>
                <a:spcPct val="100000"/>
              </a:lnSpc>
              <a:spcBef>
                <a:spcPts val="110"/>
              </a:spcBef>
            </a:pPr>
            <a:r>
              <a:rPr sz="4400" spc="-425" dirty="0">
                <a:solidFill>
                  <a:srgbClr val="2B261D"/>
                </a:solidFill>
              </a:rPr>
              <a:t>User</a:t>
            </a:r>
            <a:r>
              <a:rPr sz="4400" spc="-260" dirty="0">
                <a:solidFill>
                  <a:srgbClr val="2B261D"/>
                </a:solidFill>
              </a:rPr>
              <a:t> </a:t>
            </a:r>
            <a:r>
              <a:rPr sz="4400" spc="-350" dirty="0">
                <a:solidFill>
                  <a:srgbClr val="2B261D"/>
                </a:solidFill>
              </a:rPr>
              <a:t>Functionalities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2064268" y="1295668"/>
            <a:ext cx="4004945" cy="784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425"/>
              </a:spcBef>
            </a:pP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Browse</a:t>
            </a:r>
            <a:r>
              <a:rPr sz="2600" spc="-10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600" spc="-1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70" dirty="0">
                <a:solidFill>
                  <a:srgbClr val="050301"/>
                </a:solidFill>
                <a:latin typeface="Arial"/>
                <a:cs typeface="Arial"/>
              </a:rPr>
              <a:t>search</a:t>
            </a:r>
            <a:r>
              <a:rPr sz="2600" spc="-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for</a:t>
            </a:r>
            <a:r>
              <a:rPr sz="2600" spc="-16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35" dirty="0">
                <a:solidFill>
                  <a:srgbClr val="050301"/>
                </a:solidFill>
                <a:latin typeface="Arial"/>
                <a:cs typeface="Arial"/>
              </a:rPr>
              <a:t>travel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options.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661" y="2466728"/>
            <a:ext cx="26733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645" dirty="0">
                <a:solidFill>
                  <a:srgbClr val="91796E"/>
                </a:solidFill>
                <a:latin typeface="Arial"/>
                <a:cs typeface="Arial"/>
              </a:rPr>
              <a:t>�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70016" y="3305674"/>
            <a:ext cx="46990" cy="0"/>
          </a:xfrm>
          <a:custGeom>
            <a:avLst/>
            <a:gdLst/>
            <a:ahLst/>
            <a:cxnLst/>
            <a:rect l="l" t="t" r="r" b="b"/>
            <a:pathLst>
              <a:path w="46990">
                <a:moveTo>
                  <a:pt x="0" y="0"/>
                </a:moveTo>
                <a:lnTo>
                  <a:pt x="46994" y="0"/>
                </a:lnTo>
              </a:path>
            </a:pathLst>
          </a:custGeom>
          <a:ln w="12732">
            <a:solidFill>
              <a:srgbClr val="9179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57316" y="2993751"/>
            <a:ext cx="135890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50" spc="-500" dirty="0">
                <a:solidFill>
                  <a:srgbClr val="91796E"/>
                </a:solidFill>
                <a:latin typeface="Arial"/>
                <a:cs typeface="Arial"/>
              </a:rPr>
              <a:t>1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1377" y="2466728"/>
            <a:ext cx="5334635" cy="777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7390" algn="ctr">
              <a:lnSpc>
                <a:spcPts val="2955"/>
              </a:lnSpc>
              <a:spcBef>
                <a:spcPts val="105"/>
              </a:spcBef>
            </a:pPr>
            <a:r>
              <a:rPr sz="2600" spc="-90" dirty="0">
                <a:solidFill>
                  <a:srgbClr val="050301"/>
                </a:solidFill>
                <a:latin typeface="Arial"/>
                <a:cs typeface="Arial"/>
              </a:rPr>
              <a:t>Add</a:t>
            </a:r>
            <a:r>
              <a:rPr sz="2600" spc="-15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45" dirty="0">
                <a:solidFill>
                  <a:srgbClr val="050301"/>
                </a:solidFill>
                <a:latin typeface="Arial"/>
                <a:cs typeface="Arial"/>
              </a:rPr>
              <a:t>bookings</a:t>
            </a:r>
            <a:r>
              <a:rPr sz="2600" spc="-11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050301"/>
                </a:solidFill>
                <a:latin typeface="Arial"/>
                <a:cs typeface="Arial"/>
              </a:rPr>
              <a:t>to</a:t>
            </a:r>
            <a:r>
              <a:rPr sz="2600" spc="-204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0" dirty="0">
                <a:solidFill>
                  <a:srgbClr val="050301"/>
                </a:solidFill>
                <a:latin typeface="Arial"/>
                <a:cs typeface="Arial"/>
              </a:rPr>
              <a:t>a</a:t>
            </a:r>
            <a:r>
              <a:rPr sz="2600" spc="-1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050301"/>
                </a:solidFill>
                <a:latin typeface="Arial"/>
                <a:cs typeface="Arial"/>
              </a:rPr>
              <a:t>cart</a:t>
            </a:r>
            <a:r>
              <a:rPr sz="2600" spc="-6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85" dirty="0">
                <a:solidFill>
                  <a:srgbClr val="050301"/>
                </a:solidFill>
                <a:latin typeface="Arial"/>
                <a:cs typeface="Arial"/>
              </a:rPr>
              <a:t>and</a:t>
            </a:r>
            <a:r>
              <a:rPr sz="260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25" dirty="0">
                <a:solidFill>
                  <a:srgbClr val="050301"/>
                </a:solidFill>
                <a:latin typeface="Arial"/>
                <a:cs typeface="Arial"/>
              </a:rPr>
              <a:t>make</a:t>
            </a:r>
            <a:endParaRPr sz="2600">
              <a:latin typeface="Arial"/>
              <a:cs typeface="Arial"/>
            </a:endParaRPr>
          </a:p>
          <a:p>
            <a:pPr marR="3148965" algn="ctr">
              <a:lnSpc>
                <a:spcPts val="2955"/>
              </a:lnSpc>
              <a:tabLst>
                <a:tab pos="698500" algn="l"/>
              </a:tabLst>
            </a:pPr>
            <a:r>
              <a:rPr sz="2350" u="heavy" spc="-50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_</a:t>
            </a:r>
            <a:r>
              <a:rPr sz="2350" u="none" dirty="0">
                <a:solidFill>
                  <a:srgbClr val="91796E"/>
                </a:solidFill>
                <a:latin typeface="Arial"/>
                <a:cs typeface="Arial"/>
              </a:rPr>
              <a:t>	</a:t>
            </a:r>
            <a:r>
              <a:rPr sz="2600" u="none" spc="-50" dirty="0">
                <a:solidFill>
                  <a:srgbClr val="050301"/>
                </a:solidFill>
                <a:latin typeface="Arial"/>
                <a:cs typeface="Arial"/>
              </a:rPr>
              <a:t>payments.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3325" y="3145245"/>
            <a:ext cx="207010" cy="170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u="heavy" spc="-25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01</a:t>
            </a:r>
            <a:r>
              <a:rPr sz="950" u="heavy" spc="500" dirty="0">
                <a:solidFill>
                  <a:srgbClr val="91796E"/>
                </a:solidFill>
                <a:uFill>
                  <a:solidFill>
                    <a:srgbClr val="91796E"/>
                  </a:solidFill>
                </a:uFill>
                <a:latin typeface="Arial"/>
                <a:cs typeface="Arial"/>
              </a:rPr>
              <a:t> 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0354" y="3611019"/>
            <a:ext cx="3552825" cy="7842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4445">
              <a:lnSpc>
                <a:spcPts val="2850"/>
              </a:lnSpc>
              <a:spcBef>
                <a:spcPts val="425"/>
              </a:spcBef>
            </a:pPr>
            <a:r>
              <a:rPr sz="2600" spc="-110" dirty="0">
                <a:solidFill>
                  <a:srgbClr val="050301"/>
                </a:solidFill>
                <a:latin typeface="Arial"/>
                <a:cs typeface="Arial"/>
              </a:rPr>
              <a:t>Cancel</a:t>
            </a:r>
            <a:r>
              <a:rPr sz="2600" spc="-7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50" dirty="0">
                <a:solidFill>
                  <a:srgbClr val="050301"/>
                </a:solidFill>
                <a:latin typeface="Arial"/>
                <a:cs typeface="Arial"/>
              </a:rPr>
              <a:t>or</a:t>
            </a:r>
            <a:r>
              <a:rPr sz="2600" spc="-13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modify</a:t>
            </a:r>
            <a:r>
              <a:rPr sz="2600" spc="-10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600" spc="-40" dirty="0">
                <a:solidFill>
                  <a:srgbClr val="050301"/>
                </a:solidFill>
                <a:latin typeface="Arial"/>
                <a:cs typeface="Arial"/>
              </a:rPr>
              <a:t>existing </a:t>
            </a:r>
            <a:r>
              <a:rPr sz="2600" spc="-10" dirty="0">
                <a:solidFill>
                  <a:srgbClr val="050301"/>
                </a:solidFill>
                <a:latin typeface="Arial"/>
                <a:cs typeface="Arial"/>
              </a:rPr>
              <a:t>bookings.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767" y="1324912"/>
            <a:ext cx="886195" cy="74947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9903" y="2422362"/>
            <a:ext cx="751923" cy="4951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3049" y="3091539"/>
            <a:ext cx="805631" cy="7494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5803" y="3546579"/>
            <a:ext cx="107417" cy="6691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47492" y="2904170"/>
            <a:ext cx="590796" cy="14989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66552" y="3867783"/>
            <a:ext cx="53708" cy="428273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92908" y="2248375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4">
                <a:moveTo>
                  <a:pt x="0" y="722711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25394" y="2248375"/>
            <a:ext cx="0" cy="723265"/>
          </a:xfrm>
          <a:custGeom>
            <a:avLst/>
            <a:gdLst/>
            <a:ahLst/>
            <a:cxnLst/>
            <a:rect l="l" t="t" r="r" b="b"/>
            <a:pathLst>
              <a:path h="723264">
                <a:moveTo>
                  <a:pt x="0" y="722711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29841" y="2917552"/>
            <a:ext cx="0" cy="669290"/>
          </a:xfrm>
          <a:custGeom>
            <a:avLst/>
            <a:gdLst/>
            <a:ahLst/>
            <a:cxnLst/>
            <a:rect l="l" t="t" r="r" b="b"/>
            <a:pathLst>
              <a:path h="669289">
                <a:moveTo>
                  <a:pt x="0" y="669176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9981" y="4122070"/>
            <a:ext cx="0" cy="562610"/>
          </a:xfrm>
          <a:custGeom>
            <a:avLst/>
            <a:gdLst/>
            <a:ahLst/>
            <a:cxnLst/>
            <a:rect l="l" t="t" r="r" b="b"/>
            <a:pathLst>
              <a:path h="562610">
                <a:moveTo>
                  <a:pt x="0" y="562108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9604" y="2917552"/>
            <a:ext cx="0" cy="629285"/>
          </a:xfrm>
          <a:custGeom>
            <a:avLst/>
            <a:gdLst/>
            <a:ahLst/>
            <a:cxnLst/>
            <a:rect l="l" t="t" r="r" b="b"/>
            <a:pathLst>
              <a:path h="629285">
                <a:moveTo>
                  <a:pt x="0" y="629025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45003" y="4202371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93404" y="3426126"/>
            <a:ext cx="0" cy="803275"/>
          </a:xfrm>
          <a:custGeom>
            <a:avLst/>
            <a:gdLst/>
            <a:ahLst/>
            <a:cxnLst/>
            <a:rect l="l" t="t" r="r" b="b"/>
            <a:pathLst>
              <a:path h="803275">
                <a:moveTo>
                  <a:pt x="0" y="803012"/>
                </a:moveTo>
                <a:lnTo>
                  <a:pt x="0" y="0"/>
                </a:lnTo>
              </a:path>
            </a:pathLst>
          </a:custGeom>
          <a:ln w="201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55236" y="4202371"/>
            <a:ext cx="0" cy="481965"/>
          </a:xfrm>
          <a:custGeom>
            <a:avLst/>
            <a:gdLst/>
            <a:ahLst/>
            <a:cxnLst/>
            <a:rect l="l" t="t" r="r" b="b"/>
            <a:pathLst>
              <a:path h="481964">
                <a:moveTo>
                  <a:pt x="0" y="481806"/>
                </a:moveTo>
                <a:lnTo>
                  <a:pt x="0" y="0"/>
                </a:lnTo>
              </a:path>
            </a:pathLst>
          </a:custGeom>
          <a:ln w="402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86194" y="2255067"/>
            <a:ext cx="859790" cy="0"/>
          </a:xfrm>
          <a:custGeom>
            <a:avLst/>
            <a:gdLst/>
            <a:ahLst/>
            <a:cxnLst/>
            <a:rect l="l" t="t" r="r" b="b"/>
            <a:pathLst>
              <a:path w="859789">
                <a:moveTo>
                  <a:pt x="0" y="0"/>
                </a:moveTo>
                <a:lnTo>
                  <a:pt x="85934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38288" y="2924243"/>
            <a:ext cx="537210" cy="0"/>
          </a:xfrm>
          <a:custGeom>
            <a:avLst/>
            <a:gdLst/>
            <a:ahLst/>
            <a:cxnLst/>
            <a:rect l="l" t="t" r="r" b="b"/>
            <a:pathLst>
              <a:path w="537209">
                <a:moveTo>
                  <a:pt x="0" y="0"/>
                </a:moveTo>
                <a:lnTo>
                  <a:pt x="537087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16413" y="2924243"/>
            <a:ext cx="953769" cy="0"/>
          </a:xfrm>
          <a:custGeom>
            <a:avLst/>
            <a:gdLst/>
            <a:ahLst/>
            <a:cxnLst/>
            <a:rect l="l" t="t" r="r" b="b"/>
            <a:pathLst>
              <a:path w="953770">
                <a:moveTo>
                  <a:pt x="0" y="0"/>
                </a:moveTo>
                <a:lnTo>
                  <a:pt x="953330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11433" y="3559961"/>
            <a:ext cx="591185" cy="0"/>
          </a:xfrm>
          <a:custGeom>
            <a:avLst/>
            <a:gdLst/>
            <a:ahLst/>
            <a:cxnLst/>
            <a:rect l="l" t="t" r="r" b="b"/>
            <a:pathLst>
              <a:path w="591184">
                <a:moveTo>
                  <a:pt x="0" y="0"/>
                </a:moveTo>
                <a:lnTo>
                  <a:pt x="590796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16413" y="3573345"/>
            <a:ext cx="631190" cy="0"/>
          </a:xfrm>
          <a:custGeom>
            <a:avLst/>
            <a:gdLst/>
            <a:ahLst/>
            <a:cxnLst/>
            <a:rect l="l" t="t" r="r" b="b"/>
            <a:pathLst>
              <a:path w="631190">
                <a:moveTo>
                  <a:pt x="0" y="0"/>
                </a:moveTo>
                <a:lnTo>
                  <a:pt x="631078" y="0"/>
                </a:lnTo>
              </a:path>
            </a:pathLst>
          </a:custGeom>
          <a:ln w="200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116413" y="4155528"/>
            <a:ext cx="631190" cy="0"/>
          </a:xfrm>
          <a:custGeom>
            <a:avLst/>
            <a:gdLst/>
            <a:ahLst/>
            <a:cxnLst/>
            <a:rect l="l" t="t" r="r" b="b"/>
            <a:pathLst>
              <a:path w="631190">
                <a:moveTo>
                  <a:pt x="0" y="0"/>
                </a:moveTo>
                <a:lnTo>
                  <a:pt x="631078" y="0"/>
                </a:lnTo>
              </a:path>
            </a:pathLst>
          </a:custGeom>
          <a:ln w="40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11433" y="4235830"/>
            <a:ext cx="591185" cy="0"/>
          </a:xfrm>
          <a:custGeom>
            <a:avLst/>
            <a:gdLst/>
            <a:ahLst/>
            <a:cxnLst/>
            <a:rect l="l" t="t" r="r" b="b"/>
            <a:pathLst>
              <a:path w="591184">
                <a:moveTo>
                  <a:pt x="0" y="0"/>
                </a:moveTo>
                <a:lnTo>
                  <a:pt x="590796" y="0"/>
                </a:lnTo>
              </a:path>
            </a:pathLst>
          </a:custGeom>
          <a:ln w="401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16413" y="4610569"/>
            <a:ext cx="873125" cy="0"/>
          </a:xfrm>
          <a:custGeom>
            <a:avLst/>
            <a:gdLst/>
            <a:ahLst/>
            <a:cxnLst/>
            <a:rect l="l" t="t" r="r" b="b"/>
            <a:pathLst>
              <a:path w="873125">
                <a:moveTo>
                  <a:pt x="0" y="0"/>
                </a:moveTo>
                <a:lnTo>
                  <a:pt x="872768" y="0"/>
                </a:lnTo>
              </a:path>
            </a:pathLst>
          </a:custGeom>
          <a:ln w="669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271153" y="4630644"/>
            <a:ext cx="671830" cy="0"/>
          </a:xfrm>
          <a:custGeom>
            <a:avLst/>
            <a:gdLst/>
            <a:ahLst/>
            <a:cxnLst/>
            <a:rect l="l" t="t" r="r" b="b"/>
            <a:pathLst>
              <a:path w="671829">
                <a:moveTo>
                  <a:pt x="0" y="0"/>
                </a:moveTo>
                <a:lnTo>
                  <a:pt x="671359" y="0"/>
                </a:lnTo>
              </a:path>
            </a:pathLst>
          </a:custGeom>
          <a:ln w="468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789" rIns="0" bIns="0" rtlCol="0">
            <a:spAutoFit/>
          </a:bodyPr>
          <a:lstStyle/>
          <a:p>
            <a:pPr marL="658495">
              <a:lnSpc>
                <a:spcPct val="100000"/>
              </a:lnSpc>
              <a:spcBef>
                <a:spcPts val="110"/>
              </a:spcBef>
            </a:pPr>
            <a:r>
              <a:rPr sz="4550" b="0" spc="-430" dirty="0">
                <a:solidFill>
                  <a:srgbClr val="2F261F"/>
                </a:solidFill>
                <a:latin typeface="Times New Roman"/>
                <a:cs typeface="Times New Roman"/>
              </a:rPr>
              <a:t>Project</a:t>
            </a:r>
            <a:r>
              <a:rPr sz="4550" b="0" spc="-100" dirty="0">
                <a:solidFill>
                  <a:srgbClr val="2F261F"/>
                </a:solidFill>
                <a:latin typeface="Times New Roman"/>
                <a:cs typeface="Times New Roman"/>
              </a:rPr>
              <a:t> </a:t>
            </a:r>
            <a:r>
              <a:rPr sz="4550" b="0" spc="-495" dirty="0">
                <a:solidFill>
                  <a:srgbClr val="2F261F"/>
                </a:solidFill>
                <a:latin typeface="Times New Roman"/>
                <a:cs typeface="Times New Roman"/>
              </a:rPr>
              <a:t>Deliverables</a:t>
            </a:r>
            <a:endParaRPr sz="4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3716" y="2259980"/>
            <a:ext cx="2540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u="heavy" spc="-25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Arial"/>
                <a:cs typeface="Arial"/>
              </a:rPr>
              <a:t>000</a:t>
            </a:r>
            <a:r>
              <a:rPr sz="650" b="1" u="heavy" spc="500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Arial"/>
                <a:cs typeface="Arial"/>
              </a:rPr>
              <a:t> 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35614" y="1315093"/>
            <a:ext cx="4332605" cy="7486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1590" marR="5080" indent="-9525">
              <a:lnSpc>
                <a:spcPts val="2690"/>
              </a:lnSpc>
              <a:spcBef>
                <a:spcPts val="455"/>
              </a:spcBef>
            </a:pPr>
            <a:r>
              <a:rPr sz="2500" spc="-75" dirty="0">
                <a:solidFill>
                  <a:srgbClr val="050301"/>
                </a:solidFill>
                <a:latin typeface="Arial"/>
                <a:cs typeface="Arial"/>
              </a:rPr>
              <a:t>Functional</a:t>
            </a: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25" dirty="0">
                <a:solidFill>
                  <a:srgbClr val="050301"/>
                </a:solidFill>
                <a:latin typeface="Arial"/>
                <a:cs typeface="Arial"/>
              </a:rPr>
              <a:t>Online</a:t>
            </a:r>
            <a:r>
              <a:rPr sz="2500" spc="-14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65" dirty="0">
                <a:solidFill>
                  <a:srgbClr val="050301"/>
                </a:solidFill>
                <a:latin typeface="Arial"/>
                <a:cs typeface="Arial"/>
              </a:rPr>
              <a:t>Ticket</a:t>
            </a:r>
            <a:r>
              <a:rPr sz="2500" spc="-8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70" dirty="0">
                <a:solidFill>
                  <a:srgbClr val="050301"/>
                </a:solidFill>
                <a:latin typeface="Arial"/>
                <a:cs typeface="Arial"/>
              </a:rPr>
              <a:t>Booking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Website.</a:t>
            </a:r>
            <a:endParaRPr sz="2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39120" y="2405851"/>
            <a:ext cx="458216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10" dirty="0">
                <a:solidFill>
                  <a:srgbClr val="050301"/>
                </a:solidFill>
                <a:latin typeface="Arial"/>
                <a:cs typeface="Arial"/>
              </a:rPr>
              <a:t>Comprehensive</a:t>
            </a:r>
            <a:r>
              <a:rPr sz="2500" spc="-3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Admin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5" dirty="0">
                <a:solidFill>
                  <a:srgbClr val="050301"/>
                </a:solidFill>
                <a:latin typeface="Arial"/>
                <a:cs typeface="Arial"/>
              </a:rPr>
              <a:t>Dashboard.</a:t>
            </a:r>
            <a:endParaRPr sz="2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38488" y="3088412"/>
            <a:ext cx="4408805" cy="7556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9050" marR="5080" indent="-6985">
              <a:lnSpc>
                <a:spcPts val="2740"/>
              </a:lnSpc>
              <a:spcBef>
                <a:spcPts val="414"/>
              </a:spcBef>
            </a:pP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Booking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confirmation</a:t>
            </a:r>
            <a:r>
              <a:rPr sz="2500" spc="-85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050301"/>
                </a:solidFill>
                <a:latin typeface="Arial"/>
                <a:cs typeface="Arial"/>
              </a:rPr>
              <a:t>notification system.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7985" y="4106861"/>
            <a:ext cx="7366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i="1" u="heavy" spc="-745" dirty="0">
                <a:solidFill>
                  <a:srgbClr val="725D52"/>
                </a:solidFill>
                <a:uFill>
                  <a:solidFill>
                    <a:srgbClr val="725D52"/>
                  </a:solidFill>
                </a:uFill>
                <a:latin typeface="Verdana"/>
                <a:cs typeface="Verdana"/>
              </a:rPr>
              <a:t>15��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41029" y="4132327"/>
            <a:ext cx="4429760" cy="407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500" spc="-100" dirty="0">
                <a:solidFill>
                  <a:srgbClr val="050301"/>
                </a:solidFill>
                <a:latin typeface="Arial"/>
                <a:cs typeface="Arial"/>
              </a:rPr>
              <a:t>Technical</a:t>
            </a:r>
            <a:r>
              <a:rPr sz="2500" spc="-4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50" dirty="0">
                <a:solidFill>
                  <a:srgbClr val="050301"/>
                </a:solidFill>
                <a:latin typeface="Arial"/>
                <a:cs typeface="Arial"/>
              </a:rPr>
              <a:t>project</a:t>
            </a:r>
            <a:r>
              <a:rPr sz="2500" spc="-90" dirty="0">
                <a:solidFill>
                  <a:srgbClr val="050301"/>
                </a:solidFill>
                <a:latin typeface="Arial"/>
                <a:cs typeface="Arial"/>
              </a:rPr>
              <a:t> </a:t>
            </a:r>
            <a:r>
              <a:rPr sz="2500" spc="-45" dirty="0">
                <a:solidFill>
                  <a:srgbClr val="050301"/>
                </a:solidFill>
                <a:latin typeface="Arial"/>
                <a:cs typeface="Arial"/>
              </a:rPr>
              <a:t>documentation.</a:t>
            </a:r>
            <a:endParaRPr sz="25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147773" y="2997853"/>
            <a:ext cx="134620" cy="0"/>
          </a:xfrm>
          <a:custGeom>
            <a:avLst/>
            <a:gdLst/>
            <a:ahLst/>
            <a:cxnLst/>
            <a:rect l="l" t="t" r="r" b="b"/>
            <a:pathLst>
              <a:path w="134620">
                <a:moveTo>
                  <a:pt x="0" y="0"/>
                </a:moveTo>
                <a:lnTo>
                  <a:pt x="134272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52713" y="3278907"/>
            <a:ext cx="638175" cy="0"/>
          </a:xfrm>
          <a:custGeom>
            <a:avLst/>
            <a:gdLst/>
            <a:ahLst/>
            <a:cxnLst/>
            <a:rect l="l" t="t" r="r" b="b"/>
            <a:pathLst>
              <a:path w="638175">
                <a:moveTo>
                  <a:pt x="0" y="0"/>
                </a:moveTo>
                <a:lnTo>
                  <a:pt x="637791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109676" y="2552233"/>
            <a:ext cx="404495" cy="545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00" spc="-885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5100" spc="-2497" baseline="-35947" dirty="0">
                <a:solidFill>
                  <a:srgbClr val="725D52"/>
                </a:solidFill>
                <a:latin typeface="Arial"/>
                <a:cs typeface="Arial"/>
              </a:rPr>
              <a:t>□</a:t>
            </a:r>
            <a:r>
              <a:rPr sz="2500" spc="-240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2500" spc="-210" dirty="0">
                <a:solidFill>
                  <a:srgbClr val="725D52"/>
                </a:solidFill>
                <a:latin typeface="Arial"/>
                <a:cs typeface="Arial"/>
              </a:rPr>
              <a:t>.</a:t>
            </a:r>
            <a:r>
              <a:rPr sz="5100" spc="-345" baseline="-35947" dirty="0">
                <a:solidFill>
                  <a:srgbClr val="725D52"/>
                </a:solidFill>
                <a:latin typeface="Arial"/>
                <a:cs typeface="Arial"/>
              </a:rPr>
              <a:t>'-</a:t>
            </a:r>
            <a:endParaRPr sz="5100" baseline="-35947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31628" y="3278907"/>
            <a:ext cx="33655" cy="0"/>
          </a:xfrm>
          <a:custGeom>
            <a:avLst/>
            <a:gdLst/>
            <a:ahLst/>
            <a:cxnLst/>
            <a:rect l="l" t="t" r="r" b="b"/>
            <a:pathLst>
              <a:path w="33654">
                <a:moveTo>
                  <a:pt x="0" y="0"/>
                </a:moveTo>
                <a:lnTo>
                  <a:pt x="33568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7918929" y="3157978"/>
            <a:ext cx="381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725D52"/>
                </a:solidFill>
                <a:latin typeface="Times New Roman"/>
                <a:cs typeface="Times New Roman"/>
              </a:rPr>
              <a:t>j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0468" y="2993890"/>
            <a:ext cx="762000" cy="545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spc="105" dirty="0">
                <a:solidFill>
                  <a:srgbClr val="897972"/>
                </a:solidFill>
                <a:latin typeface="Arial"/>
                <a:cs typeface="Arial"/>
              </a:rPr>
              <a:t>·</a:t>
            </a:r>
            <a:r>
              <a:rPr sz="3400" spc="10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r>
              <a:rPr sz="3400" spc="75" dirty="0">
                <a:solidFill>
                  <a:srgbClr val="725D52"/>
                </a:solidFill>
                <a:latin typeface="Arial"/>
                <a:cs typeface="Arial"/>
              </a:rPr>
              <a:t>□</a:t>
            </a:r>
            <a:r>
              <a:rPr sz="3400" spc="-106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endParaRPr sz="3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33637" y="3320207"/>
            <a:ext cx="1930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130" dirty="0">
                <a:solidFill>
                  <a:srgbClr val="897972"/>
                </a:solidFill>
                <a:latin typeface="Arial"/>
                <a:cs typeface="Arial"/>
              </a:rPr>
              <a:t>=-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15073" y="3199244"/>
            <a:ext cx="252729" cy="339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75" spc="-817" baseline="-12195" dirty="0">
                <a:solidFill>
                  <a:srgbClr val="897972"/>
                </a:solidFill>
                <a:latin typeface="Arial"/>
                <a:cs typeface="Arial"/>
              </a:rPr>
              <a:t>·</a:t>
            </a:r>
            <a:r>
              <a:rPr sz="1100" spc="40" dirty="0">
                <a:solidFill>
                  <a:srgbClr val="A39A90"/>
                </a:solidFill>
                <a:latin typeface="Arial"/>
                <a:cs typeface="Arial"/>
              </a:rPr>
              <a:t>·</a:t>
            </a:r>
            <a:r>
              <a:rPr sz="1100" spc="-250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r>
              <a:rPr sz="3075" spc="-75" baseline="-12195" dirty="0">
                <a:solidFill>
                  <a:srgbClr val="725D52"/>
                </a:solidFill>
                <a:latin typeface="Arial"/>
                <a:cs typeface="Arial"/>
              </a:rPr>
              <a:t>-</a:t>
            </a:r>
            <a:endParaRPr sz="3075" baseline="-12195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26579" y="3157606"/>
            <a:ext cx="147955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spc="-50" dirty="0">
                <a:solidFill>
                  <a:srgbClr val="725D52"/>
                </a:solidFill>
                <a:latin typeface="Times New Roman"/>
                <a:cs typeface="Times New Roman"/>
              </a:rPr>
              <a:t>-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360403" y="3011236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>
                <a:moveTo>
                  <a:pt x="0" y="0"/>
                </a:moveTo>
                <a:lnTo>
                  <a:pt x="150759" y="0"/>
                </a:lnTo>
              </a:path>
            </a:pathLst>
          </a:custGeom>
          <a:ln w="12732">
            <a:solidFill>
              <a:srgbClr val="8979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347705" y="2909406"/>
            <a:ext cx="18161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35" dirty="0">
                <a:solidFill>
                  <a:srgbClr val="897972"/>
                </a:solidFill>
                <a:latin typeface="Arial"/>
                <a:cs typeface="Arial"/>
              </a:rPr>
              <a:t>•</a:t>
            </a:r>
            <a:r>
              <a:rPr sz="700" spc="35" dirty="0">
                <a:solidFill>
                  <a:srgbClr val="725D52"/>
                </a:solidFill>
                <a:latin typeface="Arial"/>
                <a:cs typeface="Arial"/>
              </a:rPr>
              <a:t>•</a:t>
            </a:r>
            <a:r>
              <a:rPr sz="700" spc="35" dirty="0">
                <a:solidFill>
                  <a:srgbClr val="897972"/>
                </a:solidFill>
                <a:latin typeface="Arial"/>
                <a:cs typeface="Arial"/>
              </a:rPr>
              <a:t>••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746008" y="3011236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733309" y="2909406"/>
            <a:ext cx="87630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45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357005" y="3198607"/>
            <a:ext cx="154940" cy="0"/>
          </a:xfrm>
          <a:custGeom>
            <a:avLst/>
            <a:gdLst/>
            <a:ahLst/>
            <a:cxnLst/>
            <a:rect l="l" t="t" r="r" b="b"/>
            <a:pathLst>
              <a:path w="154940">
                <a:moveTo>
                  <a:pt x="0" y="0"/>
                </a:moveTo>
                <a:lnTo>
                  <a:pt x="154412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744657" y="3198607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360064" y="3392667"/>
            <a:ext cx="150495" cy="0"/>
          </a:xfrm>
          <a:custGeom>
            <a:avLst/>
            <a:gdLst/>
            <a:ahLst/>
            <a:cxnLst/>
            <a:rect l="l" t="t" r="r" b="b"/>
            <a:pathLst>
              <a:path w="150495">
                <a:moveTo>
                  <a:pt x="0" y="0"/>
                </a:moveTo>
                <a:lnTo>
                  <a:pt x="150455" y="0"/>
                </a:lnTo>
              </a:path>
            </a:pathLst>
          </a:custGeom>
          <a:ln w="12732">
            <a:solidFill>
              <a:srgbClr val="89797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344306" y="3096776"/>
            <a:ext cx="215900" cy="32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145" dirty="0">
                <a:solidFill>
                  <a:srgbClr val="725D52"/>
                </a:solidFill>
                <a:latin typeface="Arial"/>
                <a:cs typeface="Arial"/>
              </a:rPr>
              <a:t>....</a:t>
            </a:r>
            <a:endParaRPr sz="7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640"/>
              </a:spcBef>
            </a:pPr>
            <a:r>
              <a:rPr sz="750" spc="50" dirty="0">
                <a:solidFill>
                  <a:srgbClr val="725D52"/>
                </a:solidFill>
                <a:latin typeface="Arial"/>
                <a:cs typeface="Arial"/>
              </a:rPr>
              <a:t>••</a:t>
            </a:r>
            <a:r>
              <a:rPr sz="750" spc="50" dirty="0">
                <a:solidFill>
                  <a:srgbClr val="897972"/>
                </a:solidFill>
                <a:latin typeface="Arial"/>
                <a:cs typeface="Arial"/>
              </a:rPr>
              <a:t>..</a:t>
            </a:r>
            <a:endParaRPr sz="7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743961" y="3392667"/>
            <a:ext cx="74295" cy="0"/>
          </a:xfrm>
          <a:custGeom>
            <a:avLst/>
            <a:gdLst/>
            <a:ahLst/>
            <a:cxnLst/>
            <a:rect l="l" t="t" r="r" b="b"/>
            <a:pathLst>
              <a:path w="74295">
                <a:moveTo>
                  <a:pt x="0" y="0"/>
                </a:moveTo>
                <a:lnTo>
                  <a:pt x="73849" y="0"/>
                </a:lnTo>
              </a:path>
            </a:pathLst>
          </a:custGeom>
          <a:ln w="12732">
            <a:solidFill>
              <a:srgbClr val="725D5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731262" y="3096776"/>
            <a:ext cx="121920" cy="32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700" b="1" spc="310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750" spc="90" dirty="0">
                <a:solidFill>
                  <a:srgbClr val="725D52"/>
                </a:solidFill>
                <a:latin typeface="Arial"/>
                <a:cs typeface="Arial"/>
              </a:rPr>
              <a:t>0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816937B0-8EF4-F127-8AA1-B13F79B16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25721" y="2101157"/>
            <a:ext cx="4766654" cy="16729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78948" y="3934701"/>
            <a:ext cx="872767" cy="4550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725721" y="1338295"/>
            <a:ext cx="0" cy="763270"/>
          </a:xfrm>
          <a:custGeom>
            <a:avLst/>
            <a:gdLst/>
            <a:ahLst/>
            <a:cxnLst/>
            <a:rect l="l" t="t" r="r" b="b"/>
            <a:pathLst>
              <a:path h="763269">
                <a:moveTo>
                  <a:pt x="0" y="76286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19659" y="1338295"/>
            <a:ext cx="0" cy="602615"/>
          </a:xfrm>
          <a:custGeom>
            <a:avLst/>
            <a:gdLst/>
            <a:ahLst/>
            <a:cxnLst/>
            <a:rect l="l" t="t" r="r" b="b"/>
            <a:pathLst>
              <a:path h="602614">
                <a:moveTo>
                  <a:pt x="0" y="60225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06884" y="1338295"/>
            <a:ext cx="0" cy="602615"/>
          </a:xfrm>
          <a:custGeom>
            <a:avLst/>
            <a:gdLst/>
            <a:ahLst/>
            <a:cxnLst/>
            <a:rect l="l" t="t" r="r" b="b"/>
            <a:pathLst>
              <a:path h="602614">
                <a:moveTo>
                  <a:pt x="0" y="60225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10233" y="1619350"/>
            <a:ext cx="8150859" cy="2315845"/>
            <a:chOff x="510233" y="1619350"/>
            <a:chExt cx="8150859" cy="2315845"/>
          </a:xfrm>
        </p:grpSpPr>
        <p:sp>
          <p:nvSpPr>
            <p:cNvPr id="8" name="object 8"/>
            <p:cNvSpPr/>
            <p:nvPr/>
          </p:nvSpPr>
          <p:spPr>
            <a:xfrm>
              <a:off x="8257726" y="1619350"/>
              <a:ext cx="0" cy="2315845"/>
            </a:xfrm>
            <a:custGeom>
              <a:avLst/>
              <a:gdLst/>
              <a:ahLst/>
              <a:cxnLst/>
              <a:rect l="l" t="t" r="r" b="b"/>
              <a:pathLst>
                <a:path h="2315845">
                  <a:moveTo>
                    <a:pt x="0" y="2315350"/>
                  </a:moveTo>
                  <a:lnTo>
                    <a:pt x="0" y="0"/>
                  </a:lnTo>
                </a:path>
              </a:pathLst>
            </a:custGeom>
            <a:ln w="13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12294" y="1632733"/>
              <a:ext cx="5948680" cy="0"/>
            </a:xfrm>
            <a:custGeom>
              <a:avLst/>
              <a:gdLst/>
              <a:ahLst/>
              <a:cxnLst/>
              <a:rect l="l" t="t" r="r" b="b"/>
              <a:pathLst>
                <a:path w="5948680">
                  <a:moveTo>
                    <a:pt x="0" y="0"/>
                  </a:moveTo>
                  <a:lnTo>
                    <a:pt x="5948247" y="0"/>
                  </a:lnTo>
                </a:path>
              </a:pathLst>
            </a:custGeom>
            <a:ln w="66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0233" y="1920479"/>
              <a:ext cx="8150859" cy="0"/>
            </a:xfrm>
            <a:custGeom>
              <a:avLst/>
              <a:gdLst/>
              <a:ahLst/>
              <a:cxnLst/>
              <a:rect l="l" t="t" r="r" b="b"/>
              <a:pathLst>
                <a:path w="8150859">
                  <a:moveTo>
                    <a:pt x="0" y="0"/>
                  </a:moveTo>
                  <a:lnTo>
                    <a:pt x="8150307" y="0"/>
                  </a:lnTo>
                </a:path>
              </a:pathLst>
            </a:custGeom>
            <a:ln w="133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7196977" y="4570418"/>
            <a:ext cx="577850" cy="0"/>
          </a:xfrm>
          <a:custGeom>
            <a:avLst/>
            <a:gdLst/>
            <a:ahLst/>
            <a:cxnLst/>
            <a:rect l="l" t="t" r="r" b="b"/>
            <a:pathLst>
              <a:path w="577850">
                <a:moveTo>
                  <a:pt x="0" y="0"/>
                </a:moveTo>
                <a:lnTo>
                  <a:pt x="577368" y="0"/>
                </a:lnTo>
              </a:path>
            </a:pathLst>
          </a:custGeom>
          <a:ln w="1070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432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50503"/>
                </a:solidFill>
              </a:rPr>
              <a:t>Time-</a:t>
            </a:r>
            <a:r>
              <a:rPr sz="3200" dirty="0">
                <a:solidFill>
                  <a:srgbClr val="050503"/>
                </a:solidFill>
              </a:rPr>
              <a:t>Line</a:t>
            </a:r>
            <a:r>
              <a:rPr sz="3200" spc="70" dirty="0">
                <a:solidFill>
                  <a:srgbClr val="050503"/>
                </a:solidFill>
              </a:rPr>
              <a:t> </a:t>
            </a:r>
            <a:r>
              <a:rPr sz="3200" spc="60" dirty="0">
                <a:solidFill>
                  <a:srgbClr val="050503"/>
                </a:solidFill>
              </a:rPr>
              <a:t>Schedule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568298" y="1573331"/>
            <a:ext cx="1951355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Total</a:t>
            </a:r>
            <a:r>
              <a:rPr sz="1050" spc="-5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Duration:</a:t>
            </a:r>
            <a:r>
              <a:rPr sz="1050" spc="8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211C18"/>
                </a:solidFill>
                <a:latin typeface="Arial"/>
                <a:cs typeface="Arial"/>
              </a:rPr>
              <a:t>Jan</a:t>
            </a:r>
            <a:r>
              <a:rPr sz="1050" spc="-8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50" dirty="0">
                <a:solidFill>
                  <a:srgbClr val="211C18"/>
                </a:solidFill>
                <a:latin typeface="Arial"/>
                <a:cs typeface="Arial"/>
              </a:rPr>
              <a:t>1</a:t>
            </a:r>
            <a:r>
              <a:rPr sz="1050" spc="-4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to</a:t>
            </a:r>
            <a:r>
              <a:rPr sz="1050" spc="16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211C18"/>
                </a:solidFill>
                <a:latin typeface="Arial"/>
                <a:cs typeface="Arial"/>
              </a:rPr>
              <a:t>Mar</a:t>
            </a:r>
            <a:r>
              <a:rPr sz="1050" spc="-2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11C18"/>
                </a:solidFill>
                <a:latin typeface="Arial"/>
                <a:cs typeface="Arial"/>
              </a:rPr>
              <a:t>15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68117" y="1380245"/>
            <a:ext cx="3181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11C18"/>
                </a:solidFill>
                <a:latin typeface="Arial"/>
                <a:cs typeface="Arial"/>
              </a:rPr>
              <a:t>JAN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67157" y="1380245"/>
            <a:ext cx="2933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FEB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08459" y="1380245"/>
            <a:ext cx="3390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5" dirty="0">
                <a:solidFill>
                  <a:srgbClr val="211C18"/>
                </a:solidFill>
                <a:latin typeface="Arial"/>
                <a:cs typeface="Arial"/>
              </a:rPr>
              <a:t>MAR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32434" y="1578860"/>
            <a:ext cx="582168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105"/>
              </a:spcBef>
              <a:tabLst>
                <a:tab pos="528320" algn="l"/>
                <a:tab pos="917575" algn="l"/>
                <a:tab pos="1306830" algn="l"/>
                <a:tab pos="1703070" algn="l"/>
                <a:tab pos="2119630" algn="l"/>
                <a:tab pos="2515235" algn="l"/>
                <a:tab pos="2905125" algn="l"/>
                <a:tab pos="3294379" algn="l"/>
                <a:tab pos="3696970" algn="l"/>
                <a:tab pos="4099560" algn="l"/>
                <a:tab pos="4482465" algn="l"/>
                <a:tab pos="4871720" algn="l"/>
                <a:tab pos="5261610" algn="l"/>
                <a:tab pos="5650865" algn="l"/>
              </a:tabLst>
            </a:pP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-5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r>
              <a:rPr sz="1900" dirty="0">
                <a:solidFill>
                  <a:srgbClr val="211C18"/>
                </a:solidFill>
                <a:latin typeface="Courier New"/>
                <a:cs typeface="Courier New"/>
              </a:rPr>
              <a:t>	</a:t>
            </a:r>
            <a:r>
              <a:rPr sz="1900" spc="40" dirty="0">
                <a:solidFill>
                  <a:srgbClr val="211C18"/>
                </a:solidFill>
                <a:latin typeface="Courier New"/>
                <a:cs typeface="Courier New"/>
              </a:rPr>
              <a:t>w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1540" y="2129723"/>
            <a:ext cx="17462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40" dirty="0">
                <a:solidFill>
                  <a:srgbClr val="211C18"/>
                </a:solidFill>
                <a:latin typeface="Arial"/>
                <a:cs typeface="Arial"/>
              </a:rPr>
              <a:t>1.</a:t>
            </a:r>
            <a:r>
              <a:rPr sz="1200" spc="-130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KICK-</a:t>
            </a:r>
            <a:r>
              <a:rPr sz="1200" spc="-50" dirty="0">
                <a:solidFill>
                  <a:srgbClr val="211C18"/>
                </a:solidFill>
                <a:latin typeface="Arial"/>
                <a:cs typeface="Arial"/>
              </a:rPr>
              <a:t>OFF</a:t>
            </a:r>
            <a:r>
              <a:rPr sz="1200" spc="2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11C18"/>
                </a:solidFill>
                <a:latin typeface="Arial"/>
                <a:cs typeface="Arial"/>
              </a:rPr>
              <a:t>&amp;</a:t>
            </a:r>
            <a:r>
              <a:rPr sz="1200" spc="-65" dirty="0">
                <a:solidFill>
                  <a:srgbClr val="211C18"/>
                </a:solidFill>
                <a:latin typeface="Arial"/>
                <a:cs typeface="Arial"/>
              </a:rPr>
              <a:t> </a:t>
            </a:r>
            <a:r>
              <a:rPr sz="1200" spc="-35" dirty="0">
                <a:solidFill>
                  <a:srgbClr val="211C18"/>
                </a:solidFill>
                <a:latin typeface="Arial"/>
                <a:cs typeface="Arial"/>
              </a:rPr>
              <a:t>PLANNING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10233" y="2352098"/>
          <a:ext cx="6971660" cy="199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5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98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23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3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2.</a:t>
                      </a:r>
                      <a:r>
                        <a:rPr sz="1200" spc="-14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sz="1200" spc="8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sz="1200" spc="-6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ANALYS</a:t>
                      </a:r>
                      <a:r>
                        <a:rPr sz="1200" spc="-1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 marL="68580" marR="762635" indent="5080">
                        <a:lnSpc>
                          <a:spcPts val="1370"/>
                        </a:lnSpc>
                        <a:spcBef>
                          <a:spcPts val="1115"/>
                        </a:spcBef>
                      </a:pPr>
                      <a:r>
                        <a:rPr sz="1200" dirty="0">
                          <a:solidFill>
                            <a:srgbClr val="332F28"/>
                          </a:solidFill>
                          <a:latin typeface="Arial"/>
                          <a:cs typeface="Arial"/>
                        </a:rPr>
                        <a:t>3.</a:t>
                      </a:r>
                      <a:r>
                        <a:rPr sz="1200" spc="-150" dirty="0">
                          <a:solidFill>
                            <a:srgbClr val="332F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7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DEVELOPMENT</a:t>
                      </a:r>
                      <a:r>
                        <a:rPr sz="1200" spc="12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5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DRAFTING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4160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7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20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200" spc="-110" dirty="0">
                          <a:solidFill>
                            <a:srgbClr val="0505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4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FINAL</a:t>
                      </a:r>
                      <a:r>
                        <a:rPr sz="1200" spc="-5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11C18"/>
                          </a:solidFill>
                          <a:latin typeface="Arial"/>
                          <a:cs typeface="Arial"/>
                        </a:rPr>
                        <a:t>REPORT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7855851" y="4464499"/>
            <a:ext cx="7943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332F28"/>
                </a:solidFill>
                <a:latin typeface="Arial"/>
                <a:cs typeface="Arial"/>
              </a:rPr>
              <a:t>Active</a:t>
            </a:r>
            <a:r>
              <a:rPr sz="1100" spc="-85" dirty="0">
                <a:solidFill>
                  <a:srgbClr val="332F28"/>
                </a:solidFill>
                <a:latin typeface="Arial"/>
                <a:cs typeface="Arial"/>
              </a:rPr>
              <a:t> </a:t>
            </a:r>
            <a:r>
              <a:rPr sz="1100" spc="-30" dirty="0">
                <a:solidFill>
                  <a:srgbClr val="211C18"/>
                </a:solidFill>
                <a:latin typeface="Arial"/>
                <a:cs typeface="Arial"/>
              </a:rPr>
              <a:t>Phase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359" y="2355444"/>
            <a:ext cx="872767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109" y="2355444"/>
            <a:ext cx="1181593" cy="8699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5384" y="2355444"/>
            <a:ext cx="1195020" cy="8699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6559" y="3747331"/>
            <a:ext cx="886195" cy="86992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5914" y="391119"/>
            <a:ext cx="7901305" cy="101473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marR="5080">
              <a:lnSpc>
                <a:spcPts val="3640"/>
              </a:lnSpc>
              <a:spcBef>
                <a:spcPts val="645"/>
              </a:spcBef>
            </a:pPr>
            <a:r>
              <a:rPr sz="3450" spc="-50" dirty="0">
                <a:solidFill>
                  <a:srgbClr val="18130A"/>
                </a:solidFill>
              </a:rPr>
              <a:t>Cost</a:t>
            </a:r>
            <a:r>
              <a:rPr sz="3450" spc="-170" dirty="0">
                <a:solidFill>
                  <a:srgbClr val="18130A"/>
                </a:solidFill>
              </a:rPr>
              <a:t> </a:t>
            </a:r>
            <a:r>
              <a:rPr sz="3450" spc="-60" dirty="0">
                <a:solidFill>
                  <a:srgbClr val="18130A"/>
                </a:solidFill>
              </a:rPr>
              <a:t>Breakdown</a:t>
            </a:r>
            <a:r>
              <a:rPr sz="3450" spc="-155" dirty="0">
                <a:solidFill>
                  <a:srgbClr val="18130A"/>
                </a:solidFill>
              </a:rPr>
              <a:t> </a:t>
            </a:r>
            <a:r>
              <a:rPr sz="3450" spc="-20" dirty="0">
                <a:solidFill>
                  <a:srgbClr val="18130A"/>
                </a:solidFill>
              </a:rPr>
              <a:t>Structure</a:t>
            </a:r>
            <a:r>
              <a:rPr sz="3450" spc="-30" dirty="0">
                <a:solidFill>
                  <a:srgbClr val="18130A"/>
                </a:solidFill>
              </a:rPr>
              <a:t> </a:t>
            </a:r>
            <a:r>
              <a:rPr sz="3450" spc="-245" dirty="0">
                <a:solidFill>
                  <a:srgbClr val="18130A"/>
                </a:solidFill>
              </a:rPr>
              <a:t>(CBS)</a:t>
            </a:r>
            <a:r>
              <a:rPr sz="3450" spc="-20" dirty="0">
                <a:solidFill>
                  <a:srgbClr val="18130A"/>
                </a:solidFill>
              </a:rPr>
              <a:t> </a:t>
            </a:r>
            <a:r>
              <a:rPr sz="3450" dirty="0">
                <a:solidFill>
                  <a:srgbClr val="18130A"/>
                </a:solidFill>
              </a:rPr>
              <a:t>-</a:t>
            </a:r>
            <a:r>
              <a:rPr sz="3450" spc="-220" dirty="0">
                <a:solidFill>
                  <a:srgbClr val="18130A"/>
                </a:solidFill>
              </a:rPr>
              <a:t> </a:t>
            </a:r>
            <a:r>
              <a:rPr sz="3450" spc="-75" dirty="0">
                <a:solidFill>
                  <a:srgbClr val="18130A"/>
                </a:solidFill>
              </a:rPr>
              <a:t>Material </a:t>
            </a:r>
            <a:r>
              <a:rPr sz="3450" spc="-10" dirty="0">
                <a:solidFill>
                  <a:srgbClr val="18130A"/>
                </a:solidFill>
              </a:rPr>
              <a:t>Costs</a:t>
            </a:r>
            <a:endParaRPr sz="3450"/>
          </a:p>
        </p:txBody>
      </p:sp>
      <p:sp>
        <p:nvSpPr>
          <p:cNvPr id="7" name="object 7"/>
          <p:cNvSpPr txBox="1"/>
          <p:nvPr/>
        </p:nvSpPr>
        <p:spPr>
          <a:xfrm>
            <a:off x="1693123" y="2400321"/>
            <a:ext cx="1203325" cy="76644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15875" indent="3810">
              <a:lnSpc>
                <a:spcPts val="1900"/>
              </a:lnSpc>
              <a:spcBef>
                <a:spcPts val="234"/>
              </a:spcBef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Laptop</a:t>
            </a:r>
            <a:r>
              <a:rPr sz="1650" spc="13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2F281F"/>
                </a:solidFill>
                <a:latin typeface="Arial"/>
                <a:cs typeface="Arial"/>
              </a:rPr>
              <a:t>Cost </a:t>
            </a:r>
            <a:r>
              <a:rPr sz="1650" dirty="0">
                <a:solidFill>
                  <a:srgbClr val="2F281F"/>
                </a:solidFill>
                <a:latin typeface="Arial"/>
                <a:cs typeface="Arial"/>
              </a:rPr>
              <a:t>(5</a:t>
            </a:r>
            <a:r>
              <a:rPr sz="1650" spc="20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units):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200,000</a:t>
            </a:r>
            <a:r>
              <a:rPr sz="1650" spc="6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6070" y="4372440"/>
            <a:ext cx="29984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18130A"/>
                </a:solidFill>
                <a:latin typeface="Arial"/>
                <a:cs typeface="Arial"/>
              </a:rPr>
              <a:t>Based</a:t>
            </a:r>
            <a:r>
              <a:rPr sz="1350" spc="1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2F281F"/>
                </a:solidFill>
                <a:latin typeface="Arial"/>
                <a:cs typeface="Arial"/>
              </a:rPr>
              <a:t>on</a:t>
            </a:r>
            <a:r>
              <a:rPr sz="1350" spc="35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F281F"/>
                </a:solidFill>
                <a:latin typeface="Arial"/>
                <a:cs typeface="Arial"/>
              </a:rPr>
              <a:t>a</a:t>
            </a:r>
            <a:r>
              <a:rPr sz="1350" spc="10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F281F"/>
                </a:solidFill>
                <a:latin typeface="Arial"/>
                <a:cs typeface="Arial"/>
              </a:rPr>
              <a:t>3-month</a:t>
            </a:r>
            <a:r>
              <a:rPr sz="1350" spc="105" dirty="0">
                <a:solidFill>
                  <a:srgbClr val="2F281F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18130A"/>
                </a:solidFill>
                <a:latin typeface="Arial"/>
                <a:cs typeface="Arial"/>
              </a:rPr>
              <a:t>project</a:t>
            </a:r>
            <a:r>
              <a:rPr sz="1350" spc="18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18130A"/>
                </a:solidFill>
                <a:latin typeface="Arial"/>
                <a:cs typeface="Arial"/>
              </a:rPr>
              <a:t>duration</a:t>
            </a:r>
            <a:r>
              <a:rPr sz="1350" spc="-10" dirty="0">
                <a:solidFill>
                  <a:srgbClr val="544D42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6276" y="2400321"/>
            <a:ext cx="1268730" cy="76644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5240" marR="5080" indent="-635">
              <a:lnSpc>
                <a:spcPts val="1900"/>
              </a:lnSpc>
              <a:spcBef>
                <a:spcPts val="234"/>
              </a:spcBef>
            </a:pP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Internet</a:t>
            </a:r>
            <a:r>
              <a:rPr sz="1650" spc="14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0" dirty="0">
                <a:solidFill>
                  <a:srgbClr val="18130A"/>
                </a:solidFill>
                <a:latin typeface="Arial"/>
                <a:cs typeface="Arial"/>
              </a:rPr>
              <a:t>Cost </a:t>
            </a:r>
            <a:r>
              <a:rPr sz="1650" spc="60" dirty="0">
                <a:solidFill>
                  <a:srgbClr val="18130A"/>
                </a:solidFill>
                <a:latin typeface="Arial"/>
                <a:cs typeface="Arial"/>
              </a:rPr>
              <a:t>(3</a:t>
            </a:r>
            <a:r>
              <a:rPr sz="1650" spc="-10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months):</a:t>
            </a:r>
            <a:endParaRPr sz="1650" dirty="0">
              <a:latin typeface="Arial"/>
              <a:cs typeface="Arial"/>
            </a:endParaRPr>
          </a:p>
          <a:p>
            <a:pPr marL="12700">
              <a:lnSpc>
                <a:spcPts val="1895"/>
              </a:lnSpc>
            </a:pPr>
            <a:r>
              <a:rPr lang="en-IN" sz="1650" dirty="0">
                <a:solidFill>
                  <a:srgbClr val="18130A"/>
                </a:solidFill>
                <a:latin typeface="Arial"/>
                <a:cs typeface="Arial"/>
              </a:rPr>
              <a:t>2</a:t>
            </a: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,600</a:t>
            </a:r>
            <a:r>
              <a:rPr sz="1650" spc="2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8925" y="2520773"/>
            <a:ext cx="1494790" cy="51879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 indent="6985">
              <a:lnSpc>
                <a:spcPts val="1900"/>
              </a:lnSpc>
              <a:spcBef>
                <a:spcPts val="234"/>
              </a:spcBef>
            </a:pPr>
            <a:r>
              <a:rPr sz="1650" spc="-10" dirty="0">
                <a:solidFill>
                  <a:srgbClr val="18130A"/>
                </a:solidFill>
                <a:latin typeface="Arial"/>
                <a:cs typeface="Arial"/>
              </a:rPr>
              <a:t>Miscellaneous: </a:t>
            </a: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7,500</a:t>
            </a:r>
            <a:r>
              <a:rPr sz="1650" spc="3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29617" y="3912660"/>
            <a:ext cx="2007235" cy="5072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7780" marR="5080" indent="-5715">
              <a:lnSpc>
                <a:spcPct val="101099"/>
              </a:lnSpc>
              <a:spcBef>
                <a:spcPts val="80"/>
              </a:spcBef>
            </a:pPr>
            <a:r>
              <a:rPr sz="1650" spc="60" dirty="0">
                <a:solidFill>
                  <a:srgbClr val="18130A"/>
                </a:solidFill>
                <a:latin typeface="Arial"/>
                <a:cs typeface="Arial"/>
              </a:rPr>
              <a:t>Total</a:t>
            </a:r>
            <a:r>
              <a:rPr sz="1650" spc="-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65" dirty="0">
                <a:solidFill>
                  <a:srgbClr val="18130A"/>
                </a:solidFill>
                <a:latin typeface="Arial"/>
                <a:cs typeface="Arial"/>
              </a:rPr>
              <a:t>Material</a:t>
            </a:r>
            <a:r>
              <a:rPr sz="1650" spc="35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45" dirty="0">
                <a:solidFill>
                  <a:srgbClr val="18130A"/>
                </a:solidFill>
                <a:latin typeface="Arial"/>
                <a:cs typeface="Arial"/>
              </a:rPr>
              <a:t>Cost: </a:t>
            </a:r>
            <a:r>
              <a:rPr sz="1650" spc="55" dirty="0">
                <a:solidFill>
                  <a:srgbClr val="18130A"/>
                </a:solidFill>
                <a:latin typeface="Arial"/>
                <a:cs typeface="Arial"/>
              </a:rPr>
              <a:t>21</a:t>
            </a:r>
            <a:r>
              <a:rPr lang="en-IN" sz="1650" spc="55" dirty="0">
                <a:solidFill>
                  <a:srgbClr val="18130A"/>
                </a:solidFill>
                <a:latin typeface="Arial"/>
                <a:cs typeface="Arial"/>
              </a:rPr>
              <a:t>0</a:t>
            </a:r>
            <a:r>
              <a:rPr sz="1650" spc="55" dirty="0">
                <a:solidFill>
                  <a:srgbClr val="18130A"/>
                </a:solidFill>
                <a:latin typeface="Arial"/>
                <a:cs typeface="Arial"/>
              </a:rPr>
              <a:t>,100</a:t>
            </a:r>
            <a:r>
              <a:rPr sz="1650" dirty="0">
                <a:solidFill>
                  <a:srgbClr val="18130A"/>
                </a:solidFill>
                <a:latin typeface="Arial"/>
                <a:cs typeface="Arial"/>
              </a:rPr>
              <a:t> </a:t>
            </a:r>
            <a:r>
              <a:rPr sz="1650" spc="-25" dirty="0">
                <a:solidFill>
                  <a:srgbClr val="18130A"/>
                </a:solidFill>
                <a:latin typeface="Arial"/>
                <a:cs typeface="Arial"/>
              </a:rPr>
              <a:t>INR</a:t>
            </a:r>
            <a:endParaRPr sz="16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505" y="2355444"/>
            <a:ext cx="899622" cy="8699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01682" y="2342061"/>
            <a:ext cx="1195020" cy="88331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8811" y="2355444"/>
            <a:ext cx="1181593" cy="86992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7678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110"/>
              </a:spcBef>
            </a:pPr>
            <a:r>
              <a:rPr sz="3600" spc="-114" dirty="0">
                <a:solidFill>
                  <a:srgbClr val="110E07"/>
                </a:solidFill>
              </a:rPr>
              <a:t>Final</a:t>
            </a:r>
            <a:r>
              <a:rPr sz="3600" spc="-85" dirty="0">
                <a:solidFill>
                  <a:srgbClr val="110E07"/>
                </a:solidFill>
              </a:rPr>
              <a:t> </a:t>
            </a:r>
            <a:r>
              <a:rPr sz="3600" spc="-50" dirty="0">
                <a:solidFill>
                  <a:srgbClr val="110E07"/>
                </a:solidFill>
              </a:rPr>
              <a:t>Project</a:t>
            </a:r>
            <a:r>
              <a:rPr sz="3600" spc="-180" dirty="0">
                <a:solidFill>
                  <a:srgbClr val="110E07"/>
                </a:solidFill>
              </a:rPr>
              <a:t> </a:t>
            </a:r>
            <a:r>
              <a:rPr sz="3600" spc="-80" dirty="0">
                <a:solidFill>
                  <a:srgbClr val="110E07"/>
                </a:solidFill>
              </a:rPr>
              <a:t>Valuation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674036" y="2266486"/>
            <a:ext cx="1492885" cy="1012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ts val="1964"/>
              </a:lnSpc>
              <a:spcBef>
                <a:spcPts val="105"/>
              </a:spcBef>
            </a:pPr>
            <a:r>
              <a:rPr sz="1650" dirty="0">
                <a:solidFill>
                  <a:srgbClr val="110E07"/>
                </a:solidFill>
                <a:latin typeface="Arial"/>
                <a:cs typeface="Arial"/>
              </a:rPr>
              <a:t>Subtotal</a:t>
            </a:r>
            <a:r>
              <a:rPr sz="1650" spc="100" dirty="0">
                <a:solidFill>
                  <a:srgbClr val="110E07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10E07"/>
                </a:solidFill>
                <a:latin typeface="Arial"/>
                <a:cs typeface="Arial"/>
              </a:rPr>
              <a:t>(Labor</a:t>
            </a:r>
            <a:endParaRPr sz="1650">
              <a:latin typeface="Arial"/>
              <a:cs typeface="Arial"/>
            </a:endParaRPr>
          </a:p>
          <a:p>
            <a:pPr marL="13335" marR="170180" indent="-1270">
              <a:lnSpc>
                <a:spcPct val="98400"/>
              </a:lnSpc>
              <a:spcBef>
                <a:spcPts val="15"/>
              </a:spcBef>
            </a:pPr>
            <a:r>
              <a:rPr sz="1650" spc="90" dirty="0">
                <a:solidFill>
                  <a:srgbClr val="110E07"/>
                </a:solidFill>
                <a:latin typeface="Arial"/>
                <a:cs typeface="Arial"/>
              </a:rPr>
              <a:t>+Material+ </a:t>
            </a:r>
            <a:r>
              <a:rPr sz="1650" spc="-10" dirty="0">
                <a:solidFill>
                  <a:srgbClr val="110E07"/>
                </a:solidFill>
                <a:latin typeface="Arial"/>
                <a:cs typeface="Arial"/>
              </a:rPr>
              <a:t>Contingency): </a:t>
            </a:r>
            <a:r>
              <a:rPr sz="1600" b="1" spc="60" dirty="0">
                <a:solidFill>
                  <a:srgbClr val="5D312B"/>
                </a:solidFill>
                <a:latin typeface="Arial"/>
                <a:cs typeface="Arial"/>
              </a:rPr>
              <a:t>355,100</a:t>
            </a:r>
            <a:r>
              <a:rPr sz="1600" b="1" spc="-55" dirty="0">
                <a:solidFill>
                  <a:srgbClr val="5D312B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D312B"/>
                </a:solidFill>
                <a:latin typeface="Arial"/>
                <a:cs typeface="Arial"/>
              </a:rPr>
              <a:t>INR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4590" y="2400321"/>
            <a:ext cx="1497330" cy="771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64"/>
              </a:lnSpc>
              <a:spcBef>
                <a:spcPts val="105"/>
              </a:spcBef>
            </a:pPr>
            <a:r>
              <a:rPr sz="1650" dirty="0">
                <a:solidFill>
                  <a:srgbClr val="110E07"/>
                </a:solidFill>
                <a:latin typeface="Arial"/>
                <a:cs typeface="Arial"/>
              </a:rPr>
              <a:t>Company</a:t>
            </a:r>
            <a:r>
              <a:rPr sz="1650" spc="5" dirty="0">
                <a:solidFill>
                  <a:srgbClr val="110E07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10E07"/>
                </a:solidFill>
                <a:latin typeface="Arial"/>
                <a:cs typeface="Arial"/>
              </a:rPr>
              <a:t>Profit</a:t>
            </a:r>
            <a:endParaRPr sz="1650">
              <a:latin typeface="Arial"/>
              <a:cs typeface="Arial"/>
            </a:endParaRPr>
          </a:p>
          <a:p>
            <a:pPr marL="13335">
              <a:lnSpc>
                <a:spcPts val="2095"/>
              </a:lnSpc>
            </a:pPr>
            <a:r>
              <a:rPr sz="1850" spc="-10" dirty="0">
                <a:solidFill>
                  <a:srgbClr val="262118"/>
                </a:solidFill>
                <a:latin typeface="Times New Roman"/>
                <a:cs typeface="Times New Roman"/>
              </a:rPr>
              <a:t>(30%):</a:t>
            </a:r>
            <a:endParaRPr sz="1850">
              <a:latin typeface="Times New Roman"/>
              <a:cs typeface="Times New Roman"/>
            </a:endParaRPr>
          </a:p>
          <a:p>
            <a:pPr marL="13335">
              <a:lnSpc>
                <a:spcPts val="1910"/>
              </a:lnSpc>
            </a:pPr>
            <a:r>
              <a:rPr sz="1600" b="1" spc="50" dirty="0">
                <a:solidFill>
                  <a:srgbClr val="5D312B"/>
                </a:solidFill>
                <a:latin typeface="Arial"/>
                <a:cs typeface="Arial"/>
              </a:rPr>
              <a:t>106,530</a:t>
            </a:r>
            <a:r>
              <a:rPr sz="1600" b="1" spc="30" dirty="0">
                <a:solidFill>
                  <a:srgbClr val="5D312B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5D312B"/>
                </a:solidFill>
                <a:latin typeface="Arial"/>
                <a:cs typeface="Arial"/>
              </a:rPr>
              <a:t>INR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60697" y="2380246"/>
            <a:ext cx="1367155" cy="7969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-635">
              <a:lnSpc>
                <a:spcPct val="98700"/>
              </a:lnSpc>
              <a:spcBef>
                <a:spcPts val="130"/>
              </a:spcBef>
            </a:pPr>
            <a:r>
              <a:rPr sz="1650" dirty="0">
                <a:solidFill>
                  <a:srgbClr val="110E07"/>
                </a:solidFill>
                <a:latin typeface="Arial"/>
                <a:cs typeface="Arial"/>
              </a:rPr>
              <a:t>Total</a:t>
            </a:r>
            <a:r>
              <a:rPr sz="1650" spc="-30" dirty="0">
                <a:solidFill>
                  <a:srgbClr val="110E07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110E07"/>
                </a:solidFill>
                <a:latin typeface="Arial"/>
                <a:cs typeface="Arial"/>
              </a:rPr>
              <a:t>Project </a:t>
            </a:r>
            <a:r>
              <a:rPr sz="1650" spc="-10" dirty="0">
                <a:solidFill>
                  <a:srgbClr val="262118"/>
                </a:solidFill>
                <a:latin typeface="Arial"/>
                <a:cs typeface="Arial"/>
              </a:rPr>
              <a:t>Cost: </a:t>
            </a:r>
            <a:r>
              <a:rPr sz="1800" b="1" spc="60" dirty="0">
                <a:solidFill>
                  <a:srgbClr val="5D312B"/>
                </a:solidFill>
                <a:latin typeface="Arial"/>
                <a:cs typeface="Arial"/>
              </a:rPr>
              <a:t>461,630</a:t>
            </a:r>
            <a:r>
              <a:rPr sz="1800" b="1" spc="-30" dirty="0">
                <a:solidFill>
                  <a:srgbClr val="5D312B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5D312B"/>
                </a:solidFill>
                <a:latin typeface="Arial"/>
                <a:cs typeface="Arial"/>
              </a:rPr>
              <a:t>INR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2643" y="4379132"/>
            <a:ext cx="300545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262118"/>
                </a:solidFill>
                <a:latin typeface="Arial"/>
                <a:cs typeface="Arial"/>
              </a:rPr>
              <a:t>Based</a:t>
            </a:r>
            <a:r>
              <a:rPr sz="1350" spc="25" dirty="0">
                <a:solidFill>
                  <a:srgbClr val="262118"/>
                </a:solidFill>
                <a:latin typeface="Arial"/>
                <a:cs typeface="Arial"/>
              </a:rPr>
              <a:t> </a:t>
            </a:r>
            <a:r>
              <a:rPr sz="1350" spc="70" dirty="0">
                <a:solidFill>
                  <a:srgbClr val="262118"/>
                </a:solidFill>
                <a:latin typeface="Arial"/>
                <a:cs typeface="Arial"/>
              </a:rPr>
              <a:t>on</a:t>
            </a:r>
            <a:r>
              <a:rPr sz="1350" spc="45" dirty="0">
                <a:solidFill>
                  <a:srgbClr val="262118"/>
                </a:solidFill>
                <a:latin typeface="Arial"/>
                <a:cs typeface="Arial"/>
              </a:rPr>
              <a:t> </a:t>
            </a:r>
            <a:r>
              <a:rPr sz="1350" spc="75" dirty="0">
                <a:solidFill>
                  <a:srgbClr val="262118"/>
                </a:solidFill>
                <a:latin typeface="Arial"/>
                <a:cs typeface="Arial"/>
              </a:rPr>
              <a:t>a</a:t>
            </a:r>
            <a:r>
              <a:rPr sz="1350" spc="95" dirty="0">
                <a:solidFill>
                  <a:srgbClr val="262118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3B342A"/>
                </a:solidFill>
                <a:latin typeface="Arial"/>
                <a:cs typeface="Arial"/>
              </a:rPr>
              <a:t>3-mont</a:t>
            </a:r>
            <a:r>
              <a:rPr sz="1350" dirty="0">
                <a:solidFill>
                  <a:srgbClr val="110E07"/>
                </a:solidFill>
                <a:latin typeface="Arial"/>
                <a:cs typeface="Arial"/>
              </a:rPr>
              <a:t>h</a:t>
            </a:r>
            <a:r>
              <a:rPr sz="1350" spc="114" dirty="0">
                <a:solidFill>
                  <a:srgbClr val="110E07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262118"/>
                </a:solidFill>
                <a:latin typeface="Arial"/>
                <a:cs typeface="Arial"/>
              </a:rPr>
              <a:t>project</a:t>
            </a:r>
            <a:r>
              <a:rPr sz="1350" spc="140" dirty="0">
                <a:solidFill>
                  <a:srgbClr val="262118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62118"/>
                </a:solidFill>
                <a:latin typeface="Arial"/>
                <a:cs typeface="Arial"/>
              </a:rPr>
              <a:t>duration</a:t>
            </a:r>
            <a:r>
              <a:rPr sz="1350" spc="-10" dirty="0">
                <a:solidFill>
                  <a:srgbClr val="544941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078" y="2342061"/>
            <a:ext cx="899622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081" y="2342061"/>
            <a:ext cx="899622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899622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53502" y="2342061"/>
            <a:ext cx="899622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124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sz="3400" spc="-65" dirty="0">
                <a:solidFill>
                  <a:srgbClr val="130E08"/>
                </a:solidFill>
              </a:rPr>
              <a:t>Risk</a:t>
            </a:r>
            <a:r>
              <a:rPr sz="3400" spc="-150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Analysis</a:t>
            </a:r>
            <a:r>
              <a:rPr sz="3400" spc="-105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-</a:t>
            </a:r>
            <a:r>
              <a:rPr sz="3400" spc="-300" dirty="0">
                <a:solidFill>
                  <a:srgbClr val="130E08"/>
                </a:solidFill>
              </a:rPr>
              <a:t> </a:t>
            </a:r>
            <a:r>
              <a:rPr sz="3400" dirty="0">
                <a:solidFill>
                  <a:srgbClr val="130E08"/>
                </a:solidFill>
              </a:rPr>
              <a:t>Technical</a:t>
            </a:r>
            <a:r>
              <a:rPr sz="3400" spc="-5" dirty="0">
                <a:solidFill>
                  <a:srgbClr val="130E08"/>
                </a:solidFill>
              </a:rPr>
              <a:t> </a:t>
            </a:r>
            <a:r>
              <a:rPr sz="3350" spc="-229" dirty="0">
                <a:solidFill>
                  <a:srgbClr val="130E08"/>
                </a:solidFill>
              </a:rPr>
              <a:t>&amp;</a:t>
            </a:r>
            <a:r>
              <a:rPr sz="3350" spc="-240" dirty="0">
                <a:solidFill>
                  <a:srgbClr val="130E08"/>
                </a:solidFill>
              </a:rPr>
              <a:t> </a:t>
            </a:r>
            <a:r>
              <a:rPr sz="3400" spc="-10" dirty="0">
                <a:solidFill>
                  <a:srgbClr val="130E08"/>
                </a:solidFill>
              </a:rPr>
              <a:t>Schedule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1646346" y="1732032"/>
            <a:ext cx="1657985" cy="337820"/>
          </a:xfrm>
          <a:prstGeom prst="rect">
            <a:avLst/>
          </a:prstGeom>
          <a:solidFill>
            <a:srgbClr val="181107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80" dirty="0">
                <a:solidFill>
                  <a:srgbClr val="E9E2D6"/>
                </a:solidFill>
                <a:latin typeface="Arial"/>
                <a:cs typeface="Arial"/>
              </a:rPr>
              <a:t>Technical</a:t>
            </a:r>
            <a:r>
              <a:rPr sz="1850" b="1" spc="15" dirty="0">
                <a:solidFill>
                  <a:srgbClr val="E9E2D6"/>
                </a:solidFill>
                <a:latin typeface="Arial"/>
                <a:cs typeface="Arial"/>
              </a:rPr>
              <a:t> </a:t>
            </a:r>
            <a:r>
              <a:rPr sz="1850" b="1" spc="-70" dirty="0">
                <a:solidFill>
                  <a:srgbClr val="E9E2D6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7352" y="2533831"/>
            <a:ext cx="1217930" cy="5111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 indent="-635">
              <a:lnSpc>
                <a:spcPts val="1900"/>
              </a:lnSpc>
              <a:spcBef>
                <a:spcPts val="185"/>
              </a:spcBef>
            </a:pP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Browser compatibility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4630" y="2533831"/>
            <a:ext cx="25717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5" dirty="0">
                <a:solidFill>
                  <a:srgbClr val="52261F"/>
                </a:solidFill>
                <a:latin typeface="Arial"/>
                <a:cs typeface="Arial"/>
              </a:rPr>
              <a:t>_,.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4107" y="1732032"/>
            <a:ext cx="1594485" cy="337820"/>
          </a:xfrm>
          <a:prstGeom prst="rect">
            <a:avLst/>
          </a:prstGeom>
          <a:solidFill>
            <a:srgbClr val="181107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95" dirty="0">
                <a:solidFill>
                  <a:srgbClr val="E9E2D6"/>
                </a:solidFill>
                <a:latin typeface="Arial"/>
                <a:cs typeface="Arial"/>
              </a:rPr>
              <a:t>Schedule</a:t>
            </a:r>
            <a:r>
              <a:rPr sz="1850" b="1" spc="10" dirty="0">
                <a:solidFill>
                  <a:srgbClr val="E9E2D6"/>
                </a:solidFill>
                <a:latin typeface="Arial"/>
                <a:cs typeface="Arial"/>
              </a:rPr>
              <a:t> </a:t>
            </a:r>
            <a:r>
              <a:rPr sz="1850" b="1" spc="-95" dirty="0">
                <a:solidFill>
                  <a:srgbClr val="E9E2D6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46409" y="2420071"/>
            <a:ext cx="145859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lnSpc>
                <a:spcPct val="100200"/>
              </a:lnSpc>
              <a:spcBef>
                <a:spcPts val="100"/>
              </a:spcBef>
              <a:tabLst>
                <a:tab pos="1207135" algn="l"/>
              </a:tabLst>
            </a:pP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Delays</a:t>
            </a:r>
            <a:r>
              <a:rPr sz="1600" spc="-25" dirty="0">
                <a:solidFill>
                  <a:srgbClr val="130E08"/>
                </a:solidFill>
                <a:latin typeface="Arial"/>
                <a:cs typeface="Arial"/>
              </a:rPr>
              <a:t> </a:t>
            </a:r>
            <a:r>
              <a:rPr sz="1600" spc="50" dirty="0">
                <a:solidFill>
                  <a:srgbClr val="130E08"/>
                </a:solidFill>
                <a:latin typeface="Arial"/>
                <a:cs typeface="Arial"/>
              </a:rPr>
              <a:t>from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technical</a:t>
            </a: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52261F"/>
                </a:solidFill>
                <a:latin typeface="Arial"/>
                <a:cs typeface="Arial"/>
              </a:rPr>
              <a:t>_,.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challenges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7096" y="3370301"/>
            <a:ext cx="1193800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8279" marR="5080" indent="-196215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Requirement </a:t>
            </a:r>
            <a:r>
              <a:rPr sz="1600" spc="-10" dirty="0">
                <a:solidFill>
                  <a:srgbClr val="2A231A"/>
                </a:solidFill>
                <a:latin typeface="Arial"/>
                <a:cs typeface="Arial"/>
              </a:rPr>
              <a:t>changes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4230" y="3370301"/>
            <a:ext cx="1243965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9230" marR="5080" indent="-177165">
              <a:lnSpc>
                <a:spcPct val="101499"/>
              </a:lnSpc>
              <a:spcBef>
                <a:spcPts val="75"/>
              </a:spcBef>
            </a:pPr>
            <a:r>
              <a:rPr sz="1600" dirty="0">
                <a:solidFill>
                  <a:srgbClr val="130E08"/>
                </a:solidFill>
                <a:latin typeface="Arial"/>
                <a:cs typeface="Arial"/>
              </a:rPr>
              <a:t>Data</a:t>
            </a:r>
            <a:r>
              <a:rPr sz="1600" spc="-45" dirty="0">
                <a:solidFill>
                  <a:srgbClr val="130E08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130E08"/>
                </a:solidFill>
                <a:latin typeface="Arial"/>
                <a:cs typeface="Arial"/>
              </a:rPr>
              <a:t>security breaches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2036" y="4386149"/>
            <a:ext cx="3010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A231A"/>
                </a:solidFill>
                <a:latin typeface="Arial"/>
                <a:cs typeface="Arial"/>
              </a:rPr>
              <a:t>Based</a:t>
            </a:r>
            <a:r>
              <a:rPr sz="1400" spc="15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3D362B"/>
                </a:solidFill>
                <a:latin typeface="Arial"/>
                <a:cs typeface="Arial"/>
              </a:rPr>
              <a:t>on</a:t>
            </a:r>
            <a:r>
              <a:rPr sz="1400" spc="-45" dirty="0">
                <a:solidFill>
                  <a:srgbClr val="3D362B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2A231A"/>
                </a:solidFill>
                <a:latin typeface="Arial"/>
                <a:cs typeface="Arial"/>
              </a:rPr>
              <a:t>a</a:t>
            </a:r>
            <a:r>
              <a:rPr sz="1400" spc="-30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D362B"/>
                </a:solidFill>
                <a:latin typeface="Arial"/>
                <a:cs typeface="Arial"/>
              </a:rPr>
              <a:t>3-month</a:t>
            </a:r>
            <a:r>
              <a:rPr sz="1400" spc="-40" dirty="0">
                <a:solidFill>
                  <a:srgbClr val="3D362B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A231A"/>
                </a:solidFill>
                <a:latin typeface="Arial"/>
                <a:cs typeface="Arial"/>
              </a:rPr>
              <a:t>project</a:t>
            </a:r>
            <a:r>
              <a:rPr sz="1400" spc="105" dirty="0">
                <a:solidFill>
                  <a:srgbClr val="2A231A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A231A"/>
                </a:solidFill>
                <a:latin typeface="Arial"/>
                <a:cs typeface="Arial"/>
              </a:rPr>
              <a:t>duration.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223" y="2342061"/>
            <a:ext cx="899622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0837" y="2342061"/>
            <a:ext cx="1302438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899622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80356" y="2342061"/>
            <a:ext cx="899622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5741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5"/>
              </a:spcBef>
            </a:pPr>
            <a:r>
              <a:rPr sz="3400" spc="-35" dirty="0">
                <a:solidFill>
                  <a:srgbClr val="211A11"/>
                </a:solidFill>
              </a:rPr>
              <a:t>Risk</a:t>
            </a:r>
            <a:r>
              <a:rPr sz="3400" spc="-95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Analysis</a:t>
            </a:r>
            <a:r>
              <a:rPr sz="3400" spc="25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-</a:t>
            </a:r>
            <a:r>
              <a:rPr sz="3400" spc="-260" dirty="0">
                <a:solidFill>
                  <a:srgbClr val="211A11"/>
                </a:solidFill>
              </a:rPr>
              <a:t> </a:t>
            </a:r>
            <a:r>
              <a:rPr sz="3400" dirty="0">
                <a:solidFill>
                  <a:srgbClr val="211A11"/>
                </a:solidFill>
              </a:rPr>
              <a:t>Cost</a:t>
            </a:r>
            <a:r>
              <a:rPr sz="3400" spc="-135" dirty="0">
                <a:solidFill>
                  <a:srgbClr val="211A11"/>
                </a:solidFill>
              </a:rPr>
              <a:t> </a:t>
            </a:r>
            <a:r>
              <a:rPr sz="3350" spc="-229" dirty="0">
                <a:solidFill>
                  <a:srgbClr val="211A11"/>
                </a:solidFill>
              </a:rPr>
              <a:t>&amp;</a:t>
            </a:r>
            <a:r>
              <a:rPr sz="3350" spc="-300" dirty="0">
                <a:solidFill>
                  <a:srgbClr val="211A11"/>
                </a:solidFill>
              </a:rPr>
              <a:t> </a:t>
            </a:r>
            <a:r>
              <a:rPr sz="3400" spc="-10" dirty="0">
                <a:solidFill>
                  <a:srgbClr val="211A11"/>
                </a:solidFill>
              </a:rPr>
              <a:t>Organizational</a:t>
            </a:r>
            <a:endParaRPr sz="3400"/>
          </a:p>
        </p:txBody>
      </p:sp>
      <p:sp>
        <p:nvSpPr>
          <p:cNvPr id="7" name="object 7"/>
          <p:cNvSpPr txBox="1"/>
          <p:nvPr/>
        </p:nvSpPr>
        <p:spPr>
          <a:xfrm>
            <a:off x="1909282" y="1732062"/>
            <a:ext cx="1099820" cy="328295"/>
          </a:xfrm>
          <a:prstGeom prst="rect">
            <a:avLst/>
          </a:prstGeom>
          <a:solidFill>
            <a:srgbClr val="1C1308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90" dirty="0">
                <a:solidFill>
                  <a:srgbClr val="E4DBCF"/>
                </a:solidFill>
                <a:latin typeface="Arial"/>
                <a:cs typeface="Arial"/>
              </a:rPr>
              <a:t>Cost</a:t>
            </a:r>
            <a:r>
              <a:rPr sz="1800" b="1" spc="-35" dirty="0">
                <a:solidFill>
                  <a:srgbClr val="E4DBCF"/>
                </a:solidFill>
                <a:latin typeface="Arial"/>
                <a:cs typeface="Arial"/>
              </a:rPr>
              <a:t> </a:t>
            </a:r>
            <a:r>
              <a:rPr sz="1800" b="1" spc="-75" dirty="0">
                <a:solidFill>
                  <a:srgbClr val="E4DBCF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11958" y="2533831"/>
            <a:ext cx="844550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5080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Budget overruns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54103" y="3383686"/>
            <a:ext cx="1148715" cy="7651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8895" marR="5080" indent="-36830" algn="just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Unexpected operational expenses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181" y="4406224"/>
            <a:ext cx="30245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11A11"/>
                </a:solidFill>
                <a:latin typeface="Arial"/>
                <a:cs typeface="Arial"/>
              </a:rPr>
              <a:t>Based</a:t>
            </a:r>
            <a:r>
              <a:rPr sz="1400" spc="50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383126"/>
                </a:solidFill>
                <a:latin typeface="Arial"/>
                <a:cs typeface="Arial"/>
              </a:rPr>
              <a:t>on</a:t>
            </a:r>
            <a:r>
              <a:rPr sz="1400" spc="-95" dirty="0">
                <a:solidFill>
                  <a:srgbClr val="38312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211A11"/>
                </a:solidFill>
                <a:latin typeface="Arial"/>
                <a:cs typeface="Arial"/>
              </a:rPr>
              <a:t>a</a:t>
            </a:r>
            <a:r>
              <a:rPr sz="1400" spc="-5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83126"/>
                </a:solidFill>
                <a:latin typeface="Arial"/>
                <a:cs typeface="Arial"/>
              </a:rPr>
              <a:t>3-month </a:t>
            </a:r>
            <a:r>
              <a:rPr sz="1400" dirty="0">
                <a:solidFill>
                  <a:srgbClr val="211A11"/>
                </a:solidFill>
                <a:latin typeface="Arial"/>
                <a:cs typeface="Arial"/>
              </a:rPr>
              <a:t>project</a:t>
            </a:r>
            <a:r>
              <a:rPr sz="1400" spc="105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11A11"/>
                </a:solidFill>
                <a:latin typeface="Arial"/>
                <a:cs typeface="Arial"/>
              </a:rPr>
              <a:t>duration.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10801" y="1732062"/>
            <a:ext cx="2125980" cy="328295"/>
          </a:xfrm>
          <a:prstGeom prst="rect">
            <a:avLst/>
          </a:prstGeom>
          <a:solidFill>
            <a:srgbClr val="1C1308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00" b="1" spc="-65" dirty="0">
                <a:solidFill>
                  <a:srgbClr val="E4DBCF"/>
                </a:solidFill>
                <a:latin typeface="Arial"/>
                <a:cs typeface="Arial"/>
              </a:rPr>
              <a:t>Organizational</a:t>
            </a:r>
            <a:r>
              <a:rPr sz="1800" b="1" spc="-55" dirty="0">
                <a:solidFill>
                  <a:srgbClr val="E4DBCF"/>
                </a:solidFill>
                <a:latin typeface="Arial"/>
                <a:cs typeface="Arial"/>
              </a:rPr>
              <a:t> </a:t>
            </a:r>
            <a:r>
              <a:rPr sz="1800" b="1" spc="-45" dirty="0">
                <a:solidFill>
                  <a:srgbClr val="E4DBCF"/>
                </a:solidFill>
                <a:latin typeface="Arial"/>
                <a:cs typeface="Arial"/>
              </a:rPr>
              <a:t>Risks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60795" y="2420071"/>
            <a:ext cx="1406525" cy="7651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335" marR="5080" indent="-1270">
              <a:lnSpc>
                <a:spcPct val="101499"/>
              </a:lnSpc>
              <a:spcBef>
                <a:spcPts val="75"/>
              </a:spcBef>
              <a:tabLst>
                <a:tab pos="1212850" algn="l"/>
              </a:tabLst>
            </a:pPr>
            <a:r>
              <a:rPr sz="1600" dirty="0">
                <a:solidFill>
                  <a:srgbClr val="211A11"/>
                </a:solidFill>
                <a:latin typeface="Arial"/>
                <a:cs typeface="Arial"/>
              </a:rPr>
              <a:t>Poor</a:t>
            </a:r>
            <a:r>
              <a:rPr sz="1600" spc="100" dirty="0">
                <a:solidFill>
                  <a:srgbClr val="211A11"/>
                </a:solidFill>
                <a:latin typeface="Arial"/>
                <a:cs typeface="Arial"/>
              </a:rPr>
              <a:t> </a:t>
            </a:r>
            <a:r>
              <a:rPr sz="1600" spc="40" dirty="0">
                <a:solidFill>
                  <a:srgbClr val="211A11"/>
                </a:solidFill>
                <a:latin typeface="Arial"/>
                <a:cs typeface="Arial"/>
              </a:rPr>
              <a:t>team communi-</a:t>
            </a:r>
            <a:r>
              <a:rPr sz="1600" dirty="0">
                <a:solidFill>
                  <a:srgbClr val="211A11"/>
                </a:solidFill>
                <a:latin typeface="Arial"/>
                <a:cs typeface="Arial"/>
              </a:rPr>
              <a:t>	</a:t>
            </a:r>
            <a:r>
              <a:rPr sz="1600" spc="-25" dirty="0">
                <a:solidFill>
                  <a:srgbClr val="4F281F"/>
                </a:solidFill>
                <a:latin typeface="Arial"/>
                <a:cs typeface="Arial"/>
              </a:rPr>
              <a:t>_. </a:t>
            </a:r>
            <a:r>
              <a:rPr sz="1600" spc="40" dirty="0">
                <a:solidFill>
                  <a:srgbClr val="211A11"/>
                </a:solidFill>
                <a:latin typeface="Arial"/>
                <a:cs typeface="Arial"/>
              </a:rPr>
              <a:t>cation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50836" y="3383686"/>
            <a:ext cx="1127125" cy="5175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4625" marR="5080" indent="-162560">
              <a:lnSpc>
                <a:spcPct val="101499"/>
              </a:lnSpc>
              <a:spcBef>
                <a:spcPts val="75"/>
              </a:spcBef>
            </a:pPr>
            <a:r>
              <a:rPr sz="1600" spc="-10" dirty="0">
                <a:solidFill>
                  <a:srgbClr val="211A11"/>
                </a:solidFill>
                <a:latin typeface="Arial"/>
                <a:cs typeface="Arial"/>
              </a:rPr>
              <a:t>Stakeholder changes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369" y="2342061"/>
            <a:ext cx="913049" cy="8966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7410" y="2342061"/>
            <a:ext cx="1315866" cy="896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48625" y="2342061"/>
            <a:ext cx="913049" cy="8966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3784" y="2342061"/>
            <a:ext cx="913049" cy="896696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259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10"/>
              </a:spcBef>
            </a:pPr>
            <a:r>
              <a:rPr sz="3500" spc="-105" dirty="0">
                <a:solidFill>
                  <a:srgbClr val="211A0F"/>
                </a:solidFill>
              </a:rPr>
              <a:t>Risk</a:t>
            </a:r>
            <a:r>
              <a:rPr sz="3500" spc="-114" dirty="0">
                <a:solidFill>
                  <a:srgbClr val="211A0F"/>
                </a:solidFill>
              </a:rPr>
              <a:t> </a:t>
            </a:r>
            <a:r>
              <a:rPr sz="3500" spc="-10" dirty="0">
                <a:solidFill>
                  <a:srgbClr val="211A0F"/>
                </a:solidFill>
              </a:rPr>
              <a:t>Analysis</a:t>
            </a:r>
            <a:r>
              <a:rPr sz="3500" spc="-80" dirty="0">
                <a:solidFill>
                  <a:srgbClr val="211A0F"/>
                </a:solidFill>
              </a:rPr>
              <a:t> </a:t>
            </a:r>
            <a:r>
              <a:rPr sz="3500" dirty="0">
                <a:solidFill>
                  <a:srgbClr val="312A1F"/>
                </a:solidFill>
              </a:rPr>
              <a:t>-</a:t>
            </a:r>
            <a:r>
              <a:rPr sz="3500" spc="-220" dirty="0">
                <a:solidFill>
                  <a:srgbClr val="312A1F"/>
                </a:solidFill>
              </a:rPr>
              <a:t> </a:t>
            </a:r>
            <a:r>
              <a:rPr sz="3500" dirty="0">
                <a:solidFill>
                  <a:srgbClr val="211A0F"/>
                </a:solidFill>
              </a:rPr>
              <a:t>People</a:t>
            </a:r>
            <a:r>
              <a:rPr sz="3500" spc="-114" dirty="0">
                <a:solidFill>
                  <a:srgbClr val="211A0F"/>
                </a:solidFill>
              </a:rPr>
              <a:t> </a:t>
            </a:r>
            <a:r>
              <a:rPr sz="3400" spc="-204" dirty="0">
                <a:solidFill>
                  <a:srgbClr val="211A0F"/>
                </a:solidFill>
              </a:rPr>
              <a:t>&amp;</a:t>
            </a:r>
            <a:r>
              <a:rPr sz="3400" spc="-265" dirty="0">
                <a:solidFill>
                  <a:srgbClr val="211A0F"/>
                </a:solidFill>
              </a:rPr>
              <a:t> </a:t>
            </a:r>
            <a:r>
              <a:rPr sz="3500" spc="-10" dirty="0">
                <a:solidFill>
                  <a:srgbClr val="211A0F"/>
                </a:solidFill>
              </a:rPr>
              <a:t>Business</a:t>
            </a:r>
            <a:endParaRPr sz="3500"/>
          </a:p>
        </p:txBody>
      </p:sp>
      <p:sp>
        <p:nvSpPr>
          <p:cNvPr id="7" name="object 7"/>
          <p:cNvSpPr txBox="1"/>
          <p:nvPr/>
        </p:nvSpPr>
        <p:spPr>
          <a:xfrm>
            <a:off x="1761851" y="1718649"/>
            <a:ext cx="1374140" cy="337820"/>
          </a:xfrm>
          <a:prstGeom prst="rect">
            <a:avLst/>
          </a:prstGeom>
          <a:solidFill>
            <a:srgbClr val="1F160A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80" dirty="0">
                <a:solidFill>
                  <a:srgbClr val="DDD3C8"/>
                </a:solidFill>
                <a:latin typeface="Arial"/>
                <a:cs typeface="Arial"/>
              </a:rPr>
              <a:t>People</a:t>
            </a:r>
            <a:r>
              <a:rPr sz="1850" b="1" spc="-25" dirty="0">
                <a:solidFill>
                  <a:srgbClr val="DDD3C8"/>
                </a:solidFill>
                <a:latin typeface="Arial"/>
                <a:cs typeface="Arial"/>
              </a:rPr>
              <a:t> </a:t>
            </a:r>
            <a:r>
              <a:rPr sz="1850" b="1" spc="-65" dirty="0">
                <a:solidFill>
                  <a:srgbClr val="DDD3C8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2588" y="2654283"/>
            <a:ext cx="932815" cy="2698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solidFill>
                  <a:srgbClr val="211A0F"/>
                </a:solidFill>
                <a:latin typeface="Arial"/>
                <a:cs typeface="Arial"/>
              </a:rPr>
              <a:t>Skill</a:t>
            </a:r>
            <a:r>
              <a:rPr sz="1600" spc="120" dirty="0">
                <a:solidFill>
                  <a:srgbClr val="211A0F"/>
                </a:solidFill>
                <a:latin typeface="Arial"/>
                <a:cs typeface="Arial"/>
              </a:rPr>
              <a:t> </a:t>
            </a:r>
            <a:r>
              <a:rPr sz="1600" spc="-20" dirty="0">
                <a:solidFill>
                  <a:srgbClr val="312A1F"/>
                </a:solidFill>
                <a:latin typeface="Arial"/>
                <a:cs typeface="Arial"/>
              </a:rPr>
              <a:t>gaps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85408" y="1725341"/>
            <a:ext cx="1602740" cy="337820"/>
          </a:xfrm>
          <a:prstGeom prst="rect">
            <a:avLst/>
          </a:prstGeom>
          <a:solidFill>
            <a:srgbClr val="1F160A"/>
          </a:solidFill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850" b="1" spc="-114" dirty="0">
                <a:solidFill>
                  <a:srgbClr val="DDD3C8"/>
                </a:solidFill>
                <a:latin typeface="Arial"/>
                <a:cs typeface="Arial"/>
              </a:rPr>
              <a:t>Business</a:t>
            </a:r>
            <a:r>
              <a:rPr sz="1850" b="1" spc="35" dirty="0">
                <a:solidFill>
                  <a:srgbClr val="DDD3C8"/>
                </a:solidFill>
                <a:latin typeface="Arial"/>
                <a:cs typeface="Arial"/>
              </a:rPr>
              <a:t> </a:t>
            </a:r>
            <a:r>
              <a:rPr sz="1850" b="1" spc="-60" dirty="0">
                <a:solidFill>
                  <a:srgbClr val="DDD3C8"/>
                </a:solidFill>
                <a:latin typeface="Arial"/>
                <a:cs typeface="Arial"/>
              </a:rPr>
              <a:t>Risks</a:t>
            </a:r>
            <a:endParaRPr sz="1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7917" y="2553906"/>
            <a:ext cx="1445260" cy="4908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indent="-635">
              <a:lnSpc>
                <a:spcPts val="1739"/>
              </a:lnSpc>
              <a:spcBef>
                <a:spcPts val="310"/>
              </a:spcBef>
              <a:tabLst>
                <a:tab pos="1219200" algn="l"/>
              </a:tabLst>
            </a:pPr>
            <a:r>
              <a:rPr sz="1600" spc="165" dirty="0">
                <a:solidFill>
                  <a:srgbClr val="211A0F"/>
                </a:solidFill>
                <a:latin typeface="Arial"/>
                <a:cs typeface="Arial"/>
              </a:rPr>
              <a:t>Market</a:t>
            </a:r>
            <a:r>
              <a:rPr sz="1600" spc="165" dirty="0">
                <a:solidFill>
                  <a:srgbClr val="423B2D"/>
                </a:solidFill>
                <a:latin typeface="Arial"/>
                <a:cs typeface="Arial"/>
              </a:rPr>
              <a:t>..</a:t>
            </a:r>
            <a:r>
              <a:rPr sz="1600" dirty="0">
                <a:solidFill>
                  <a:srgbClr val="423B2D"/>
                </a:solidFill>
                <a:latin typeface="Arial"/>
                <a:cs typeface="Arial"/>
              </a:rPr>
              <a:t>	</a:t>
            </a:r>
            <a:r>
              <a:rPr sz="1600" spc="135" dirty="0">
                <a:solidFill>
                  <a:srgbClr val="522B24"/>
                </a:solidFill>
                <a:latin typeface="Arial"/>
                <a:cs typeface="Arial"/>
              </a:rPr>
              <a:t>_. </a:t>
            </a:r>
            <a:r>
              <a:rPr sz="1600" spc="-10" dirty="0">
                <a:solidFill>
                  <a:srgbClr val="312A1F"/>
                </a:solidFill>
                <a:latin typeface="Arial"/>
                <a:cs typeface="Arial"/>
              </a:rPr>
              <a:t>competIt1on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4563" y="3383686"/>
            <a:ext cx="1401445" cy="5245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91440" marR="5080" indent="-79375">
              <a:lnSpc>
                <a:spcPct val="104299"/>
              </a:lnSpc>
              <a:spcBef>
                <a:spcPts val="20"/>
              </a:spcBef>
            </a:pPr>
            <a:r>
              <a:rPr sz="1600" dirty="0">
                <a:solidFill>
                  <a:srgbClr val="312A1F"/>
                </a:solidFill>
                <a:latin typeface="Arial"/>
                <a:cs typeface="Arial"/>
              </a:rPr>
              <a:t>Team</a:t>
            </a:r>
            <a:r>
              <a:rPr sz="1600" spc="70" dirty="0">
                <a:solidFill>
                  <a:srgbClr val="312A1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member unavailability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4655" y="3383686"/>
            <a:ext cx="1043940" cy="52451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1285" marR="5080" indent="-109220">
              <a:lnSpc>
                <a:spcPct val="104299"/>
              </a:lnSpc>
              <a:spcBef>
                <a:spcPts val="20"/>
              </a:spcBef>
            </a:pP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Regulatory </a:t>
            </a:r>
            <a:r>
              <a:rPr sz="1600" spc="-10" dirty="0">
                <a:solidFill>
                  <a:srgbClr val="423B2D"/>
                </a:solidFill>
                <a:latin typeface="Arial"/>
                <a:cs typeface="Arial"/>
              </a:rPr>
              <a:t>c</a:t>
            </a:r>
            <a:r>
              <a:rPr sz="1600" spc="-10" dirty="0">
                <a:solidFill>
                  <a:srgbClr val="211A0F"/>
                </a:solidFill>
                <a:latin typeface="Arial"/>
                <a:cs typeface="Arial"/>
              </a:rPr>
              <a:t>hange</a:t>
            </a:r>
            <a:r>
              <a:rPr sz="1600" spc="-10" dirty="0">
                <a:solidFill>
                  <a:srgbClr val="423B2D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08" y="4400183"/>
            <a:ext cx="306578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60" dirty="0">
                <a:solidFill>
                  <a:srgbClr val="312A1F"/>
                </a:solidFill>
                <a:latin typeface="Arial"/>
                <a:cs typeface="Arial"/>
              </a:rPr>
              <a:t>Based</a:t>
            </a:r>
            <a:r>
              <a:rPr sz="1500" spc="-45" dirty="0">
                <a:solidFill>
                  <a:srgbClr val="312A1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23B2D"/>
                </a:solidFill>
                <a:latin typeface="Arial"/>
                <a:cs typeface="Arial"/>
              </a:rPr>
              <a:t>on</a:t>
            </a:r>
            <a:r>
              <a:rPr sz="1500" spc="-12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23B2D"/>
                </a:solidFill>
                <a:latin typeface="Arial"/>
                <a:cs typeface="Arial"/>
              </a:rPr>
              <a:t>a</a:t>
            </a:r>
            <a:r>
              <a:rPr sz="1500" spc="-16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423B2D"/>
                </a:solidFill>
                <a:latin typeface="Arial"/>
                <a:cs typeface="Arial"/>
              </a:rPr>
              <a:t>3-</a:t>
            </a:r>
            <a:r>
              <a:rPr sz="1500" spc="-20" dirty="0">
                <a:solidFill>
                  <a:srgbClr val="423B2D"/>
                </a:solidFill>
                <a:latin typeface="Arial"/>
                <a:cs typeface="Arial"/>
              </a:rPr>
              <a:t>month</a:t>
            </a:r>
            <a:r>
              <a:rPr sz="1500" spc="-85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23B2D"/>
                </a:solidFill>
                <a:latin typeface="Arial"/>
                <a:cs typeface="Arial"/>
              </a:rPr>
              <a:t>project</a:t>
            </a:r>
            <a:r>
              <a:rPr sz="1500" spc="50" dirty="0">
                <a:solidFill>
                  <a:srgbClr val="423B2D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12A1F"/>
                </a:solidFill>
                <a:latin typeface="Arial"/>
                <a:cs typeface="Arial"/>
              </a:rPr>
              <a:t>duration</a:t>
            </a:r>
            <a:r>
              <a:rPr sz="1500" spc="-10" dirty="0">
                <a:solidFill>
                  <a:srgbClr val="625449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59237" y="1994089"/>
          <a:ext cx="3994149" cy="258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760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4600" spc="90" dirty="0">
                          <a:solidFill>
                            <a:srgbClr val="6D574D"/>
                          </a:solidFill>
                          <a:latin typeface="Arial"/>
                          <a:cs typeface="Arial"/>
                        </a:rPr>
                        <a:t>@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4600" spc="90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@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81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 rowSpan="2">
                  <a:txBody>
                    <a:bodyPr/>
                    <a:lstStyle/>
                    <a:p>
                      <a:pPr marL="173355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React.js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350" spc="5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Library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850" spc="-50" dirty="0">
                          <a:solidFill>
                            <a:srgbClr val="B8AAA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DEB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0340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Node.js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94310" marR="196215" indent="1905">
                        <a:lnSpc>
                          <a:spcPct val="117100"/>
                        </a:lnSpc>
                        <a:spcBef>
                          <a:spcPts val="869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r>
                        <a:rPr sz="1350" spc="4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Runtime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Environment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3938" y="57973"/>
            <a:ext cx="6569075" cy="1446530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5100" spc="-145" dirty="0">
                <a:solidFill>
                  <a:srgbClr val="050303"/>
                </a:solidFill>
              </a:rPr>
              <a:t>Technology</a:t>
            </a:r>
            <a:r>
              <a:rPr sz="5100" spc="-65" dirty="0">
                <a:solidFill>
                  <a:srgbClr val="050303"/>
                </a:solidFill>
              </a:rPr>
              <a:t> </a:t>
            </a:r>
            <a:r>
              <a:rPr sz="5100" spc="-215" dirty="0">
                <a:solidFill>
                  <a:srgbClr val="050303"/>
                </a:solidFill>
              </a:rPr>
              <a:t>Stack:</a:t>
            </a:r>
            <a:r>
              <a:rPr sz="5100" spc="-225" dirty="0">
                <a:solidFill>
                  <a:srgbClr val="050303"/>
                </a:solidFill>
              </a:rPr>
              <a:t> </a:t>
            </a:r>
            <a:r>
              <a:rPr sz="4800" spc="-540" dirty="0">
                <a:solidFill>
                  <a:srgbClr val="AF7460"/>
                </a:solidFill>
              </a:rPr>
              <a:t>MERN</a:t>
            </a:r>
            <a:endParaRPr sz="4800"/>
          </a:p>
          <a:p>
            <a:pPr marL="26034">
              <a:lnSpc>
                <a:spcPct val="100000"/>
              </a:lnSpc>
              <a:spcBef>
                <a:spcPts val="750"/>
              </a:spcBef>
            </a:pP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Four</a:t>
            </a:r>
            <a:r>
              <a:rPr sz="1550" b="0" spc="185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181611"/>
                </a:solidFill>
                <a:latin typeface="Arial"/>
                <a:cs typeface="Arial"/>
              </a:rPr>
              <a:t>Core</a:t>
            </a:r>
            <a:r>
              <a:rPr sz="1550" b="0" spc="120" dirty="0">
                <a:solidFill>
                  <a:srgbClr val="181611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Technologies:</a:t>
            </a:r>
            <a:r>
              <a:rPr sz="1550" b="0" spc="275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MongoDB,</a:t>
            </a:r>
            <a:r>
              <a:rPr sz="1550" b="0" spc="254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Express.js,</a:t>
            </a:r>
            <a:r>
              <a:rPr sz="1550" b="0" spc="250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dirty="0">
                <a:solidFill>
                  <a:srgbClr val="050303"/>
                </a:solidFill>
                <a:latin typeface="Arial"/>
                <a:cs typeface="Arial"/>
              </a:rPr>
              <a:t>React.js,</a:t>
            </a:r>
            <a:r>
              <a:rPr sz="1550" b="0" spc="210" dirty="0">
                <a:solidFill>
                  <a:srgbClr val="050303"/>
                </a:solidFill>
                <a:latin typeface="Arial"/>
                <a:cs typeface="Arial"/>
              </a:rPr>
              <a:t> </a:t>
            </a:r>
            <a:r>
              <a:rPr sz="1550" b="0" spc="70" dirty="0">
                <a:solidFill>
                  <a:srgbClr val="181611"/>
                </a:solidFill>
                <a:latin typeface="Arial"/>
                <a:cs typeface="Arial"/>
              </a:rPr>
              <a:t>and</a:t>
            </a:r>
            <a:r>
              <a:rPr sz="1550" b="0" spc="125" dirty="0">
                <a:solidFill>
                  <a:srgbClr val="181611"/>
                </a:solidFill>
                <a:latin typeface="Arial"/>
                <a:cs typeface="Arial"/>
              </a:rPr>
              <a:t> </a:t>
            </a:r>
            <a:r>
              <a:rPr sz="1550" b="0" spc="-10" dirty="0">
                <a:solidFill>
                  <a:srgbClr val="050303"/>
                </a:solidFill>
                <a:latin typeface="Arial"/>
                <a:cs typeface="Arial"/>
              </a:rPr>
              <a:t>Node.js.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99062" y="3180148"/>
            <a:ext cx="147955" cy="188595"/>
          </a:xfrm>
          <a:custGeom>
            <a:avLst/>
            <a:gdLst/>
            <a:ahLst/>
            <a:cxnLst/>
            <a:rect l="l" t="t" r="r" b="b"/>
            <a:pathLst>
              <a:path w="147954" h="188595">
                <a:moveTo>
                  <a:pt x="147699" y="188550"/>
                </a:moveTo>
                <a:lnTo>
                  <a:pt x="0" y="188550"/>
                </a:lnTo>
                <a:lnTo>
                  <a:pt x="0" y="0"/>
                </a:lnTo>
                <a:lnTo>
                  <a:pt x="147699" y="0"/>
                </a:lnTo>
                <a:lnTo>
                  <a:pt x="147699" y="188550"/>
                </a:lnTo>
                <a:close/>
              </a:path>
            </a:pathLst>
          </a:custGeom>
          <a:solidFill>
            <a:srgbClr val="ED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86363" y="3172987"/>
            <a:ext cx="68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solidFill>
                  <a:srgbClr val="B8AAA1"/>
                </a:solidFill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9951" y="1994089"/>
          <a:ext cx="4007485" cy="258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76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4600" spc="-840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@)</a:t>
                      </a:r>
                      <a:endParaRPr sz="4600">
                        <a:latin typeface="Arial"/>
                        <a:cs typeface="Arial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5800" spc="75" dirty="0">
                          <a:solidFill>
                            <a:srgbClr val="80675B"/>
                          </a:solidFill>
                          <a:latin typeface="Arial"/>
                          <a:cs typeface="Arial"/>
                        </a:rPr>
                        <a:t>®</a:t>
                      </a:r>
                      <a:endParaRPr sz="58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15">
                <a:tc rowSpan="2">
                  <a:txBody>
                    <a:bodyPr/>
                    <a:lstStyle/>
                    <a:p>
                      <a:pPr marL="180975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MongoDB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350" spc="-2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NoSQL</a:t>
                      </a:r>
                      <a:r>
                        <a:rPr sz="1350" spc="-45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850" spc="-50" dirty="0">
                          <a:solidFill>
                            <a:srgbClr val="B8AAA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 sz="2850">
                        <a:latin typeface="Times New Roman"/>
                        <a:cs typeface="Times New Roman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EDEBE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0340">
                        <a:lnSpc>
                          <a:spcPts val="2630"/>
                        </a:lnSpc>
                      </a:pPr>
                      <a:r>
                        <a:rPr sz="2250" b="1" spc="-10" dirty="0">
                          <a:solidFill>
                            <a:srgbClr val="050303"/>
                          </a:solidFill>
                          <a:latin typeface="Arial"/>
                          <a:cs typeface="Arial"/>
                        </a:rPr>
                        <a:t>Express.js</a:t>
                      </a:r>
                      <a:endParaRPr sz="2250">
                        <a:latin typeface="Arial"/>
                        <a:cs typeface="Arial"/>
                      </a:endParaRPr>
                    </a:p>
                    <a:p>
                      <a:pPr marL="186690" marR="437515" indent="5080">
                        <a:lnSpc>
                          <a:spcPct val="117100"/>
                        </a:lnSpc>
                        <a:spcBef>
                          <a:spcPts val="869"/>
                        </a:spcBef>
                      </a:pPr>
                      <a:r>
                        <a:rPr sz="135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Web</a:t>
                      </a:r>
                      <a:r>
                        <a:rPr sz="1350" spc="-45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spc="-10" dirty="0">
                          <a:solidFill>
                            <a:srgbClr val="181611"/>
                          </a:solidFill>
                          <a:latin typeface="Arial"/>
                          <a:cs typeface="Arial"/>
                        </a:rPr>
                        <a:t>Application Framework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28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107" y="1970095"/>
            <a:ext cx="2984098" cy="269561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49107" y="1324912"/>
            <a:ext cx="8459470" cy="0"/>
          </a:xfrm>
          <a:custGeom>
            <a:avLst/>
            <a:gdLst/>
            <a:ahLst/>
            <a:cxnLst/>
            <a:rect l="l" t="t" r="r" b="b"/>
            <a:pathLst>
              <a:path w="8459470">
                <a:moveTo>
                  <a:pt x="0" y="0"/>
                </a:moveTo>
                <a:lnTo>
                  <a:pt x="8459132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954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15"/>
              </a:spcBef>
            </a:pPr>
            <a:r>
              <a:rPr sz="5400" spc="-540" dirty="0">
                <a:solidFill>
                  <a:srgbClr val="080503"/>
                </a:solidFill>
              </a:rPr>
              <a:t>Hardware</a:t>
            </a:r>
            <a:r>
              <a:rPr sz="5400" spc="-15" dirty="0">
                <a:solidFill>
                  <a:srgbClr val="080503"/>
                </a:solidFill>
              </a:rPr>
              <a:t> </a:t>
            </a:r>
            <a:r>
              <a:rPr sz="5400" spc="-450" dirty="0">
                <a:solidFill>
                  <a:srgbClr val="080503"/>
                </a:solidFill>
              </a:rPr>
              <a:t>Requirements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357009" y="1445350"/>
            <a:ext cx="7492365" cy="323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50" spc="-165" dirty="0">
                <a:solidFill>
                  <a:srgbClr val="080503"/>
                </a:solidFill>
                <a:latin typeface="Arial"/>
                <a:cs typeface="Arial"/>
              </a:rPr>
              <a:t>Essential</a:t>
            </a:r>
            <a:r>
              <a:rPr sz="1950" spc="-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55" dirty="0">
                <a:solidFill>
                  <a:srgbClr val="080503"/>
                </a:solidFill>
                <a:latin typeface="Arial"/>
                <a:cs typeface="Arial"/>
              </a:rPr>
              <a:t>physical</a:t>
            </a:r>
            <a:r>
              <a:rPr sz="1950" spc="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950" spc="-13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20" dirty="0">
                <a:solidFill>
                  <a:srgbClr val="080503"/>
                </a:solidFill>
                <a:latin typeface="Arial"/>
                <a:cs typeface="Arial"/>
              </a:rPr>
              <a:t>infrastructure</a:t>
            </a:r>
            <a:r>
              <a:rPr sz="1950" spc="-2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0" dirty="0">
                <a:solidFill>
                  <a:srgbClr val="080503"/>
                </a:solidFill>
                <a:latin typeface="Arial"/>
                <a:cs typeface="Arial"/>
              </a:rPr>
              <a:t>resources</a:t>
            </a:r>
            <a:r>
              <a:rPr sz="1950" spc="8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85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950" spc="-6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95" dirty="0">
                <a:solidFill>
                  <a:srgbClr val="080503"/>
                </a:solidFill>
                <a:latin typeface="Arial"/>
                <a:cs typeface="Arial"/>
              </a:rPr>
              <a:t>development</a:t>
            </a:r>
            <a:r>
              <a:rPr sz="1950" spc="1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8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950" spc="-1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14" dirty="0">
                <a:solidFill>
                  <a:srgbClr val="080503"/>
                </a:solidFill>
                <a:latin typeface="Arial"/>
                <a:cs typeface="Arial"/>
              </a:rPr>
              <a:t>deployment.</a:t>
            </a:r>
            <a:endParaRPr sz="1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8606" y="1889637"/>
            <a:ext cx="2286000" cy="70083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305"/>
              </a:spcBef>
            </a:pPr>
            <a:r>
              <a:rPr lang="en-US" sz="2300" b="1" spc="-300" dirty="0">
                <a:solidFill>
                  <a:srgbClr val="080503"/>
                </a:solidFill>
                <a:latin typeface="Arial"/>
                <a:cs typeface="Arial"/>
              </a:rPr>
              <a:t>Processor</a:t>
            </a:r>
            <a:endParaRPr sz="2300" dirty="0">
              <a:latin typeface="Arial"/>
              <a:cs typeface="Arial"/>
            </a:endParaRPr>
          </a:p>
          <a:p>
            <a:pPr marL="12700" marR="5080" indent="-35560" algn="ctr">
              <a:lnSpc>
                <a:spcPts val="2110"/>
              </a:lnSpc>
              <a:spcBef>
                <a:spcPts val="275"/>
              </a:spcBef>
            </a:pPr>
            <a:r>
              <a:rPr lang="en-US" spc="-185" dirty="0">
                <a:solidFill>
                  <a:srgbClr val="080503"/>
                </a:solidFill>
                <a:latin typeface="Arial"/>
                <a:cs typeface="Arial"/>
              </a:rPr>
              <a:t>Intel Core i3 or higher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8359DCF3-091D-955F-2B08-813692B1E361}"/>
              </a:ext>
            </a:extLst>
          </p:cNvPr>
          <p:cNvSpPr txBox="1"/>
          <p:nvPr/>
        </p:nvSpPr>
        <p:spPr>
          <a:xfrm>
            <a:off x="4800600" y="2810278"/>
            <a:ext cx="2362200" cy="700833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305"/>
              </a:spcBef>
            </a:pPr>
            <a:r>
              <a:rPr lang="en-US" sz="2300" b="1" spc="-300" dirty="0">
                <a:solidFill>
                  <a:srgbClr val="080503"/>
                </a:solidFill>
                <a:latin typeface="Arial"/>
                <a:cs typeface="Arial"/>
              </a:rPr>
              <a:t>Storage</a:t>
            </a:r>
            <a:endParaRPr sz="2300" dirty="0">
              <a:latin typeface="Arial"/>
              <a:cs typeface="Arial"/>
            </a:endParaRPr>
          </a:p>
          <a:p>
            <a:pPr marL="12700" marR="5080" indent="-35560" algn="ctr">
              <a:lnSpc>
                <a:spcPts val="2110"/>
              </a:lnSpc>
              <a:spcBef>
                <a:spcPts val="275"/>
              </a:spcBef>
            </a:pPr>
            <a:r>
              <a:rPr lang="en-US" sz="1800" spc="-185" dirty="0">
                <a:solidFill>
                  <a:srgbClr val="080503"/>
                </a:solidFill>
                <a:latin typeface="Arial"/>
                <a:cs typeface="Arial"/>
              </a:rPr>
              <a:t>At least 1 GB  free disk space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4E59A4C4-925F-A635-A27D-E2E6AC9FC586}"/>
              </a:ext>
            </a:extLst>
          </p:cNvPr>
          <p:cNvSpPr txBox="1"/>
          <p:nvPr/>
        </p:nvSpPr>
        <p:spPr>
          <a:xfrm>
            <a:off x="4578842" y="3730919"/>
            <a:ext cx="3012316" cy="683136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R="41910" algn="ctr">
              <a:lnSpc>
                <a:spcPct val="100000"/>
              </a:lnSpc>
              <a:spcBef>
                <a:spcPts val="305"/>
              </a:spcBef>
            </a:pPr>
            <a:r>
              <a:rPr lang="en-US" sz="2300" b="1" spc="-300" dirty="0">
                <a:solidFill>
                  <a:srgbClr val="080503"/>
                </a:solidFill>
                <a:latin typeface="Arial"/>
                <a:cs typeface="Arial"/>
              </a:rPr>
              <a:t>Ram</a:t>
            </a:r>
            <a:endParaRPr sz="2300" dirty="0">
              <a:latin typeface="Arial"/>
              <a:cs typeface="Arial"/>
            </a:endParaRPr>
          </a:p>
          <a:p>
            <a:pPr marL="12700" marR="5080" indent="-35560" algn="ctr">
              <a:lnSpc>
                <a:spcPts val="2110"/>
              </a:lnSpc>
              <a:spcBef>
                <a:spcPts val="275"/>
              </a:spcBef>
            </a:pPr>
            <a:r>
              <a:rPr lang="en-US" sz="1700" spc="-185" dirty="0">
                <a:solidFill>
                  <a:srgbClr val="080503"/>
                </a:solidFill>
                <a:latin typeface="Arial"/>
                <a:cs typeface="Arial"/>
              </a:rPr>
              <a:t>4 GB Minimum (8 GB Recommended)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825" y="2288527"/>
            <a:ext cx="1248729" cy="12179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781" y="2248376"/>
            <a:ext cx="1262156" cy="123128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64972" y="2248375"/>
            <a:ext cx="0" cy="1245235"/>
          </a:xfrm>
          <a:custGeom>
            <a:avLst/>
            <a:gdLst/>
            <a:ahLst/>
            <a:cxnLst/>
            <a:rect l="l" t="t" r="r" b="b"/>
            <a:pathLst>
              <a:path h="1245235">
                <a:moveTo>
                  <a:pt x="0" y="124466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2252" y="1311528"/>
            <a:ext cx="8513445" cy="0"/>
          </a:xfrm>
          <a:custGeom>
            <a:avLst/>
            <a:gdLst/>
            <a:ahLst/>
            <a:cxnLst/>
            <a:rect l="l" t="t" r="r" b="b"/>
            <a:pathLst>
              <a:path w="8513445">
                <a:moveTo>
                  <a:pt x="0" y="0"/>
                </a:moveTo>
                <a:lnTo>
                  <a:pt x="851284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679" y="2261759"/>
            <a:ext cx="1343025" cy="0"/>
          </a:xfrm>
          <a:custGeom>
            <a:avLst/>
            <a:gdLst/>
            <a:ahLst/>
            <a:cxnLst/>
            <a:rect l="l" t="t" r="r" b="b"/>
            <a:pathLst>
              <a:path w="1343025">
                <a:moveTo>
                  <a:pt x="0" y="0"/>
                </a:moveTo>
                <a:lnTo>
                  <a:pt x="1342720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839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15"/>
              </a:spcBef>
            </a:pPr>
            <a:r>
              <a:rPr sz="5500" spc="-535" dirty="0">
                <a:solidFill>
                  <a:srgbClr val="080503"/>
                </a:solidFill>
              </a:rPr>
              <a:t>Software</a:t>
            </a:r>
            <a:r>
              <a:rPr sz="5500" spc="-15" dirty="0">
                <a:solidFill>
                  <a:srgbClr val="080503"/>
                </a:solidFill>
              </a:rPr>
              <a:t> </a:t>
            </a:r>
            <a:r>
              <a:rPr sz="5500" spc="-535" dirty="0">
                <a:solidFill>
                  <a:srgbClr val="080503"/>
                </a:solidFill>
              </a:rPr>
              <a:t>Products</a:t>
            </a:r>
            <a:r>
              <a:rPr sz="5500" spc="-100" dirty="0">
                <a:solidFill>
                  <a:srgbClr val="080503"/>
                </a:solidFill>
              </a:rPr>
              <a:t> </a:t>
            </a:r>
            <a:r>
              <a:rPr sz="5500" spc="-545" dirty="0">
                <a:solidFill>
                  <a:srgbClr val="080503"/>
                </a:solidFill>
              </a:rPr>
              <a:t>(Development)</a:t>
            </a:r>
            <a:endParaRPr sz="5500"/>
          </a:p>
        </p:txBody>
      </p:sp>
      <p:sp>
        <p:nvSpPr>
          <p:cNvPr id="8" name="object 8"/>
          <p:cNvSpPr txBox="1"/>
          <p:nvPr/>
        </p:nvSpPr>
        <p:spPr>
          <a:xfrm>
            <a:off x="1949613" y="2303472"/>
            <a:ext cx="2364740" cy="104203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484"/>
              </a:spcBef>
            </a:pPr>
            <a:r>
              <a:rPr sz="2450" b="1" spc="-300" dirty="0">
                <a:solidFill>
                  <a:srgbClr val="080503"/>
                </a:solidFill>
                <a:latin typeface="Arial"/>
                <a:cs typeface="Arial"/>
              </a:rPr>
              <a:t>VS</a:t>
            </a:r>
            <a:r>
              <a:rPr sz="2450" b="1" spc="-2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450" b="1" spc="-335" dirty="0">
                <a:solidFill>
                  <a:srgbClr val="080503"/>
                </a:solidFill>
                <a:latin typeface="Arial"/>
                <a:cs typeface="Arial"/>
              </a:rPr>
              <a:t>Code</a:t>
            </a:r>
            <a:endParaRPr sz="2450">
              <a:latin typeface="Arial"/>
              <a:cs typeface="Arial"/>
            </a:endParaRPr>
          </a:p>
          <a:p>
            <a:pPr marL="15240" marR="5080" indent="-3175">
              <a:lnSpc>
                <a:spcPts val="2160"/>
              </a:lnSpc>
              <a:spcBef>
                <a:spcPts val="420"/>
              </a:spcBef>
            </a:pPr>
            <a:r>
              <a:rPr sz="1850" spc="-170" dirty="0">
                <a:solidFill>
                  <a:srgbClr val="080503"/>
                </a:solidFill>
                <a:latin typeface="Arial"/>
                <a:cs typeface="Arial"/>
              </a:rPr>
              <a:t>Primary</a:t>
            </a:r>
            <a:r>
              <a:rPr sz="1850" spc="1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source</a:t>
            </a:r>
            <a:r>
              <a:rPr sz="1850" spc="-4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70" dirty="0">
                <a:solidFill>
                  <a:srgbClr val="080503"/>
                </a:solidFill>
                <a:latin typeface="Arial"/>
                <a:cs typeface="Arial"/>
              </a:rPr>
              <a:t>code</a:t>
            </a:r>
            <a:r>
              <a:rPr sz="1850" spc="-11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05" dirty="0">
                <a:solidFill>
                  <a:srgbClr val="080503"/>
                </a:solidFill>
                <a:latin typeface="Arial"/>
                <a:cs typeface="Arial"/>
              </a:rPr>
              <a:t>editor </a:t>
            </a:r>
            <a:r>
              <a:rPr sz="1850" spc="-17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65" dirty="0">
                <a:solidFill>
                  <a:srgbClr val="080503"/>
                </a:solidFill>
                <a:latin typeface="Arial"/>
                <a:cs typeface="Arial"/>
              </a:rPr>
              <a:t>Git</a:t>
            </a:r>
            <a:r>
              <a:rPr sz="1850" spc="-9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75" dirty="0">
                <a:solidFill>
                  <a:srgbClr val="080503"/>
                </a:solidFill>
                <a:latin typeface="Arial"/>
                <a:cs typeface="Arial"/>
              </a:rPr>
              <a:t>manager.</a:t>
            </a:r>
            <a:endParaRPr sz="18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6328" y="2294611"/>
            <a:ext cx="2216785" cy="105092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55"/>
              </a:spcBef>
            </a:pPr>
            <a:r>
              <a:rPr sz="2450" b="1" spc="-305" dirty="0">
                <a:solidFill>
                  <a:srgbClr val="080503"/>
                </a:solidFill>
                <a:latin typeface="Arial"/>
                <a:cs typeface="Arial"/>
              </a:rPr>
              <a:t>GitHub</a:t>
            </a:r>
            <a:endParaRPr sz="2450">
              <a:latin typeface="Arial"/>
              <a:cs typeface="Arial"/>
            </a:endParaRPr>
          </a:p>
          <a:p>
            <a:pPr marL="12700" marR="5080" indent="8255">
              <a:lnSpc>
                <a:spcPts val="2110"/>
              </a:lnSpc>
              <a:spcBef>
                <a:spcPts val="509"/>
              </a:spcBef>
            </a:pPr>
            <a:r>
              <a:rPr sz="1850" spc="-180" dirty="0">
                <a:solidFill>
                  <a:srgbClr val="080503"/>
                </a:solidFill>
                <a:latin typeface="Arial"/>
                <a:cs typeface="Arial"/>
              </a:rPr>
              <a:t>Version</a:t>
            </a:r>
            <a:r>
              <a:rPr sz="1850" spc="-1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25" dirty="0">
                <a:solidFill>
                  <a:srgbClr val="080503"/>
                </a:solidFill>
                <a:latin typeface="Arial"/>
                <a:cs typeface="Arial"/>
              </a:rPr>
              <a:t>control</a:t>
            </a:r>
            <a:r>
              <a:rPr sz="1850" spc="-2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75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r>
              <a:rPr sz="1850" spc="-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20" dirty="0">
                <a:solidFill>
                  <a:srgbClr val="080503"/>
                </a:solidFill>
                <a:latin typeface="Arial"/>
                <a:cs typeface="Arial"/>
              </a:rPr>
              <a:t>team </a:t>
            </a:r>
            <a:r>
              <a:rPr sz="1850" spc="-140" dirty="0">
                <a:solidFill>
                  <a:srgbClr val="080503"/>
                </a:solidFill>
                <a:latin typeface="Arial"/>
                <a:cs typeface="Arial"/>
              </a:rPr>
              <a:t>collaboration</a:t>
            </a:r>
            <a:r>
              <a:rPr sz="1850" spc="7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080503"/>
                </a:solidFill>
                <a:latin typeface="Arial"/>
                <a:cs typeface="Arial"/>
              </a:rPr>
              <a:t>platform</a:t>
            </a:r>
            <a:r>
              <a:rPr sz="1850" spc="-10" dirty="0">
                <a:solidFill>
                  <a:srgbClr val="261F18"/>
                </a:solidFill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670" y="2649881"/>
            <a:ext cx="1087602" cy="9636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5481" y="2288527"/>
            <a:ext cx="1181593" cy="131158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927780" y="2248375"/>
            <a:ext cx="0" cy="1124585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1124217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1971" y="1304836"/>
            <a:ext cx="8593455" cy="0"/>
          </a:xfrm>
          <a:custGeom>
            <a:avLst/>
            <a:gdLst/>
            <a:ahLst/>
            <a:cxnLst/>
            <a:rect l="l" t="t" r="r" b="b"/>
            <a:pathLst>
              <a:path w="8593455">
                <a:moveTo>
                  <a:pt x="0" y="0"/>
                </a:moveTo>
                <a:lnTo>
                  <a:pt x="859340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4353" y="2261759"/>
            <a:ext cx="1209040" cy="0"/>
          </a:xfrm>
          <a:custGeom>
            <a:avLst/>
            <a:gdLst/>
            <a:ahLst/>
            <a:cxnLst/>
            <a:rect l="l" t="t" r="r" b="b"/>
            <a:pathLst>
              <a:path w="1209039">
                <a:moveTo>
                  <a:pt x="0" y="0"/>
                </a:moveTo>
                <a:lnTo>
                  <a:pt x="120844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15"/>
              </a:spcBef>
            </a:pPr>
            <a:r>
              <a:rPr sz="5500" spc="-509" dirty="0">
                <a:solidFill>
                  <a:srgbClr val="0A0705"/>
                </a:solidFill>
              </a:rPr>
              <a:t>Software</a:t>
            </a:r>
            <a:r>
              <a:rPr sz="5500" spc="-45" dirty="0">
                <a:solidFill>
                  <a:srgbClr val="0A0705"/>
                </a:solidFill>
              </a:rPr>
              <a:t> </a:t>
            </a:r>
            <a:r>
              <a:rPr sz="5500" spc="-509" dirty="0">
                <a:solidFill>
                  <a:srgbClr val="0A0705"/>
                </a:solidFill>
              </a:rPr>
              <a:t>Products</a:t>
            </a:r>
            <a:r>
              <a:rPr sz="5500" spc="-200" dirty="0">
                <a:solidFill>
                  <a:srgbClr val="0A0705"/>
                </a:solidFill>
              </a:rPr>
              <a:t> </a:t>
            </a:r>
            <a:r>
              <a:rPr sz="5500" spc="-505" dirty="0">
                <a:solidFill>
                  <a:srgbClr val="0A0705"/>
                </a:solidFill>
              </a:rPr>
              <a:t>(Testing)</a:t>
            </a:r>
            <a:endParaRPr sz="5500"/>
          </a:p>
        </p:txBody>
      </p:sp>
      <p:sp>
        <p:nvSpPr>
          <p:cNvPr id="8" name="object 8"/>
          <p:cNvSpPr txBox="1"/>
          <p:nvPr/>
        </p:nvSpPr>
        <p:spPr>
          <a:xfrm>
            <a:off x="1198802" y="2291952"/>
            <a:ext cx="46863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295" algn="l"/>
              </a:tabLst>
            </a:pPr>
            <a:r>
              <a:rPr sz="1450" u="heavy" spc="-25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Arial"/>
                <a:cs typeface="Arial"/>
              </a:rPr>
              <a:t>==</a:t>
            </a:r>
            <a:r>
              <a:rPr sz="1450" u="heavy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Arial"/>
                <a:cs typeface="Arial"/>
              </a:rPr>
              <a:t>	</a:t>
            </a:r>
            <a:endParaRPr sz="14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651" y="2392979"/>
            <a:ext cx="131445" cy="262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u="heavy" dirty="0">
                <a:solidFill>
                  <a:srgbClr val="6E5046"/>
                </a:solidFill>
                <a:uFill>
                  <a:solidFill>
                    <a:srgbClr val="6E5046"/>
                  </a:solidFill>
                </a:uFill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461" y="2303883"/>
            <a:ext cx="3076575" cy="10509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724535" algn="l"/>
              </a:tabLst>
            </a:pPr>
            <a:r>
              <a:rPr sz="2050" spc="40" dirty="0">
                <a:solidFill>
                  <a:srgbClr val="6E5046"/>
                </a:solidFill>
                <a:latin typeface="Times New Roman"/>
                <a:cs typeface="Times New Roman"/>
              </a:rPr>
              <a:t>=</a:t>
            </a:r>
            <a:r>
              <a:rPr sz="2050" dirty="0">
                <a:solidFill>
                  <a:srgbClr val="6E5046"/>
                </a:solidFill>
                <a:latin typeface="Times New Roman"/>
                <a:cs typeface="Times New Roman"/>
              </a:rPr>
              <a:t>	</a:t>
            </a:r>
            <a:r>
              <a:rPr sz="2600" b="1" spc="-330" dirty="0">
                <a:solidFill>
                  <a:srgbClr val="0A0705"/>
                </a:solidFill>
                <a:latin typeface="Arial"/>
                <a:cs typeface="Arial"/>
              </a:rPr>
              <a:t>Postman</a:t>
            </a:r>
            <a:endParaRPr sz="2600">
              <a:latin typeface="Arial"/>
              <a:cs typeface="Arial"/>
            </a:endParaRPr>
          </a:p>
          <a:p>
            <a:pPr marL="733425" marR="5080" indent="2540">
              <a:lnSpc>
                <a:spcPts val="2110"/>
              </a:lnSpc>
              <a:spcBef>
                <a:spcPts val="480"/>
              </a:spcBef>
            </a:pPr>
            <a:r>
              <a:rPr sz="1950" spc="-240" dirty="0">
                <a:solidFill>
                  <a:srgbClr val="0A0705"/>
                </a:solidFill>
                <a:latin typeface="Arial"/>
                <a:cs typeface="Arial"/>
              </a:rPr>
              <a:t>API</a:t>
            </a:r>
            <a:r>
              <a:rPr sz="1950" spc="2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70" dirty="0">
                <a:solidFill>
                  <a:srgbClr val="0A0705"/>
                </a:solidFill>
                <a:latin typeface="Arial"/>
                <a:cs typeface="Arial"/>
              </a:rPr>
              <a:t>development</a:t>
            </a:r>
            <a:r>
              <a:rPr sz="1950" spc="-170" dirty="0">
                <a:solidFill>
                  <a:srgbClr val="342B26"/>
                </a:solidFill>
                <a:latin typeface="Arial"/>
                <a:cs typeface="Arial"/>
              </a:rPr>
              <a:t>,</a:t>
            </a:r>
            <a:r>
              <a:rPr sz="1950" spc="-275" dirty="0">
                <a:solidFill>
                  <a:srgbClr val="342B26"/>
                </a:solidFill>
                <a:latin typeface="Arial"/>
                <a:cs typeface="Arial"/>
              </a:rPr>
              <a:t> </a:t>
            </a:r>
            <a:r>
              <a:rPr sz="1950" spc="-125" dirty="0">
                <a:solidFill>
                  <a:srgbClr val="0A0705"/>
                </a:solidFill>
                <a:latin typeface="Arial"/>
                <a:cs typeface="Arial"/>
              </a:rPr>
              <a:t>testing, </a:t>
            </a:r>
            <a:r>
              <a:rPr sz="1950" spc="-215" dirty="0">
                <a:solidFill>
                  <a:srgbClr val="0A0705"/>
                </a:solidFill>
                <a:latin typeface="Arial"/>
                <a:cs typeface="Arial"/>
              </a:rPr>
              <a:t>and</a:t>
            </a:r>
            <a:r>
              <a:rPr sz="1950" spc="-11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95" dirty="0">
                <a:solidFill>
                  <a:srgbClr val="0A0705"/>
                </a:solidFill>
                <a:latin typeface="Arial"/>
                <a:cs typeface="Arial"/>
              </a:rPr>
              <a:t>documentation.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41677" y="2272992"/>
            <a:ext cx="2456180" cy="1362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ts val="2930"/>
              </a:lnSpc>
              <a:spcBef>
                <a:spcPts val="105"/>
              </a:spcBef>
            </a:pPr>
            <a:r>
              <a:rPr sz="2600" b="1" spc="-350" dirty="0">
                <a:solidFill>
                  <a:srgbClr val="0A0705"/>
                </a:solidFill>
                <a:latin typeface="Arial"/>
                <a:cs typeface="Arial"/>
              </a:rPr>
              <a:t>Google</a:t>
            </a:r>
            <a:r>
              <a:rPr sz="2600" b="1" spc="-8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35" dirty="0">
                <a:solidFill>
                  <a:srgbClr val="0A0705"/>
                </a:solidFill>
                <a:latin typeface="Arial"/>
                <a:cs typeface="Arial"/>
              </a:rPr>
              <a:t>Chrome</a:t>
            </a:r>
            <a:r>
              <a:rPr sz="2600" b="1" spc="-13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50" spc="-425" dirty="0">
                <a:solidFill>
                  <a:srgbClr val="0A0705"/>
                </a:solidFill>
                <a:latin typeface="Times New Roman"/>
                <a:cs typeface="Times New Roman"/>
              </a:rPr>
              <a:t>&amp;</a:t>
            </a: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600" b="1" spc="-260" dirty="0">
                <a:solidFill>
                  <a:srgbClr val="0A0705"/>
                </a:solidFill>
                <a:latin typeface="Arial"/>
                <a:cs typeface="Arial"/>
              </a:rPr>
              <a:t>React</a:t>
            </a:r>
            <a:r>
              <a:rPr sz="2600" b="1" spc="-155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25" dirty="0">
                <a:solidFill>
                  <a:srgbClr val="0A0705"/>
                </a:solidFill>
                <a:latin typeface="Arial"/>
                <a:cs typeface="Arial"/>
              </a:rPr>
              <a:t>Dev</a:t>
            </a:r>
            <a:r>
              <a:rPr sz="2600" b="1" spc="-8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2600" b="1" spc="-350" dirty="0">
                <a:solidFill>
                  <a:srgbClr val="0A0705"/>
                </a:solidFill>
                <a:latin typeface="Arial"/>
                <a:cs typeface="Arial"/>
              </a:rPr>
              <a:t>Tools</a:t>
            </a:r>
            <a:endParaRPr sz="2600">
              <a:latin typeface="Arial"/>
              <a:cs typeface="Arial"/>
            </a:endParaRPr>
          </a:p>
          <a:p>
            <a:pPr marL="20320" marR="5080" indent="-1905">
              <a:lnSpc>
                <a:spcPts val="2160"/>
              </a:lnSpc>
              <a:spcBef>
                <a:spcPts val="440"/>
              </a:spcBef>
            </a:pPr>
            <a:r>
              <a:rPr sz="1950" spc="-190" dirty="0">
                <a:solidFill>
                  <a:srgbClr val="0A0705"/>
                </a:solidFill>
                <a:latin typeface="Arial"/>
                <a:cs typeface="Arial"/>
              </a:rPr>
              <a:t>Browser</a:t>
            </a:r>
            <a:r>
              <a:rPr sz="1950" spc="1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90" dirty="0">
                <a:solidFill>
                  <a:srgbClr val="0A0705"/>
                </a:solidFill>
                <a:latin typeface="Arial"/>
                <a:cs typeface="Arial"/>
              </a:rPr>
              <a:t>debugging</a:t>
            </a:r>
            <a:r>
              <a:rPr sz="1950" spc="-5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95" dirty="0">
                <a:solidFill>
                  <a:srgbClr val="0A0705"/>
                </a:solidFill>
                <a:latin typeface="Arial"/>
                <a:cs typeface="Arial"/>
              </a:rPr>
              <a:t>and</a:t>
            </a:r>
            <a:r>
              <a:rPr sz="1950" spc="-150" dirty="0">
                <a:solidFill>
                  <a:srgbClr val="0A0705"/>
                </a:solidFill>
                <a:latin typeface="Arial"/>
                <a:cs typeface="Arial"/>
              </a:rPr>
              <a:t> </a:t>
            </a:r>
            <a:r>
              <a:rPr sz="1950" spc="-135" dirty="0">
                <a:solidFill>
                  <a:srgbClr val="0A0705"/>
                </a:solidFill>
                <a:latin typeface="Arial"/>
                <a:cs typeface="Arial"/>
              </a:rPr>
              <a:t>UI </a:t>
            </a:r>
            <a:r>
              <a:rPr sz="1950" spc="-75" dirty="0">
                <a:solidFill>
                  <a:srgbClr val="0A0705"/>
                </a:solidFill>
                <a:latin typeface="Arial"/>
                <a:cs typeface="Arial"/>
              </a:rPr>
              <a:t>inspection.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223" y="2181458"/>
            <a:ext cx="698214" cy="2007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223" y="2797101"/>
            <a:ext cx="631078" cy="1873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73042" y="1739802"/>
            <a:ext cx="1624690" cy="243580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68715" y="2007472"/>
            <a:ext cx="1007039" cy="10037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04223" y="2382211"/>
            <a:ext cx="0" cy="415290"/>
          </a:xfrm>
          <a:custGeom>
            <a:avLst/>
            <a:gdLst/>
            <a:ahLst/>
            <a:cxnLst/>
            <a:rect l="l" t="t" r="r" b="b"/>
            <a:pathLst>
              <a:path h="415289">
                <a:moveTo>
                  <a:pt x="0" y="414888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5398" y="1298145"/>
            <a:ext cx="8580120" cy="0"/>
          </a:xfrm>
          <a:custGeom>
            <a:avLst/>
            <a:gdLst/>
            <a:ahLst/>
            <a:cxnLst/>
            <a:rect l="l" t="t" r="r" b="b"/>
            <a:pathLst>
              <a:path w="8580120">
                <a:moveTo>
                  <a:pt x="0" y="0"/>
                </a:moveTo>
                <a:lnTo>
                  <a:pt x="857997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47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15"/>
              </a:spcBef>
            </a:pPr>
            <a:r>
              <a:rPr sz="5500" spc="-620" dirty="0">
                <a:solidFill>
                  <a:srgbClr val="080503"/>
                </a:solidFill>
              </a:rPr>
              <a:t>System</a:t>
            </a:r>
            <a:r>
              <a:rPr sz="5500" spc="-405" dirty="0">
                <a:solidFill>
                  <a:srgbClr val="080503"/>
                </a:solidFill>
              </a:rPr>
              <a:t> </a:t>
            </a:r>
            <a:r>
              <a:rPr sz="5500" spc="-680" dirty="0">
                <a:solidFill>
                  <a:srgbClr val="080503"/>
                </a:solidFill>
              </a:rPr>
              <a:t>Component:</a:t>
            </a:r>
            <a:r>
              <a:rPr sz="5500" spc="-385" dirty="0">
                <a:solidFill>
                  <a:srgbClr val="080503"/>
                </a:solidFill>
              </a:rPr>
              <a:t> </a:t>
            </a:r>
            <a:r>
              <a:rPr sz="5500" spc="-710" dirty="0">
                <a:solidFill>
                  <a:srgbClr val="080503"/>
                </a:solidFill>
              </a:rPr>
              <a:t>Backend</a:t>
            </a:r>
            <a:r>
              <a:rPr sz="5500" spc="-305" dirty="0">
                <a:solidFill>
                  <a:srgbClr val="080503"/>
                </a:solidFill>
              </a:rPr>
              <a:t> </a:t>
            </a:r>
            <a:r>
              <a:rPr sz="5500" spc="-640" dirty="0">
                <a:solidFill>
                  <a:srgbClr val="080503"/>
                </a:solidFill>
              </a:rPr>
              <a:t>Server</a:t>
            </a:r>
            <a:endParaRPr sz="5500"/>
          </a:p>
        </p:txBody>
      </p:sp>
      <p:sp>
        <p:nvSpPr>
          <p:cNvPr id="9" name="object 9"/>
          <p:cNvSpPr txBox="1"/>
          <p:nvPr/>
        </p:nvSpPr>
        <p:spPr>
          <a:xfrm>
            <a:off x="559912" y="2404224"/>
            <a:ext cx="2170430" cy="1266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5"/>
              </a:spcBef>
              <a:tabLst>
                <a:tab pos="804545" algn="l"/>
              </a:tabLst>
            </a:pPr>
            <a:r>
              <a:rPr sz="2200" b="1" spc="-335" dirty="0">
                <a:solidFill>
                  <a:srgbClr val="523428"/>
                </a:solidFill>
                <a:latin typeface="Arial"/>
                <a:cs typeface="Arial"/>
              </a:rPr>
              <a:t>nve</a:t>
            </a:r>
            <a:r>
              <a:rPr sz="2200" b="1" dirty="0">
                <a:solidFill>
                  <a:srgbClr val="523428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594942"/>
                </a:solidFill>
                <a:latin typeface="Arial"/>
                <a:cs typeface="Arial"/>
              </a:rPr>
              <a:t>{Express}</a:t>
            </a:r>
            <a:endParaRPr sz="2250">
              <a:latin typeface="Arial"/>
              <a:cs typeface="Arial"/>
            </a:endParaRPr>
          </a:p>
          <a:p>
            <a:pPr algn="ctr">
              <a:lnSpc>
                <a:spcPts val="2255"/>
              </a:lnSpc>
              <a:spcBef>
                <a:spcPts val="2555"/>
              </a:spcBef>
            </a:pPr>
            <a:r>
              <a:rPr sz="1950" spc="-120" dirty="0">
                <a:solidFill>
                  <a:srgbClr val="080503"/>
                </a:solidFill>
                <a:latin typeface="Arial"/>
                <a:cs typeface="Arial"/>
              </a:rPr>
              <a:t>Built</a:t>
            </a:r>
            <a:r>
              <a:rPr sz="195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55" dirty="0">
                <a:solidFill>
                  <a:srgbClr val="080503"/>
                </a:solidFill>
                <a:latin typeface="Arial"/>
                <a:cs typeface="Arial"/>
              </a:rPr>
              <a:t>using</a:t>
            </a:r>
            <a:r>
              <a:rPr sz="1950" spc="-9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29" dirty="0">
                <a:solidFill>
                  <a:srgbClr val="080503"/>
                </a:solidFill>
                <a:latin typeface="Arial"/>
                <a:cs typeface="Arial"/>
              </a:rPr>
              <a:t>Node.js</a:t>
            </a:r>
            <a:r>
              <a:rPr sz="2000" b="1" spc="-6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14" dirty="0">
                <a:solidFill>
                  <a:srgbClr val="080503"/>
                </a:solidFill>
                <a:latin typeface="Arial"/>
                <a:cs typeface="Arial"/>
              </a:rPr>
              <a:t>and</a:t>
            </a:r>
            <a:endParaRPr sz="1950">
              <a:latin typeface="Arial"/>
              <a:cs typeface="Arial"/>
            </a:endParaRPr>
          </a:p>
          <a:p>
            <a:pPr marR="26670" algn="ctr">
              <a:lnSpc>
                <a:spcPts val="2255"/>
              </a:lnSpc>
            </a:pPr>
            <a:r>
              <a:rPr sz="2000" b="1" spc="-160" dirty="0">
                <a:solidFill>
                  <a:srgbClr val="080503"/>
                </a:solidFill>
                <a:latin typeface="Arial"/>
                <a:cs typeface="Arial"/>
              </a:rPr>
              <a:t>Express.js.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9622" y="3071774"/>
            <a:ext cx="1963420" cy="8718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3495" algn="just">
              <a:lnSpc>
                <a:spcPct val="89900"/>
              </a:lnSpc>
              <a:spcBef>
                <a:spcPts val="345"/>
              </a:spcBef>
            </a:pPr>
            <a:r>
              <a:rPr sz="1950" spc="-200" dirty="0">
                <a:solidFill>
                  <a:srgbClr val="080503"/>
                </a:solidFill>
                <a:latin typeface="Arial"/>
                <a:cs typeface="Arial"/>
              </a:rPr>
              <a:t>Responsible</a:t>
            </a:r>
            <a:r>
              <a:rPr sz="1950" spc="10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40" dirty="0">
                <a:solidFill>
                  <a:srgbClr val="080503"/>
                </a:solidFill>
                <a:latin typeface="Arial"/>
                <a:cs typeface="Arial"/>
              </a:rPr>
              <a:t>for</a:t>
            </a:r>
            <a:r>
              <a:rPr sz="1950" spc="5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04" dirty="0">
                <a:solidFill>
                  <a:srgbClr val="080503"/>
                </a:solidFill>
                <a:latin typeface="Arial"/>
                <a:cs typeface="Arial"/>
              </a:rPr>
              <a:t>core </a:t>
            </a:r>
            <a:r>
              <a:rPr sz="2000" b="1" spc="-305" dirty="0">
                <a:solidFill>
                  <a:srgbClr val="080503"/>
                </a:solidFill>
                <a:latin typeface="Arial"/>
                <a:cs typeface="Arial"/>
              </a:rPr>
              <a:t>business</a:t>
            </a:r>
            <a:r>
              <a:rPr sz="2000" b="1" spc="22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2000" b="1" spc="-265" dirty="0">
                <a:solidFill>
                  <a:srgbClr val="080503"/>
                </a:solidFill>
                <a:latin typeface="Arial"/>
                <a:cs typeface="Arial"/>
              </a:rPr>
              <a:t>logic</a:t>
            </a:r>
            <a:r>
              <a:rPr sz="2000" b="1" spc="14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25" dirty="0">
                <a:solidFill>
                  <a:srgbClr val="080503"/>
                </a:solidFill>
                <a:latin typeface="Arial"/>
                <a:cs typeface="Arial"/>
              </a:rPr>
              <a:t>and </a:t>
            </a:r>
            <a:r>
              <a:rPr sz="1950" spc="-180" dirty="0">
                <a:solidFill>
                  <a:srgbClr val="080503"/>
                </a:solidFill>
                <a:latin typeface="Arial"/>
                <a:cs typeface="Arial"/>
              </a:rPr>
              <a:t>processing</a:t>
            </a:r>
            <a:r>
              <a:rPr sz="1950" spc="30" dirty="0">
                <a:solidFill>
                  <a:srgbClr val="080503"/>
                </a:solidFill>
                <a:latin typeface="Arial"/>
                <a:cs typeface="Arial"/>
              </a:rPr>
              <a:t> </a:t>
            </a:r>
            <a:r>
              <a:rPr sz="1950" spc="-160" dirty="0">
                <a:solidFill>
                  <a:srgbClr val="080503"/>
                </a:solidFill>
                <a:latin typeface="Arial"/>
                <a:cs typeface="Arial"/>
              </a:rPr>
              <a:t>bookings.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115791-7294-3F0D-013F-E030EE79B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8E1C549-7016-8A57-33B4-D57EE7E62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F6747E-DA9C-296F-67F5-95184FCD7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4350"/>
            <a:ext cx="6382481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2FC531-B3E5-2A48-391E-FE280B84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1874CA9-E3BB-1387-7CAA-726BB0909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78C098-1247-748A-D040-79D556096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514350"/>
            <a:ext cx="685800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72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AF11-90E6-A053-A160-B4CB5965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53511-F09A-6DD0-702E-4864CBA65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80A4798-5D26-A390-2CFD-002E5853E9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4F8978E3-79ED-8640-BF1B-515EEAD6F5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DACE0B-4C6D-7363-8CEB-27917CB0C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4E0750-3A06-855F-FD8C-C58A2F934CBD}"/>
              </a:ext>
            </a:extLst>
          </p:cNvPr>
          <p:cNvSpPr txBox="1"/>
          <p:nvPr/>
        </p:nvSpPr>
        <p:spPr>
          <a:xfrm>
            <a:off x="2334905" y="347703"/>
            <a:ext cx="47789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Test Case for Sign-Up </a:t>
            </a:r>
          </a:p>
          <a:p>
            <a:endParaRPr lang="en-IN" sz="32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2EC0FD2-8BAE-5531-03C5-401D0BCAB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52116"/>
              </p:ext>
            </p:extLst>
          </p:nvPr>
        </p:nvGraphicFramePr>
        <p:xfrm>
          <a:off x="224695" y="2076764"/>
          <a:ext cx="8435230" cy="1081431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44471">
                  <a:extLst>
                    <a:ext uri="{9D8B030D-6E8A-4147-A177-3AD203B41FA5}">
                      <a16:colId xmlns:a16="http://schemas.microsoft.com/office/drawing/2014/main" val="4052877013"/>
                    </a:ext>
                  </a:extLst>
                </a:gridCol>
                <a:gridCol w="958919">
                  <a:extLst>
                    <a:ext uri="{9D8B030D-6E8A-4147-A177-3AD203B41FA5}">
                      <a16:colId xmlns:a16="http://schemas.microsoft.com/office/drawing/2014/main" val="3728239562"/>
                    </a:ext>
                  </a:extLst>
                </a:gridCol>
                <a:gridCol w="3461857">
                  <a:extLst>
                    <a:ext uri="{9D8B030D-6E8A-4147-A177-3AD203B41FA5}">
                      <a16:colId xmlns:a16="http://schemas.microsoft.com/office/drawing/2014/main" val="1004609603"/>
                    </a:ext>
                  </a:extLst>
                </a:gridCol>
                <a:gridCol w="2779237">
                  <a:extLst>
                    <a:ext uri="{9D8B030D-6E8A-4147-A177-3AD203B41FA5}">
                      <a16:colId xmlns:a16="http://schemas.microsoft.com/office/drawing/2014/main" val="2974595340"/>
                    </a:ext>
                  </a:extLst>
                </a:gridCol>
                <a:gridCol w="690746">
                  <a:extLst>
                    <a:ext uri="{9D8B030D-6E8A-4147-A177-3AD203B41FA5}">
                      <a16:colId xmlns:a16="http://schemas.microsoft.com/office/drawing/2014/main" val="2019677394"/>
                    </a:ext>
                  </a:extLst>
                </a:gridCol>
              </a:tblGrid>
              <a:tr h="42046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Reg Page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Email: newuser@example.com, Password: pass123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Valid registration details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Pass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extLst>
                  <a:ext uri="{0D108BD9-81ED-4DB2-BD59-A6C34878D82A}">
                    <a16:rowId xmlns:a16="http://schemas.microsoft.com/office/drawing/2014/main" val="4113964131"/>
                  </a:ext>
                </a:extLst>
              </a:tr>
              <a:tr h="42046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Reg Page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400" u="none" strike="noStrike" dirty="0">
                          <a:effectLst/>
                        </a:rPr>
                        <a:t>Email: existing@example.com, </a:t>
                      </a:r>
                      <a:r>
                        <a:rPr lang="fr-FR" sz="1400" u="none" strike="noStrike" dirty="0" err="1">
                          <a:effectLst/>
                        </a:rPr>
                        <a:t>Password</a:t>
                      </a:r>
                      <a:r>
                        <a:rPr lang="fr-FR" sz="1400" u="none" strike="noStrike" dirty="0">
                          <a:effectLst/>
                        </a:rPr>
                        <a:t>: pass123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Duplicate email registration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Fail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extLst>
                  <a:ext uri="{0D108BD9-81ED-4DB2-BD59-A6C34878D82A}">
                    <a16:rowId xmlns:a16="http://schemas.microsoft.com/office/drawing/2014/main" val="3259525073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Reg Page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Email: '', Password: pass123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Missing mandatory fields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Fail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77" marR="4877" marT="4877" marB="0" anchor="b"/>
                </a:tc>
                <a:extLst>
                  <a:ext uri="{0D108BD9-81ED-4DB2-BD59-A6C34878D82A}">
                    <a16:rowId xmlns:a16="http://schemas.microsoft.com/office/drawing/2014/main" val="266693709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87D4D3-FCC9-2352-05D9-503CB85D3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44349"/>
              </p:ext>
            </p:extLst>
          </p:nvPr>
        </p:nvGraphicFramePr>
        <p:xfrm>
          <a:off x="224694" y="1540635"/>
          <a:ext cx="8435231" cy="518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35924">
                  <a:extLst>
                    <a:ext uri="{9D8B030D-6E8A-4147-A177-3AD203B41FA5}">
                      <a16:colId xmlns:a16="http://schemas.microsoft.com/office/drawing/2014/main" val="3983818758"/>
                    </a:ext>
                  </a:extLst>
                </a:gridCol>
                <a:gridCol w="988050">
                  <a:extLst>
                    <a:ext uri="{9D8B030D-6E8A-4147-A177-3AD203B41FA5}">
                      <a16:colId xmlns:a16="http://schemas.microsoft.com/office/drawing/2014/main" val="1907969622"/>
                    </a:ext>
                  </a:extLst>
                </a:gridCol>
                <a:gridCol w="3420173">
                  <a:extLst>
                    <a:ext uri="{9D8B030D-6E8A-4147-A177-3AD203B41FA5}">
                      <a16:colId xmlns:a16="http://schemas.microsoft.com/office/drawing/2014/main" val="3395045102"/>
                    </a:ext>
                  </a:extLst>
                </a:gridCol>
                <a:gridCol w="2812142">
                  <a:extLst>
                    <a:ext uri="{9D8B030D-6E8A-4147-A177-3AD203B41FA5}">
                      <a16:colId xmlns:a16="http://schemas.microsoft.com/office/drawing/2014/main" val="118286240"/>
                    </a:ext>
                  </a:extLst>
                </a:gridCol>
                <a:gridCol w="678942">
                  <a:extLst>
                    <a:ext uri="{9D8B030D-6E8A-4147-A177-3AD203B41FA5}">
                      <a16:colId xmlns:a16="http://schemas.microsoft.com/office/drawing/2014/main" val="2263839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57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369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A60A1B-1630-1CC6-9B31-D98869D83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6FB3A02-EBC4-EB8A-DFE8-A640FED57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2496F2-FF8B-72BD-A803-55ED71668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" y="0"/>
            <a:ext cx="91384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960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4D9DA8-25AB-E8B2-4735-425661E8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35C5A0-77D8-B2FE-030D-F0D223BC0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BAC39F-4C14-50B2-3CA5-E18532D4F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66751"/>
            <a:ext cx="6477000" cy="360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919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7108-DCBC-2EC5-7FE6-F873F76B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20F78-24B4-3F2E-8924-4C25732E2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3B7A854-8B43-DF58-D3C9-1218F95F40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3AEC5E7A-4D7F-B021-C9AC-531D0C2FAC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E46BB2-93FF-4A70-7B87-ABFCFB9E1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843BD7-0778-D926-03C0-50E617F6C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66034"/>
              </p:ext>
            </p:extLst>
          </p:nvPr>
        </p:nvGraphicFramePr>
        <p:xfrm>
          <a:off x="455247" y="1995357"/>
          <a:ext cx="8263792" cy="145758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33405">
                  <a:extLst>
                    <a:ext uri="{9D8B030D-6E8A-4147-A177-3AD203B41FA5}">
                      <a16:colId xmlns:a16="http://schemas.microsoft.com/office/drawing/2014/main" val="468731472"/>
                    </a:ext>
                  </a:extLst>
                </a:gridCol>
                <a:gridCol w="939430">
                  <a:extLst>
                    <a:ext uri="{9D8B030D-6E8A-4147-A177-3AD203B41FA5}">
                      <a16:colId xmlns:a16="http://schemas.microsoft.com/office/drawing/2014/main" val="3080153917"/>
                    </a:ext>
                  </a:extLst>
                </a:gridCol>
                <a:gridCol w="3391498">
                  <a:extLst>
                    <a:ext uri="{9D8B030D-6E8A-4147-A177-3AD203B41FA5}">
                      <a16:colId xmlns:a16="http://schemas.microsoft.com/office/drawing/2014/main" val="701111548"/>
                    </a:ext>
                  </a:extLst>
                </a:gridCol>
                <a:gridCol w="2722752">
                  <a:extLst>
                    <a:ext uri="{9D8B030D-6E8A-4147-A177-3AD203B41FA5}">
                      <a16:colId xmlns:a16="http://schemas.microsoft.com/office/drawing/2014/main" val="4012080754"/>
                    </a:ext>
                  </a:extLst>
                </a:gridCol>
                <a:gridCol w="676707">
                  <a:extLst>
                    <a:ext uri="{9D8B030D-6E8A-4147-A177-3AD203B41FA5}">
                      <a16:colId xmlns:a16="http://schemas.microsoft.com/office/drawing/2014/main" val="1616774646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Test No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Test Name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Test Data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Test Description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Result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/>
                </a:tc>
                <a:extLst>
                  <a:ext uri="{0D108BD9-81ED-4DB2-BD59-A6C34878D82A}">
                    <a16:rowId xmlns:a16="http://schemas.microsoft.com/office/drawing/2014/main" val="31358548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Login Page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Username: user1, Password: </a:t>
                      </a:r>
                      <a:r>
                        <a:rPr lang="en-IN" sz="1400" u="none" strike="noStrike" dirty="0" err="1">
                          <a:effectLst/>
                        </a:rPr>
                        <a:t>correctpass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Valid login credentials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Pass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40139819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Login Page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Username: user1, Password: wrongpass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Invalid login credentials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Fail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3423424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Login Page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Username: '', Password: ''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Empty username and password fields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Fail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4233065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C37C2D7-414B-1119-683C-44CE564CE853}"/>
              </a:ext>
            </a:extLst>
          </p:cNvPr>
          <p:cNvSpPr txBox="1"/>
          <p:nvPr/>
        </p:nvSpPr>
        <p:spPr>
          <a:xfrm>
            <a:off x="2209800" y="627494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Test Case for Login </a:t>
            </a: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E248FB53-4805-B4EA-6041-0E3E7C7DEE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32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6C96B1A-E480-E5DF-A53D-801ED144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35524-363B-3FF3-5296-A75809705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5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5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8F5620-C88F-0664-0969-E25DBC1D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D2879B2-FAEF-091B-3AC2-C5753E555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37888B-919B-907E-3D97-4EFB65399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438150"/>
            <a:ext cx="6781800" cy="403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2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EA4F5B6-CB2C-95FB-9C07-F2102241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0215E-7E70-E9D3-BC47-2045B012F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48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66D2FA-514C-2B41-E138-1FCBB4E8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891EED-95BB-D8F9-7755-F05B020DB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5FD3E2-F7EA-2BF7-3CDB-CF3A9373E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42951"/>
            <a:ext cx="6705600" cy="352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606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4DEF1-2004-147F-63B7-F69AD77C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6875-6157-A151-D50D-4CE1FE22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2766C-95E0-5EBA-2675-B1C478DA9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49083F6-786B-BF6F-57D0-D817CF1133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219EA92-950D-EF4F-A2F8-23C9273FFD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D2911-D205-57E8-4EE2-95A6EAD6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F89DDF-130B-3CF4-EDFF-203A3644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34867"/>
              </p:ext>
            </p:extLst>
          </p:nvPr>
        </p:nvGraphicFramePr>
        <p:xfrm>
          <a:off x="533400" y="2419350"/>
          <a:ext cx="7924801" cy="11811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11524">
                  <a:extLst>
                    <a:ext uri="{9D8B030D-6E8A-4147-A177-3AD203B41FA5}">
                      <a16:colId xmlns:a16="http://schemas.microsoft.com/office/drawing/2014/main" val="3102602219"/>
                    </a:ext>
                  </a:extLst>
                </a:gridCol>
                <a:gridCol w="900893">
                  <a:extLst>
                    <a:ext uri="{9D8B030D-6E8A-4147-A177-3AD203B41FA5}">
                      <a16:colId xmlns:a16="http://schemas.microsoft.com/office/drawing/2014/main" val="3140527626"/>
                    </a:ext>
                  </a:extLst>
                </a:gridCol>
                <a:gridCol w="3252375">
                  <a:extLst>
                    <a:ext uri="{9D8B030D-6E8A-4147-A177-3AD203B41FA5}">
                      <a16:colId xmlns:a16="http://schemas.microsoft.com/office/drawing/2014/main" val="4270980654"/>
                    </a:ext>
                  </a:extLst>
                </a:gridCol>
                <a:gridCol w="2611062">
                  <a:extLst>
                    <a:ext uri="{9D8B030D-6E8A-4147-A177-3AD203B41FA5}">
                      <a16:colId xmlns:a16="http://schemas.microsoft.com/office/drawing/2014/main" val="769685799"/>
                    </a:ext>
                  </a:extLst>
                </a:gridCol>
                <a:gridCol w="648947">
                  <a:extLst>
                    <a:ext uri="{9D8B030D-6E8A-4147-A177-3AD203B41FA5}">
                      <a16:colId xmlns:a16="http://schemas.microsoft.com/office/drawing/2014/main" val="708705756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Search Bar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From: </a:t>
                      </a:r>
                      <a:r>
                        <a:rPr lang="en-US" sz="1400" u="none" strike="noStrike" dirty="0" err="1">
                          <a:effectLst/>
                        </a:rPr>
                        <a:t>CityA</a:t>
                      </a:r>
                      <a:r>
                        <a:rPr lang="en-US" sz="1400" u="none" strike="noStrike" dirty="0">
                          <a:effectLst/>
                        </a:rPr>
                        <a:t>, To: </a:t>
                      </a:r>
                      <a:r>
                        <a:rPr lang="en-US" sz="1400" u="none" strike="noStrike" dirty="0" err="1">
                          <a:effectLst/>
                        </a:rPr>
                        <a:t>CityB</a:t>
                      </a:r>
                      <a:r>
                        <a:rPr lang="en-US" sz="1400" u="none" strike="noStrike" dirty="0">
                          <a:effectLst/>
                        </a:rPr>
                        <a:t>, Date: 2026-04-10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Valid bus route search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Pass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33198756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Search Bar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From: CityX, To: CityY, Date: 2026-04-10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Invalid bus route search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Fail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297908837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Search Bar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From: '', To: '', Date: ''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Empty search fields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Fail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129349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D7120E1-0BB0-775E-F196-AC928361370D}"/>
              </a:ext>
            </a:extLst>
          </p:cNvPr>
          <p:cNvSpPr txBox="1"/>
          <p:nvPr/>
        </p:nvSpPr>
        <p:spPr>
          <a:xfrm>
            <a:off x="2182299" y="940352"/>
            <a:ext cx="4627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Test Case for Search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0B6E25-2ED9-BFE4-544F-C690A1EBA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18340"/>
              </p:ext>
            </p:extLst>
          </p:nvPr>
        </p:nvGraphicFramePr>
        <p:xfrm>
          <a:off x="533400" y="1890735"/>
          <a:ext cx="7924801" cy="518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8078229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8368223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09212673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34960330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21400425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885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401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90203D-B239-A14E-7F46-90E4766F6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D67C44-07F7-28E7-B25D-1783EB670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878" y="0"/>
            <a:ext cx="91718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2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D5CB75-89F2-A622-B172-3AD59A08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0FF5724-0950-195A-BAEE-8A8C459AB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CD543D-FCB1-2755-C3CE-08CC64BE5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235410"/>
            <a:ext cx="6400800" cy="43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407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7C1E-A9AD-9055-2112-11AAB2B25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8D4E9-8135-9812-682C-0BF09579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4293C-3C67-8DAC-83A3-148F66F3E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2D196E58-A5F6-FFCA-55B0-4ED0DCA24D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7CE335A-40CB-1641-86A3-BAE05B5130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D312E4-8558-EEEE-6BAE-96ACD38AA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F5D9B3-1AFE-743C-3925-8052785993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60787"/>
              </p:ext>
            </p:extLst>
          </p:nvPr>
        </p:nvGraphicFramePr>
        <p:xfrm>
          <a:off x="685800" y="2400828"/>
          <a:ext cx="7848600" cy="1365794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06606">
                  <a:extLst>
                    <a:ext uri="{9D8B030D-6E8A-4147-A177-3AD203B41FA5}">
                      <a16:colId xmlns:a16="http://schemas.microsoft.com/office/drawing/2014/main" val="2722650538"/>
                    </a:ext>
                  </a:extLst>
                </a:gridCol>
                <a:gridCol w="892230">
                  <a:extLst>
                    <a:ext uri="{9D8B030D-6E8A-4147-A177-3AD203B41FA5}">
                      <a16:colId xmlns:a16="http://schemas.microsoft.com/office/drawing/2014/main" val="3371008089"/>
                    </a:ext>
                  </a:extLst>
                </a:gridCol>
                <a:gridCol w="3221101">
                  <a:extLst>
                    <a:ext uri="{9D8B030D-6E8A-4147-A177-3AD203B41FA5}">
                      <a16:colId xmlns:a16="http://schemas.microsoft.com/office/drawing/2014/main" val="3342989594"/>
                    </a:ext>
                  </a:extLst>
                </a:gridCol>
                <a:gridCol w="2585955">
                  <a:extLst>
                    <a:ext uri="{9D8B030D-6E8A-4147-A177-3AD203B41FA5}">
                      <a16:colId xmlns:a16="http://schemas.microsoft.com/office/drawing/2014/main" val="3356542713"/>
                    </a:ext>
                  </a:extLst>
                </a:gridCol>
                <a:gridCol w="642708">
                  <a:extLst>
                    <a:ext uri="{9D8B030D-6E8A-4147-A177-3AD203B41FA5}">
                      <a16:colId xmlns:a16="http://schemas.microsoft.com/office/drawing/2014/main" val="4001849734"/>
                    </a:ext>
                  </a:extLst>
                </a:gridCol>
              </a:tblGrid>
              <a:tr h="43797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Booking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Bus ID: 123, Seat: A1, Name: John Doe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Valid booking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Pass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2204819061"/>
                  </a:ext>
                </a:extLst>
              </a:tr>
              <a:tr h="43797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Booking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Bus ID: 123, Seat: '', Name: John Doe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Booking without selecting seat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Fail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1519163911"/>
                  </a:ext>
                </a:extLst>
              </a:tr>
              <a:tr h="43797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>
                          <a:effectLst/>
                        </a:rPr>
                        <a:t>Booking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Bus ID: 123, Seat: A1, Name: ''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Booking with invalid passenger details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u="none" strike="noStrike" dirty="0">
                          <a:effectLst/>
                        </a:rPr>
                        <a:t>Fail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266265117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F57126-DA5C-8197-BBE9-62B5EEB26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43397"/>
              </p:ext>
            </p:extLst>
          </p:nvPr>
        </p:nvGraphicFramePr>
        <p:xfrm>
          <a:off x="685800" y="1873407"/>
          <a:ext cx="7848600" cy="518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830014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54120377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83139821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14673549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77903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6939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7DA9AF8-89FF-BB78-A078-5F8BB322231E}"/>
              </a:ext>
            </a:extLst>
          </p:cNvPr>
          <p:cNvSpPr txBox="1"/>
          <p:nvPr/>
        </p:nvSpPr>
        <p:spPr>
          <a:xfrm>
            <a:off x="2563299" y="733834"/>
            <a:ext cx="4627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Test Case for Booking </a:t>
            </a:r>
          </a:p>
        </p:txBody>
      </p:sp>
    </p:spTree>
    <p:extLst>
      <p:ext uri="{BB962C8B-B14F-4D97-AF65-F5344CB8AC3E}">
        <p14:creationId xmlns:p14="http://schemas.microsoft.com/office/powerpoint/2010/main" val="3516978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493488-C75A-0934-ABD9-B217C615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D2DA1F-4D41-41BF-3A6A-FC03CC5E9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3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92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DC8AD64-9828-55FA-DF22-77B5B8296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EBA4FDF-F1CE-6273-EF9C-D9478C19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325F2B-184D-BB06-F8A2-20A3FCA8F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666751"/>
            <a:ext cx="6629400" cy="360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73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73C6-FB54-D38D-07A5-4D0492F2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A711-6CCD-6A22-20B6-71A0680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27D21-9E4B-A69E-BFDB-6B5E9291E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46FDCBA-58EA-4370-1CAF-BD6775753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AEC230BE-C14F-29FB-A5D5-4FB704CC18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2E0363-D3C1-AFA8-3BF0-134318CA3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626" y="0"/>
            <a:ext cx="9144000" cy="514350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24A1ED-0217-4A8C-8354-30AFF1F21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64245"/>
              </p:ext>
            </p:extLst>
          </p:nvPr>
        </p:nvGraphicFramePr>
        <p:xfrm>
          <a:off x="551724" y="2411186"/>
          <a:ext cx="7746551" cy="1286658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515076">
                  <a:extLst>
                    <a:ext uri="{9D8B030D-6E8A-4147-A177-3AD203B41FA5}">
                      <a16:colId xmlns:a16="http://schemas.microsoft.com/office/drawing/2014/main" val="74573233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14733263"/>
                    </a:ext>
                  </a:extLst>
                </a:gridCol>
                <a:gridCol w="3238050">
                  <a:extLst>
                    <a:ext uri="{9D8B030D-6E8A-4147-A177-3AD203B41FA5}">
                      <a16:colId xmlns:a16="http://schemas.microsoft.com/office/drawing/2014/main" val="3764674519"/>
                    </a:ext>
                  </a:extLst>
                </a:gridCol>
                <a:gridCol w="2649199">
                  <a:extLst>
                    <a:ext uri="{9D8B030D-6E8A-4147-A177-3AD203B41FA5}">
                      <a16:colId xmlns:a16="http://schemas.microsoft.com/office/drawing/2014/main" val="2094793985"/>
                    </a:ext>
                  </a:extLst>
                </a:gridCol>
                <a:gridCol w="658426">
                  <a:extLst>
                    <a:ext uri="{9D8B030D-6E8A-4147-A177-3AD203B41FA5}">
                      <a16:colId xmlns:a16="http://schemas.microsoft.com/office/drawing/2014/main" val="2975128241"/>
                    </a:ext>
                  </a:extLst>
                </a:gridCol>
              </a:tblGrid>
              <a:tr h="3742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Payment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Card: 4111111111111111, Exp: 12/28, CVV: 123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Successful payment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Pass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2992802593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Payment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Card: 4000000000000002, Exp: 12/28, CVV: 123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Payment declined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Fail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1235338253"/>
                  </a:ext>
                </a:extLst>
              </a:tr>
              <a:tr h="3742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Payment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Card: 1234567890123456, Exp: 12/28, CVV: </a:t>
                      </a:r>
                      <a:r>
                        <a:rPr lang="en-US" sz="1400" u="none" strike="noStrike" dirty="0" err="1">
                          <a:effectLst/>
                        </a:rPr>
                        <a:t>abc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Payment with invalid card details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Fail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66" marR="2166" marT="2166" marB="0" anchor="b"/>
                </a:tc>
                <a:extLst>
                  <a:ext uri="{0D108BD9-81ED-4DB2-BD59-A6C34878D82A}">
                    <a16:rowId xmlns:a16="http://schemas.microsoft.com/office/drawing/2014/main" val="411718646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82EB836-D5F2-829B-36A4-9ADA69BCEA46}"/>
              </a:ext>
            </a:extLst>
          </p:cNvPr>
          <p:cNvSpPr txBox="1"/>
          <p:nvPr/>
        </p:nvSpPr>
        <p:spPr>
          <a:xfrm>
            <a:off x="2338943" y="644173"/>
            <a:ext cx="4627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Test Case for Payment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719DF42-4ACC-1D5E-7B43-0725C9E46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649288"/>
              </p:ext>
            </p:extLst>
          </p:nvPr>
        </p:nvGraphicFramePr>
        <p:xfrm>
          <a:off x="551724" y="1880851"/>
          <a:ext cx="7746552" cy="5181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34399">
                  <a:extLst>
                    <a:ext uri="{9D8B030D-6E8A-4147-A177-3AD203B41FA5}">
                      <a16:colId xmlns:a16="http://schemas.microsoft.com/office/drawing/2014/main" val="629019137"/>
                    </a:ext>
                  </a:extLst>
                </a:gridCol>
                <a:gridCol w="676893">
                  <a:extLst>
                    <a:ext uri="{9D8B030D-6E8A-4147-A177-3AD203B41FA5}">
                      <a16:colId xmlns:a16="http://schemas.microsoft.com/office/drawing/2014/main" val="3676868885"/>
                    </a:ext>
                  </a:extLst>
                </a:gridCol>
                <a:gridCol w="3234042">
                  <a:extLst>
                    <a:ext uri="{9D8B030D-6E8A-4147-A177-3AD203B41FA5}">
                      <a16:colId xmlns:a16="http://schemas.microsoft.com/office/drawing/2014/main" val="535855540"/>
                    </a:ext>
                  </a:extLst>
                </a:gridCol>
                <a:gridCol w="2622942">
                  <a:extLst>
                    <a:ext uri="{9D8B030D-6E8A-4147-A177-3AD203B41FA5}">
                      <a16:colId xmlns:a16="http://schemas.microsoft.com/office/drawing/2014/main" val="3545635150"/>
                    </a:ext>
                  </a:extLst>
                </a:gridCol>
                <a:gridCol w="678276">
                  <a:extLst>
                    <a:ext uri="{9D8B030D-6E8A-4147-A177-3AD203B41FA5}">
                      <a16:colId xmlns:a16="http://schemas.microsoft.com/office/drawing/2014/main" val="348641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Test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72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337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6C1A75B-0A33-4348-4DDB-7D52BB97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425FAD6-6EE6-D70C-A0A2-1A2B40F6D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20200" cy="5143500"/>
          </a:xfrm>
          <a:prstGeom prst="rect">
            <a:avLst/>
          </a:prstGeom>
        </p:spPr>
      </p:pic>
      <p:sp>
        <p:nvSpPr>
          <p:cNvPr id="11" name="Title 52">
            <a:extLst>
              <a:ext uri="{FF2B5EF4-FFF2-40B4-BE49-F238E27FC236}">
                <a16:creationId xmlns:a16="http://schemas.microsoft.com/office/drawing/2014/main" id="{981A776F-FDF7-F739-1A28-64146B3E1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971550"/>
            <a:ext cx="3199874" cy="2769989"/>
          </a:xfrm>
        </p:spPr>
        <p:txBody>
          <a:bodyPr/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Activity Diagram for </a:t>
            </a:r>
            <a:r>
              <a:rPr lang="en-US" sz="3600" dirty="0" err="1">
                <a:solidFill>
                  <a:schemeClr val="accent6">
                    <a:lumMod val="50000"/>
                  </a:schemeClr>
                </a:solidFill>
              </a:rPr>
              <a:t>TravelEase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 Bus Booking Application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4015FA-042F-C658-B074-BC89FC444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85750"/>
            <a:ext cx="2439452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19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787" y="1779952"/>
            <a:ext cx="1101030" cy="14855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4642" y="2061006"/>
            <a:ext cx="953331" cy="11643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16517" y="2114541"/>
            <a:ext cx="644505" cy="11643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4305" y="1927171"/>
            <a:ext cx="1329292" cy="1378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35851" y="2020855"/>
            <a:ext cx="1289010" cy="128481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578674" y="1084008"/>
            <a:ext cx="0" cy="3507104"/>
          </a:xfrm>
          <a:custGeom>
            <a:avLst/>
            <a:gdLst/>
            <a:ahLst/>
            <a:cxnLst/>
            <a:rect l="l" t="t" r="r" b="b"/>
            <a:pathLst>
              <a:path h="3507104">
                <a:moveTo>
                  <a:pt x="0" y="3506485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19022" y="160346"/>
            <a:ext cx="6509384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50" spc="-100" dirty="0">
                <a:solidFill>
                  <a:srgbClr val="0A1321"/>
                </a:solidFill>
                <a:latin typeface="Arial"/>
                <a:cs typeface="Arial"/>
              </a:rPr>
              <a:t>Compatibility</a:t>
            </a:r>
            <a:r>
              <a:rPr sz="2950" spc="-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800" spc="-130" dirty="0">
                <a:solidFill>
                  <a:srgbClr val="0A1321"/>
                </a:solidFill>
                <a:latin typeface="Arial"/>
                <a:cs typeface="Arial"/>
              </a:rPr>
              <a:t>&amp;</a:t>
            </a:r>
            <a:r>
              <a:rPr sz="2800" spc="-22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950" spc="-135" dirty="0">
                <a:solidFill>
                  <a:srgbClr val="0A1321"/>
                </a:solidFill>
                <a:latin typeface="Arial"/>
                <a:cs typeface="Arial"/>
              </a:rPr>
              <a:t>Cross-</a:t>
            </a:r>
            <a:r>
              <a:rPr sz="2950" spc="-110" dirty="0">
                <a:solidFill>
                  <a:srgbClr val="0A1321"/>
                </a:solidFill>
                <a:latin typeface="Arial"/>
                <a:cs typeface="Arial"/>
              </a:rPr>
              <a:t>Browser</a:t>
            </a:r>
            <a:r>
              <a:rPr sz="2950" spc="5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2950" spc="-65" dirty="0">
                <a:solidFill>
                  <a:srgbClr val="0A1321"/>
                </a:solidFill>
                <a:latin typeface="Arial"/>
                <a:cs typeface="Arial"/>
              </a:rPr>
              <a:t>Testing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301" y="1139156"/>
            <a:ext cx="336550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90" dirty="0">
                <a:solidFill>
                  <a:srgbClr val="265277"/>
                </a:solidFill>
                <a:latin typeface="Arial"/>
                <a:cs typeface="Arial"/>
              </a:rPr>
              <a:t>Device</a:t>
            </a:r>
            <a:r>
              <a:rPr sz="2200" spc="-6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265277"/>
                </a:solidFill>
                <a:latin typeface="Arial"/>
                <a:cs typeface="Arial"/>
              </a:rPr>
              <a:t>Compatibility</a:t>
            </a:r>
            <a:r>
              <a:rPr sz="2200" spc="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5277"/>
                </a:solidFill>
                <a:latin typeface="Arial"/>
                <a:cs typeface="Arial"/>
              </a:rPr>
              <a:t>Testing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2923" y="3075064"/>
            <a:ext cx="168275" cy="426084"/>
          </a:xfrm>
          <a:prstGeom prst="rect">
            <a:avLst/>
          </a:prstGeom>
          <a:solidFill>
            <a:srgbClr val="EBF6FB"/>
          </a:solidFill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50" spc="-45" dirty="0">
                <a:solidFill>
                  <a:srgbClr val="B5C4C8"/>
                </a:solidFill>
                <a:latin typeface="Arial"/>
                <a:cs typeface="Arial"/>
              </a:rPr>
              <a:t>.,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333" y="3693477"/>
            <a:ext cx="3492500" cy="61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2110" marR="5080" indent="-360045">
              <a:lnSpc>
                <a:spcPct val="106700"/>
              </a:lnSpc>
              <a:spcBef>
                <a:spcPts val="55"/>
              </a:spcBef>
              <a:tabLst>
                <a:tab pos="375285" algn="l"/>
              </a:tabLst>
            </a:pPr>
            <a:r>
              <a:rPr sz="1850" b="1" spc="30" dirty="0">
                <a:solidFill>
                  <a:srgbClr val="427EBF"/>
                </a:solidFill>
                <a:latin typeface="Arial"/>
                <a:cs typeface="Arial"/>
              </a:rPr>
              <a:t>0</a:t>
            </a:r>
            <a:r>
              <a:rPr sz="1850" b="1" dirty="0">
                <a:solidFill>
                  <a:srgbClr val="427EBF"/>
                </a:solidFill>
                <a:latin typeface="Arial"/>
                <a:cs typeface="Arial"/>
              </a:rPr>
              <a:t>		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Testing</a:t>
            </a:r>
            <a:r>
              <a:rPr sz="1800" spc="2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0A1321"/>
                </a:solidFill>
                <a:latin typeface="Arial"/>
                <a:cs typeface="Arial"/>
              </a:rPr>
              <a:t>on</a:t>
            </a:r>
            <a:r>
              <a:rPr sz="1800" spc="13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desktops,</a:t>
            </a:r>
            <a:r>
              <a:rPr sz="1800" spc="24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0A1321"/>
                </a:solidFill>
                <a:latin typeface="Arial"/>
                <a:cs typeface="Arial"/>
              </a:rPr>
              <a:t>tablets, </a:t>
            </a:r>
            <a:r>
              <a:rPr sz="1800" spc="65" dirty="0">
                <a:solidFill>
                  <a:srgbClr val="0A1321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A1321"/>
                </a:solidFill>
                <a:latin typeface="Arial"/>
                <a:cs typeface="Arial"/>
              </a:rPr>
              <a:t>smartphones.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97131" y="1139156"/>
            <a:ext cx="299847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85" dirty="0">
                <a:solidFill>
                  <a:srgbClr val="265277"/>
                </a:solidFill>
                <a:latin typeface="Arial"/>
                <a:cs typeface="Arial"/>
              </a:rPr>
              <a:t>Cross-</a:t>
            </a:r>
            <a:r>
              <a:rPr sz="2200" spc="-50" dirty="0">
                <a:solidFill>
                  <a:srgbClr val="265277"/>
                </a:solidFill>
                <a:latin typeface="Arial"/>
                <a:cs typeface="Arial"/>
              </a:rPr>
              <a:t>Browser</a:t>
            </a:r>
            <a:r>
              <a:rPr sz="2200" spc="-5" dirty="0">
                <a:solidFill>
                  <a:srgbClr val="265277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265277"/>
                </a:solidFill>
                <a:latin typeface="Arial"/>
                <a:cs typeface="Arial"/>
              </a:rPr>
              <a:t>Validation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0835" y="3693477"/>
            <a:ext cx="2974340" cy="6146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00355" marR="5080" indent="-288290">
              <a:lnSpc>
                <a:spcPct val="106700"/>
              </a:lnSpc>
              <a:spcBef>
                <a:spcPts val="55"/>
              </a:spcBef>
              <a:tabLst>
                <a:tab pos="309880" algn="l"/>
              </a:tabLst>
            </a:pPr>
            <a:r>
              <a:rPr sz="1850" b="1" spc="-50" dirty="0">
                <a:solidFill>
                  <a:srgbClr val="427EBF"/>
                </a:solidFill>
                <a:latin typeface="Arial"/>
                <a:cs typeface="Arial"/>
              </a:rPr>
              <a:t>0</a:t>
            </a:r>
            <a:r>
              <a:rPr sz="1850" b="1" dirty="0">
                <a:solidFill>
                  <a:srgbClr val="427EBF"/>
                </a:solidFill>
                <a:latin typeface="Arial"/>
                <a:cs typeface="Arial"/>
              </a:rPr>
              <a:t>		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Validation</a:t>
            </a:r>
            <a:r>
              <a:rPr sz="1800" spc="240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on</a:t>
            </a:r>
            <a:r>
              <a:rPr sz="1800" spc="8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A1321"/>
                </a:solidFill>
                <a:latin typeface="Arial"/>
                <a:cs typeface="Arial"/>
              </a:rPr>
              <a:t>Firefox</a:t>
            </a:r>
            <a:r>
              <a:rPr sz="1800" spc="32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A1321"/>
                </a:solidFill>
                <a:latin typeface="Arial"/>
                <a:cs typeface="Arial"/>
              </a:rPr>
              <a:t>and </a:t>
            </a:r>
            <a:r>
              <a:rPr sz="1800" spc="60" dirty="0">
                <a:solidFill>
                  <a:srgbClr val="0A1321"/>
                </a:solidFill>
                <a:latin typeface="Arial"/>
                <a:cs typeface="Arial"/>
              </a:rPr>
              <a:t>Microsoft</a:t>
            </a:r>
            <a:r>
              <a:rPr sz="1800" spc="135" dirty="0">
                <a:solidFill>
                  <a:srgbClr val="0A1321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A1321"/>
                </a:solidFill>
                <a:latin typeface="Arial"/>
                <a:cs typeface="Arial"/>
              </a:rPr>
              <a:t>Edge.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350" y="1806719"/>
            <a:ext cx="926476" cy="93684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48625" y="1806719"/>
            <a:ext cx="966758" cy="93684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3379" y="1605966"/>
            <a:ext cx="0" cy="2556510"/>
          </a:xfrm>
          <a:custGeom>
            <a:avLst/>
            <a:gdLst/>
            <a:ahLst/>
            <a:cxnLst/>
            <a:rect l="l" t="t" r="r" b="b"/>
            <a:pathLst>
              <a:path h="2556510">
                <a:moveTo>
                  <a:pt x="0" y="255625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04119" y="1592583"/>
            <a:ext cx="0" cy="2583180"/>
          </a:xfrm>
          <a:custGeom>
            <a:avLst/>
            <a:gdLst/>
            <a:ahLst/>
            <a:cxnLst/>
            <a:rect l="l" t="t" r="r" b="b"/>
            <a:pathLst>
              <a:path h="2583179">
                <a:moveTo>
                  <a:pt x="0" y="2583021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53227" y="1605966"/>
            <a:ext cx="0" cy="2556510"/>
          </a:xfrm>
          <a:custGeom>
            <a:avLst/>
            <a:gdLst/>
            <a:ahLst/>
            <a:cxnLst/>
            <a:rect l="l" t="t" r="r" b="b"/>
            <a:pathLst>
              <a:path h="2556510">
                <a:moveTo>
                  <a:pt x="0" y="2556254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673969" y="1592583"/>
            <a:ext cx="0" cy="2583180"/>
          </a:xfrm>
          <a:custGeom>
            <a:avLst/>
            <a:gdLst/>
            <a:ahLst/>
            <a:cxnLst/>
            <a:rect l="l" t="t" r="r" b="b"/>
            <a:pathLst>
              <a:path h="2583179">
                <a:moveTo>
                  <a:pt x="0" y="2583021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20363" y="1518973"/>
            <a:ext cx="3786504" cy="0"/>
          </a:xfrm>
          <a:custGeom>
            <a:avLst/>
            <a:gdLst/>
            <a:ahLst/>
            <a:cxnLst/>
            <a:rect l="l" t="t" r="r" b="b"/>
            <a:pathLst>
              <a:path w="3786504">
                <a:moveTo>
                  <a:pt x="0" y="0"/>
                </a:moveTo>
                <a:lnTo>
                  <a:pt x="378646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3942" y="1518973"/>
            <a:ext cx="3773170" cy="0"/>
          </a:xfrm>
          <a:custGeom>
            <a:avLst/>
            <a:gdLst/>
            <a:ahLst/>
            <a:cxnLst/>
            <a:rect l="l" t="t" r="r" b="b"/>
            <a:pathLst>
              <a:path w="3773170">
                <a:moveTo>
                  <a:pt x="0" y="0"/>
                </a:moveTo>
                <a:lnTo>
                  <a:pt x="377304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47218" y="4242522"/>
            <a:ext cx="3746500" cy="0"/>
          </a:xfrm>
          <a:custGeom>
            <a:avLst/>
            <a:gdLst/>
            <a:ahLst/>
            <a:cxnLst/>
            <a:rect l="l" t="t" r="r" b="b"/>
            <a:pathLst>
              <a:path w="3746500">
                <a:moveTo>
                  <a:pt x="0" y="0"/>
                </a:moveTo>
                <a:lnTo>
                  <a:pt x="3746186" y="0"/>
                </a:lnTo>
              </a:path>
            </a:pathLst>
          </a:custGeom>
          <a:ln w="66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942" y="4242522"/>
            <a:ext cx="3759835" cy="0"/>
          </a:xfrm>
          <a:custGeom>
            <a:avLst/>
            <a:gdLst/>
            <a:ahLst/>
            <a:cxnLst/>
            <a:rect l="l" t="t" r="r" b="b"/>
            <a:pathLst>
              <a:path w="3759835">
                <a:moveTo>
                  <a:pt x="0" y="0"/>
                </a:moveTo>
                <a:lnTo>
                  <a:pt x="3759615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757" rIns="0" bIns="0" rtlCol="0">
            <a:spAutoFit/>
          </a:bodyPr>
          <a:lstStyle/>
          <a:p>
            <a:pPr marL="1056005">
              <a:lnSpc>
                <a:spcPct val="100000"/>
              </a:lnSpc>
              <a:spcBef>
                <a:spcPts val="105"/>
              </a:spcBef>
            </a:pPr>
            <a:r>
              <a:rPr sz="3250" dirty="0">
                <a:solidFill>
                  <a:srgbClr val="08244D"/>
                </a:solidFill>
                <a:latin typeface="Arial"/>
                <a:cs typeface="Arial"/>
              </a:rPr>
              <a:t>Security</a:t>
            </a:r>
            <a:r>
              <a:rPr sz="3250" spc="305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08244D"/>
                </a:solidFill>
                <a:latin typeface="Arial"/>
                <a:cs typeface="Arial"/>
              </a:rPr>
              <a:t>Testing</a:t>
            </a:r>
            <a:r>
              <a:rPr sz="3250" spc="215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08244D"/>
                </a:solidFill>
                <a:latin typeface="Arial"/>
                <a:cs typeface="Arial"/>
              </a:rPr>
              <a:t>Implementation</a:t>
            </a:r>
            <a:endParaRPr sz="32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339" y="1934826"/>
            <a:ext cx="3061335" cy="1626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1725">
              <a:lnSpc>
                <a:spcPct val="100000"/>
              </a:lnSpc>
              <a:spcBef>
                <a:spcPts val="105"/>
              </a:spcBef>
            </a:pP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Secure</a:t>
            </a:r>
            <a:r>
              <a:rPr sz="2050" b="1" spc="7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Login</a:t>
            </a:r>
            <a:r>
              <a:rPr sz="2050" b="1" spc="8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100" spc="30" dirty="0">
                <a:solidFill>
                  <a:srgbClr val="08244D"/>
                </a:solidFill>
                <a:latin typeface="Arial"/>
                <a:cs typeface="Arial"/>
              </a:rPr>
              <a:t>&amp;</a:t>
            </a:r>
            <a:endParaRPr sz="2100">
              <a:latin typeface="Arial"/>
              <a:cs typeface="Arial"/>
            </a:endParaRPr>
          </a:p>
          <a:p>
            <a:pPr marL="1098550">
              <a:lnSpc>
                <a:spcPct val="100000"/>
              </a:lnSpc>
              <a:spcBef>
                <a:spcPts val="60"/>
              </a:spcBef>
            </a:pP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Encryption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50">
              <a:latin typeface="Arial"/>
              <a:cs typeface="Arial"/>
            </a:endParaRPr>
          </a:p>
          <a:p>
            <a:pPr marL="14604" marR="34925" indent="-2540">
              <a:lnSpc>
                <a:spcPct val="108600"/>
              </a:lnSpc>
            </a:pP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Secure login</a:t>
            </a:r>
            <a:r>
              <a:rPr sz="1900" spc="-2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authentication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and</a:t>
            </a:r>
            <a:r>
              <a:rPr sz="1900" spc="1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password</a:t>
            </a:r>
            <a:r>
              <a:rPr sz="1900" spc="90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encryption.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6892" y="1941192"/>
            <a:ext cx="3220720" cy="193421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159510" marR="71755" indent="-5715">
              <a:lnSpc>
                <a:spcPct val="102800"/>
              </a:lnSpc>
              <a:spcBef>
                <a:spcPts val="35"/>
              </a:spcBef>
            </a:pP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Role-</a:t>
            </a: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Based </a:t>
            </a:r>
            <a:r>
              <a:rPr sz="2050" b="1" dirty="0">
                <a:solidFill>
                  <a:srgbClr val="08244D"/>
                </a:solidFill>
                <a:latin typeface="Arial"/>
                <a:cs typeface="Arial"/>
              </a:rPr>
              <a:t>Access</a:t>
            </a:r>
            <a:r>
              <a:rPr sz="2050" b="1" spc="160" dirty="0">
                <a:solidFill>
                  <a:srgbClr val="08244D"/>
                </a:solidFill>
                <a:latin typeface="Arial"/>
                <a:cs typeface="Arial"/>
              </a:rPr>
              <a:t> </a:t>
            </a:r>
            <a:r>
              <a:rPr sz="2050" b="1" spc="-10" dirty="0">
                <a:solidFill>
                  <a:srgbClr val="08244D"/>
                </a:solidFill>
                <a:latin typeface="Arial"/>
                <a:cs typeface="Arial"/>
              </a:rPr>
              <a:t>Control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50">
              <a:latin typeface="Arial"/>
              <a:cs typeface="Arial"/>
            </a:endParaRPr>
          </a:p>
          <a:p>
            <a:pPr marL="15240" marR="5080" indent="-3175">
              <a:lnSpc>
                <a:spcPct val="108600"/>
              </a:lnSpc>
              <a:spcBef>
                <a:spcPts val="5"/>
              </a:spcBef>
            </a:pP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Role-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based</a:t>
            </a:r>
            <a:r>
              <a:rPr sz="1900" spc="240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access</a:t>
            </a:r>
            <a:r>
              <a:rPr sz="1900" spc="9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control</a:t>
            </a:r>
            <a:r>
              <a:rPr sz="1900" spc="7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01070F"/>
                </a:solidFill>
                <a:latin typeface="Arial"/>
                <a:cs typeface="Arial"/>
              </a:rPr>
              <a:t>to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prevent</a:t>
            </a:r>
            <a:r>
              <a:rPr sz="1900" spc="13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01070F"/>
                </a:solidFill>
                <a:latin typeface="Arial"/>
                <a:cs typeface="Arial"/>
              </a:rPr>
              <a:t>unauthorized</a:t>
            </a:r>
            <a:r>
              <a:rPr sz="1900" spc="235" dirty="0">
                <a:solidFill>
                  <a:srgbClr val="01070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01070F"/>
                </a:solidFill>
                <a:latin typeface="Arial"/>
                <a:cs typeface="Arial"/>
              </a:rPr>
              <a:t>admin access</a:t>
            </a:r>
            <a:r>
              <a:rPr sz="1900" spc="-10" dirty="0">
                <a:solidFill>
                  <a:srgbClr val="18212F"/>
                </a:solidFill>
                <a:latin typeface="Arial"/>
                <a:cs typeface="Arial"/>
              </a:rPr>
              <a:t>.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4" y="3814249"/>
            <a:ext cx="308825" cy="4148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109" y="2810484"/>
            <a:ext cx="496806" cy="508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4635" y="2569580"/>
            <a:ext cx="469951" cy="4015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68336" y="1980706"/>
            <a:ext cx="496806" cy="4818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54533" y="709270"/>
            <a:ext cx="389467" cy="70932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22956" y="1164309"/>
            <a:ext cx="0" cy="2998470"/>
          </a:xfrm>
          <a:custGeom>
            <a:avLst/>
            <a:gdLst/>
            <a:ahLst/>
            <a:cxnLst/>
            <a:rect l="l" t="t" r="r" b="b"/>
            <a:pathLst>
              <a:path h="2998470">
                <a:moveTo>
                  <a:pt x="0" y="299791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21444" y="2770333"/>
            <a:ext cx="0" cy="1391920"/>
          </a:xfrm>
          <a:custGeom>
            <a:avLst/>
            <a:gdLst/>
            <a:ahLst/>
            <a:cxnLst/>
            <a:rect l="l" t="t" r="r" b="b"/>
            <a:pathLst>
              <a:path h="1391920">
                <a:moveTo>
                  <a:pt x="0" y="1391887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1444" y="1164309"/>
            <a:ext cx="0" cy="1151255"/>
          </a:xfrm>
          <a:custGeom>
            <a:avLst/>
            <a:gdLst/>
            <a:ahLst/>
            <a:cxnLst/>
            <a:rect l="l" t="t" r="r" b="b"/>
            <a:pathLst>
              <a:path h="1151255">
                <a:moveTo>
                  <a:pt x="0" y="1150983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35902" y="2971087"/>
            <a:ext cx="0" cy="1204595"/>
          </a:xfrm>
          <a:custGeom>
            <a:avLst/>
            <a:gdLst/>
            <a:ahLst/>
            <a:cxnLst/>
            <a:rect l="l" t="t" r="r" b="b"/>
            <a:pathLst>
              <a:path h="1204595">
                <a:moveTo>
                  <a:pt x="0" y="1204517"/>
                </a:moveTo>
                <a:lnTo>
                  <a:pt x="0" y="0"/>
                </a:lnTo>
              </a:path>
            </a:pathLst>
          </a:custGeom>
          <a:ln w="6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35902" y="1164309"/>
            <a:ext cx="0" cy="923925"/>
          </a:xfrm>
          <a:custGeom>
            <a:avLst/>
            <a:gdLst/>
            <a:ahLst/>
            <a:cxnLst/>
            <a:rect l="l" t="t" r="r" b="b"/>
            <a:pathLst>
              <a:path h="923925">
                <a:moveTo>
                  <a:pt x="0" y="923463"/>
                </a:moveTo>
                <a:lnTo>
                  <a:pt x="0" y="0"/>
                </a:lnTo>
              </a:path>
            </a:pathLst>
          </a:custGeom>
          <a:ln w="3175">
            <a:solidFill>
              <a:srgbClr val="BFC4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97732" y="1913788"/>
            <a:ext cx="0" cy="655955"/>
          </a:xfrm>
          <a:custGeom>
            <a:avLst/>
            <a:gdLst/>
            <a:ahLst/>
            <a:cxnLst/>
            <a:rect l="l" t="t" r="r" b="b"/>
            <a:pathLst>
              <a:path h="655955">
                <a:moveTo>
                  <a:pt x="0" y="655792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27678" y="1164309"/>
            <a:ext cx="0" cy="2998470"/>
          </a:xfrm>
          <a:custGeom>
            <a:avLst/>
            <a:gdLst/>
            <a:ahLst/>
            <a:cxnLst/>
            <a:rect l="l" t="t" r="r" b="b"/>
            <a:pathLst>
              <a:path h="2998470">
                <a:moveTo>
                  <a:pt x="0" y="2997911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09751" y="1097392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59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96806" y="1097392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11159" y="1893712"/>
            <a:ext cx="2739390" cy="0"/>
          </a:xfrm>
          <a:custGeom>
            <a:avLst/>
            <a:gdLst/>
            <a:ahLst/>
            <a:cxnLst/>
            <a:rect l="l" t="t" r="r" b="b"/>
            <a:pathLst>
              <a:path w="2739390">
                <a:moveTo>
                  <a:pt x="0" y="0"/>
                </a:moveTo>
                <a:lnTo>
                  <a:pt x="273914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96703" y="2777025"/>
            <a:ext cx="658495" cy="0"/>
          </a:xfrm>
          <a:custGeom>
            <a:avLst/>
            <a:gdLst/>
            <a:ahLst/>
            <a:cxnLst/>
            <a:rect l="l" t="t" r="r" b="b"/>
            <a:pathLst>
              <a:path w="658495">
                <a:moveTo>
                  <a:pt x="0" y="0"/>
                </a:moveTo>
                <a:lnTo>
                  <a:pt x="65793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11159" y="3513119"/>
            <a:ext cx="3061970" cy="0"/>
          </a:xfrm>
          <a:custGeom>
            <a:avLst/>
            <a:gdLst/>
            <a:ahLst/>
            <a:cxnLst/>
            <a:rect l="l" t="t" r="r" b="b"/>
            <a:pathLst>
              <a:path w="3061970">
                <a:moveTo>
                  <a:pt x="0" y="0"/>
                </a:moveTo>
                <a:lnTo>
                  <a:pt x="3061401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196324" y="4222446"/>
            <a:ext cx="3477895" cy="0"/>
          </a:xfrm>
          <a:custGeom>
            <a:avLst/>
            <a:gdLst/>
            <a:ahLst/>
            <a:cxnLst/>
            <a:rect l="l" t="t" r="r" b="b"/>
            <a:pathLst>
              <a:path w="3477895">
                <a:moveTo>
                  <a:pt x="0" y="0"/>
                </a:moveTo>
                <a:lnTo>
                  <a:pt x="3477644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6806" y="4222446"/>
            <a:ext cx="3464560" cy="0"/>
          </a:xfrm>
          <a:custGeom>
            <a:avLst/>
            <a:gdLst/>
            <a:ahLst/>
            <a:cxnLst/>
            <a:rect l="l" t="t" r="r" b="b"/>
            <a:pathLst>
              <a:path w="3464560">
                <a:moveTo>
                  <a:pt x="0" y="0"/>
                </a:moveTo>
                <a:lnTo>
                  <a:pt x="3464216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003" rIns="0" bIns="0" rtlCol="0">
            <a:spAutoFit/>
          </a:bodyPr>
          <a:lstStyle/>
          <a:p>
            <a:pPr marL="819785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0F2B3D"/>
                </a:solidFill>
                <a:latin typeface="Arial"/>
                <a:cs typeface="Arial"/>
              </a:rPr>
              <a:t>Database</a:t>
            </a:r>
            <a:r>
              <a:rPr sz="2400" spc="65" dirty="0">
                <a:solidFill>
                  <a:srgbClr val="0F2B3D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0F2B3D"/>
                </a:solidFill>
                <a:latin typeface="Arial"/>
                <a:cs typeface="Arial"/>
              </a:rPr>
              <a:t>Implementation</a:t>
            </a:r>
            <a:r>
              <a:rPr sz="2400" spc="-40" dirty="0">
                <a:solidFill>
                  <a:srgbClr val="0F2B3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F2B3D"/>
                </a:solidFill>
                <a:latin typeface="Arial"/>
                <a:cs typeface="Arial"/>
              </a:rPr>
              <a:t>(MongoDB </a:t>
            </a:r>
            <a:r>
              <a:rPr sz="2400" spc="-10" dirty="0">
                <a:solidFill>
                  <a:srgbClr val="0F2B3D"/>
                </a:solidFill>
                <a:latin typeface="Arial"/>
                <a:cs typeface="Arial"/>
              </a:rPr>
              <a:t>Snapshot)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6132" y="1255704"/>
            <a:ext cx="2458720" cy="5041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89635" marR="5080" indent="-877569">
              <a:lnSpc>
                <a:spcPts val="1839"/>
              </a:lnSpc>
              <a:spcBef>
                <a:spcPts val="229"/>
              </a:spcBef>
            </a:pPr>
            <a:r>
              <a:rPr sz="1600" b="1" spc="-100" dirty="0">
                <a:solidFill>
                  <a:srgbClr val="050707"/>
                </a:solidFill>
                <a:latin typeface="Arial"/>
                <a:cs typeface="Arial"/>
              </a:rPr>
              <a:t>Bus</a:t>
            </a:r>
            <a:r>
              <a:rPr sz="1600" b="1" spc="-85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45" dirty="0">
                <a:solidFill>
                  <a:srgbClr val="050707"/>
                </a:solidFill>
                <a:latin typeface="Arial"/>
                <a:cs typeface="Arial"/>
              </a:rPr>
              <a:t>Information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050707"/>
                </a:solidFill>
                <a:latin typeface="Arial"/>
                <a:cs typeface="Arial"/>
              </a:rPr>
              <a:t>Collection 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(Buses)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4787" y="1893712"/>
            <a:ext cx="3075305" cy="1619885"/>
          </a:xfrm>
          <a:prstGeom prst="rect">
            <a:avLst/>
          </a:prstGeom>
          <a:ln w="1342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">
              <a:lnSpc>
                <a:spcPts val="790"/>
              </a:lnSpc>
            </a:pPr>
            <a:r>
              <a:rPr sz="800" b="1" i="1" spc="-50" dirty="0">
                <a:solidFill>
                  <a:srgbClr val="466472"/>
                </a:solidFill>
                <a:latin typeface="Arial"/>
                <a:cs typeface="Arial"/>
              </a:rPr>
              <a:t>r</a:t>
            </a:r>
            <a:endParaRPr sz="800">
              <a:latin typeface="Arial"/>
              <a:cs typeface="Arial"/>
            </a:endParaRPr>
          </a:p>
          <a:p>
            <a:pPr marL="163830">
              <a:lnSpc>
                <a:spcPct val="100000"/>
              </a:lnSpc>
              <a:spcBef>
                <a:spcPts val="63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292735" marR="113664">
              <a:lnSpc>
                <a:spcPct val="107800"/>
              </a:lnSpc>
              <a:spcBef>
                <a:spcPts val="70"/>
              </a:spcBef>
            </a:pP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"_id"</a:t>
            </a:r>
            <a:r>
              <a:rPr sz="1100" spc="90" dirty="0">
                <a:solidFill>
                  <a:srgbClr val="050707"/>
                </a:solidFill>
                <a:latin typeface="Times New Roman"/>
                <a:cs typeface="Times New Roman"/>
              </a:rPr>
              <a:t>:</a:t>
            </a:r>
            <a:r>
              <a:rPr sz="1100" spc="300" dirty="0">
                <a:solidFill>
                  <a:srgbClr val="050707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"bus_001",</a:t>
            </a:r>
            <a:r>
              <a:rPr sz="1100" spc="500" dirty="0">
                <a:solidFill>
                  <a:srgbClr val="282A2D"/>
                </a:solidFill>
                <a:latin typeface="Times New Roman"/>
                <a:cs typeface="Times New Roman"/>
              </a:rPr>
              <a:t>  </a:t>
            </a:r>
            <a:r>
              <a:rPr sz="1100" spc="70" dirty="0">
                <a:solidFill>
                  <a:srgbClr val="282A2D"/>
                </a:solidFill>
                <a:latin typeface="Times New Roman"/>
                <a:cs typeface="Times New Roman"/>
              </a:rPr>
              <a:t>"registration_number":</a:t>
            </a:r>
            <a:r>
              <a:rPr sz="1100" spc="42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282A2D"/>
                </a:solidFill>
                <a:latin typeface="Times New Roman"/>
                <a:cs typeface="Times New Roman"/>
              </a:rPr>
              <a:t>"KA-10-FL-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5404", </a:t>
            </a: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"operator":</a:t>
            </a:r>
            <a:r>
              <a:rPr sz="1100" spc="33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"KSRTC"</a:t>
            </a:r>
            <a:r>
              <a:rPr sz="1100" spc="-10" dirty="0">
                <a:solidFill>
                  <a:srgbClr val="050707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292735" marR="1353185">
              <a:lnSpc>
                <a:spcPts val="1420"/>
              </a:lnSpc>
              <a:spcBef>
                <a:spcPts val="15"/>
              </a:spcBef>
            </a:pP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"type":</a:t>
            </a:r>
            <a:r>
              <a:rPr sz="1100" spc="19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65" dirty="0">
                <a:solidFill>
                  <a:srgbClr val="282A2D"/>
                </a:solidFill>
                <a:latin typeface="Times New Roman"/>
                <a:cs typeface="Times New Roman"/>
              </a:rPr>
              <a:t>"AC</a:t>
            </a:r>
            <a:r>
              <a:rPr sz="1100" spc="19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65" dirty="0">
                <a:solidFill>
                  <a:srgbClr val="282A2D"/>
                </a:solidFill>
                <a:latin typeface="Times New Roman"/>
                <a:cs typeface="Times New Roman"/>
              </a:rPr>
              <a:t>Sleeper", </a:t>
            </a:r>
            <a:r>
              <a:rPr sz="1100" spc="85" dirty="0">
                <a:solidFill>
                  <a:srgbClr val="282A2D"/>
                </a:solidFill>
                <a:latin typeface="Times New Roman"/>
                <a:cs typeface="Times New Roman"/>
              </a:rPr>
              <a:t>"capacity":</a:t>
            </a:r>
            <a:r>
              <a:rPr sz="1100" spc="365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25" dirty="0">
                <a:solidFill>
                  <a:srgbClr val="282A2D"/>
                </a:solidFill>
                <a:latin typeface="Times New Roman"/>
                <a:cs typeface="Times New Roman"/>
              </a:rPr>
              <a:t>30</a:t>
            </a:r>
            <a:endParaRPr sz="1100">
              <a:latin typeface="Times New Roman"/>
              <a:cs typeface="Times New Roman"/>
            </a:endParaRPr>
          </a:p>
          <a:p>
            <a:pPr marL="164465">
              <a:lnSpc>
                <a:spcPts val="1185"/>
              </a:lnSpc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9448" y="3642062"/>
            <a:ext cx="2840990" cy="3962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625475" marR="5080" indent="-613410">
              <a:lnSpc>
                <a:spcPct val="102499"/>
              </a:lnSpc>
              <a:spcBef>
                <a:spcPts val="65"/>
              </a:spcBef>
            </a:pP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Stores</a:t>
            </a:r>
            <a:r>
              <a:rPr sz="1200" spc="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bus</a:t>
            </a:r>
            <a:r>
              <a:rPr sz="12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details,</a:t>
            </a:r>
            <a:r>
              <a:rPr sz="1200" spc="8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including</a:t>
            </a:r>
            <a:r>
              <a:rPr sz="1200" spc="3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6181A"/>
                </a:solidFill>
                <a:latin typeface="Arial"/>
                <a:cs typeface="Arial"/>
              </a:rPr>
              <a:t>registration,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operator,</a:t>
            </a:r>
            <a:r>
              <a:rPr sz="1200" spc="6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and</a:t>
            </a:r>
            <a:r>
              <a:rPr sz="1200" spc="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82A2D"/>
                </a:solidFill>
                <a:latin typeface="Arial"/>
                <a:cs typeface="Arial"/>
              </a:rPr>
              <a:t>capacity.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4948" y="1255704"/>
            <a:ext cx="2689860" cy="50419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55980" marR="5080" indent="-843915">
              <a:lnSpc>
                <a:spcPts val="1839"/>
              </a:lnSpc>
              <a:spcBef>
                <a:spcPts val="229"/>
              </a:spcBef>
            </a:pPr>
            <a:r>
              <a:rPr sz="1600" b="1" spc="-45" dirty="0">
                <a:solidFill>
                  <a:srgbClr val="050707"/>
                </a:solidFill>
                <a:latin typeface="Arial"/>
                <a:cs typeface="Arial"/>
              </a:rPr>
              <a:t>Real-</a:t>
            </a:r>
            <a:r>
              <a:rPr sz="1600" b="1" spc="-30" dirty="0">
                <a:solidFill>
                  <a:srgbClr val="050707"/>
                </a:solidFill>
                <a:latin typeface="Arial"/>
                <a:cs typeface="Arial"/>
              </a:rPr>
              <a:t>time</a:t>
            </a:r>
            <a:r>
              <a:rPr sz="1600" b="1" spc="-2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85" dirty="0">
                <a:solidFill>
                  <a:srgbClr val="050707"/>
                </a:solidFill>
                <a:latin typeface="Arial"/>
                <a:cs typeface="Arial"/>
              </a:rPr>
              <a:t>Booking</a:t>
            </a:r>
            <a:r>
              <a:rPr sz="1600" b="1" spc="10" dirty="0">
                <a:solidFill>
                  <a:srgbClr val="050707"/>
                </a:solidFill>
                <a:latin typeface="Arial"/>
                <a:cs typeface="Arial"/>
              </a:rPr>
              <a:t> </a:t>
            </a:r>
            <a:r>
              <a:rPr sz="1600" b="1" spc="-40" dirty="0">
                <a:solidFill>
                  <a:srgbClr val="050707"/>
                </a:solidFill>
                <a:latin typeface="Arial"/>
                <a:cs typeface="Arial"/>
              </a:rPr>
              <a:t>Collection </a:t>
            </a:r>
            <a:r>
              <a:rPr sz="1600" b="1" spc="-10" dirty="0">
                <a:solidFill>
                  <a:srgbClr val="050707"/>
                </a:solidFill>
                <a:latin typeface="Arial"/>
                <a:cs typeface="Arial"/>
              </a:rPr>
              <a:t>(Bookings)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49296" y="1974511"/>
            <a:ext cx="6476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31760" y="2376668"/>
            <a:ext cx="810895" cy="35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40"/>
              </a:lnSpc>
              <a:spcBef>
                <a:spcPts val="100"/>
              </a:spcBef>
            </a:pPr>
            <a:r>
              <a:rPr sz="1100" spc="-50" dirty="0">
                <a:solidFill>
                  <a:srgbClr val="466472"/>
                </a:solidFill>
                <a:latin typeface="Arial"/>
                <a:cs typeface="Arial"/>
              </a:rPr>
              <a:t>�</a:t>
            </a:r>
            <a:endParaRPr sz="1100">
              <a:latin typeface="Arial"/>
              <a:cs typeface="Arial"/>
            </a:endParaRPr>
          </a:p>
          <a:p>
            <a:pPr marL="106045">
              <a:lnSpc>
                <a:spcPts val="1360"/>
              </a:lnSpc>
            </a:pP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Data</a:t>
            </a:r>
            <a:r>
              <a:rPr sz="1200" spc="-5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6181A"/>
                </a:solidFill>
                <a:latin typeface="Arial"/>
                <a:cs typeface="Arial"/>
              </a:rPr>
              <a:t>Flow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9935" y="3212488"/>
            <a:ext cx="692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282A2D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674658" y="2136545"/>
            <a:ext cx="2699385" cy="1089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1067435" indent="9525">
              <a:lnSpc>
                <a:spcPct val="105200"/>
              </a:lnSpc>
              <a:spcBef>
                <a:spcPts val="130"/>
              </a:spcBef>
              <a:tabLst>
                <a:tab pos="904875" algn="l"/>
              </a:tabLst>
            </a:pP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"_id":</a:t>
            </a:r>
            <a:r>
              <a:rPr sz="1100" spc="31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Times New Roman"/>
                <a:cs typeface="Times New Roman"/>
              </a:rPr>
              <a:t>"booking_98765", </a:t>
            </a:r>
            <a:r>
              <a:rPr sz="1100" spc="90" dirty="0">
                <a:solidFill>
                  <a:srgbClr val="282A2D"/>
                </a:solidFill>
                <a:latin typeface="Times New Roman"/>
                <a:cs typeface="Times New Roman"/>
              </a:rPr>
              <a:t>"user_id":</a:t>
            </a:r>
            <a:r>
              <a:rPr sz="1100" spc="29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spc="45" dirty="0">
                <a:solidFill>
                  <a:srgbClr val="282A2D"/>
                </a:solidFill>
                <a:latin typeface="Times New Roman"/>
                <a:cs typeface="Times New Roman"/>
              </a:rPr>
              <a:t>"user_123", </a:t>
            </a:r>
            <a:r>
              <a:rPr sz="1100" u="heavy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"bus</a:t>
            </a:r>
            <a:r>
              <a:rPr sz="1100" u="heavy" spc="36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114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id":</a:t>
            </a:r>
            <a:r>
              <a:rPr sz="1100" u="heavy" spc="29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50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"bus</a:t>
            </a:r>
            <a:r>
              <a:rPr sz="1100" u="heavy" spc="295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heavy" spc="-10" dirty="0">
                <a:solidFill>
                  <a:srgbClr val="282A2D"/>
                </a:solidFill>
                <a:uFill>
                  <a:solidFill>
                    <a:srgbClr val="282A2D"/>
                  </a:solidFill>
                </a:uFill>
                <a:latin typeface="Times New Roman"/>
                <a:cs typeface="Times New Roman"/>
              </a:rPr>
              <a:t>001",</a:t>
            </a:r>
            <a:r>
              <a:rPr sz="1100" u="none" spc="-1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50" b="1" u="none" dirty="0">
                <a:solidFill>
                  <a:srgbClr val="0A6421"/>
                </a:solidFill>
                <a:latin typeface="Times New Roman"/>
                <a:cs typeface="Times New Roman"/>
              </a:rPr>
              <a:t>"status":</a:t>
            </a:r>
            <a:r>
              <a:rPr sz="1150" b="1" u="none" spc="195" dirty="0">
                <a:solidFill>
                  <a:srgbClr val="0A6421"/>
                </a:solidFill>
                <a:latin typeface="Times New Roman"/>
                <a:cs typeface="Times New Roman"/>
              </a:rPr>
              <a:t>  </a:t>
            </a:r>
            <a:r>
              <a:rPr sz="1150" u="none" spc="-50" dirty="0">
                <a:solidFill>
                  <a:srgbClr val="050707"/>
                </a:solidFill>
                <a:latin typeface="Times New Roman"/>
                <a:cs typeface="Times New Roman"/>
              </a:rPr>
              <a:t>•</a:t>
            </a:r>
            <a:r>
              <a:rPr sz="1150" u="none" dirty="0">
                <a:solidFill>
                  <a:srgbClr val="050707"/>
                </a:solidFill>
                <a:latin typeface="Times New Roman"/>
                <a:cs typeface="Times New Roman"/>
              </a:rPr>
              <a:t>	</a:t>
            </a:r>
            <a:r>
              <a:rPr sz="1150" b="1" u="none" spc="-235" dirty="0">
                <a:solidFill>
                  <a:srgbClr val="0A6421"/>
                </a:solidFill>
                <a:latin typeface="Times New Roman"/>
                <a:cs typeface="Times New Roman"/>
              </a:rPr>
              <a:t>CONFIRMED",</a:t>
            </a:r>
            <a:endParaRPr sz="1150">
              <a:latin typeface="Times New Roman"/>
              <a:cs typeface="Times New Roman"/>
            </a:endParaRPr>
          </a:p>
          <a:p>
            <a:pPr marL="15875" marR="5080" indent="6350">
              <a:lnSpc>
                <a:spcPts val="1370"/>
              </a:lnSpc>
              <a:spcBef>
                <a:spcPts val="45"/>
              </a:spcBef>
            </a:pPr>
            <a:r>
              <a:rPr sz="1100" spc="20" dirty="0">
                <a:solidFill>
                  <a:srgbClr val="282A2D"/>
                </a:solidFill>
                <a:latin typeface="Times New Roman"/>
                <a:cs typeface="Times New Roman"/>
              </a:rPr>
              <a:t>"booking_time":</a:t>
            </a:r>
            <a:r>
              <a:rPr sz="1100" spc="290" dirty="0">
                <a:solidFill>
                  <a:srgbClr val="282A2D"/>
                </a:solidFill>
                <a:latin typeface="Times New Roman"/>
                <a:cs typeface="Times New Roman"/>
              </a:rPr>
              <a:t>  </a:t>
            </a:r>
            <a:r>
              <a:rPr sz="1100" spc="20" dirty="0">
                <a:solidFill>
                  <a:srgbClr val="16181A"/>
                </a:solidFill>
                <a:latin typeface="Times New Roman"/>
                <a:cs typeface="Times New Roman"/>
              </a:rPr>
              <a:t>"2024-05-</a:t>
            </a:r>
            <a:r>
              <a:rPr sz="1100" spc="-10" dirty="0">
                <a:solidFill>
                  <a:srgbClr val="16181A"/>
                </a:solidFill>
                <a:latin typeface="Times New Roman"/>
                <a:cs typeface="Times New Roman"/>
              </a:rPr>
              <a:t>10Tl4:30:00Z", </a:t>
            </a:r>
            <a:r>
              <a:rPr sz="1100" dirty="0">
                <a:solidFill>
                  <a:srgbClr val="282A2D"/>
                </a:solidFill>
                <a:latin typeface="Times New Roman"/>
                <a:cs typeface="Times New Roman"/>
              </a:rPr>
              <a:t>"seat_numbe</a:t>
            </a:r>
            <a:r>
              <a:rPr sz="1100" spc="-60" dirty="0">
                <a:solidFill>
                  <a:srgbClr val="282A2D"/>
                </a:solidFill>
                <a:latin typeface="Times New Roman"/>
                <a:cs typeface="Times New Roman"/>
              </a:rPr>
              <a:t> </a:t>
            </a:r>
            <a:r>
              <a:rPr sz="1100" dirty="0">
                <a:solidFill>
                  <a:srgbClr val="16181A"/>
                </a:solidFill>
                <a:latin typeface="Times New Roman"/>
                <a:cs typeface="Times New Roman"/>
              </a:rPr>
              <a:t>r":</a:t>
            </a:r>
            <a:r>
              <a:rPr sz="1100" spc="204" dirty="0">
                <a:solidFill>
                  <a:srgbClr val="16181A"/>
                </a:solidFill>
                <a:latin typeface="Times New Roman"/>
                <a:cs typeface="Times New Roman"/>
              </a:rPr>
              <a:t>  </a:t>
            </a:r>
            <a:r>
              <a:rPr sz="1100" spc="-20" dirty="0">
                <a:solidFill>
                  <a:srgbClr val="282A2D"/>
                </a:solidFill>
                <a:latin typeface="Times New Roman"/>
                <a:cs typeface="Times New Roman"/>
              </a:rPr>
              <a:t>"A4"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54190" y="3642062"/>
            <a:ext cx="2753360" cy="3962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92735" marR="5080" indent="-280670">
              <a:lnSpc>
                <a:spcPct val="102499"/>
              </a:lnSpc>
              <a:spcBef>
                <a:spcPts val="65"/>
              </a:spcBef>
            </a:pP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Records</a:t>
            </a:r>
            <a:r>
              <a:rPr sz="1200" spc="13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real-time</a:t>
            </a:r>
            <a:r>
              <a:rPr sz="12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booking</a:t>
            </a:r>
            <a:r>
              <a:rPr sz="1200" spc="1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6181A"/>
                </a:solidFill>
                <a:latin typeface="Arial"/>
                <a:cs typeface="Arial"/>
              </a:rPr>
              <a:t>transactions </a:t>
            </a:r>
            <a:r>
              <a:rPr sz="1200" spc="60" dirty="0">
                <a:solidFill>
                  <a:srgbClr val="282A2D"/>
                </a:solidFill>
                <a:latin typeface="Arial"/>
                <a:cs typeface="Arial"/>
              </a:rPr>
              <a:t>with</a:t>
            </a:r>
            <a:r>
              <a:rPr sz="1200" spc="-2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immediate</a:t>
            </a:r>
            <a:r>
              <a:rPr sz="1200" spc="114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82A2D"/>
                </a:solidFill>
                <a:latin typeface="Arial"/>
                <a:cs typeface="Arial"/>
              </a:rPr>
              <a:t>status</a:t>
            </a:r>
            <a:r>
              <a:rPr sz="1200" spc="8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82A2D"/>
                </a:solidFill>
                <a:latin typeface="Arial"/>
                <a:cs typeface="Arial"/>
              </a:rPr>
              <a:t>updates.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272607" y="4464499"/>
            <a:ext cx="261302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Utilizing</a:t>
            </a:r>
            <a:r>
              <a:rPr sz="1100" spc="5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MongoDB's</a:t>
            </a:r>
            <a:r>
              <a:rPr sz="1100" spc="9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flexible</a:t>
            </a:r>
            <a:r>
              <a:rPr sz="1100" spc="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schema</a:t>
            </a:r>
            <a:r>
              <a:rPr sz="1100" spc="75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spc="-25" dirty="0">
                <a:solidFill>
                  <a:srgbClr val="282A2D"/>
                </a:solidFill>
                <a:latin typeface="Arial"/>
                <a:cs typeface="Arial"/>
              </a:rPr>
              <a:t>for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scalable</a:t>
            </a:r>
            <a:r>
              <a:rPr sz="1100" spc="11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and</a:t>
            </a:r>
            <a:r>
              <a:rPr sz="1100" spc="20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16181A"/>
                </a:solidFill>
                <a:latin typeface="Arial"/>
                <a:cs typeface="Arial"/>
              </a:rPr>
              <a:t>efficient</a:t>
            </a:r>
            <a:r>
              <a:rPr sz="1100" spc="100" dirty="0">
                <a:solidFill>
                  <a:srgbClr val="16181A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282A2D"/>
                </a:solidFill>
                <a:latin typeface="Arial"/>
                <a:cs typeface="Arial"/>
              </a:rPr>
              <a:t>data</a:t>
            </a:r>
            <a:r>
              <a:rPr sz="1100" spc="114" dirty="0">
                <a:solidFill>
                  <a:srgbClr val="282A2D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282A2D"/>
                </a:solidFill>
                <a:latin typeface="Arial"/>
                <a:cs typeface="Arial"/>
              </a:rPr>
              <a:t>management.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1264" y="1900405"/>
            <a:ext cx="1235302" cy="120451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451" y="1137542"/>
            <a:ext cx="926476" cy="31718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210" y="1900405"/>
            <a:ext cx="1235302" cy="12446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02815" y="1150926"/>
            <a:ext cx="0" cy="3145155"/>
          </a:xfrm>
          <a:custGeom>
            <a:avLst/>
            <a:gdLst/>
            <a:ahLst/>
            <a:cxnLst/>
            <a:rect l="l" t="t" r="r" b="b"/>
            <a:pathLst>
              <a:path h="3145154">
                <a:moveTo>
                  <a:pt x="0" y="3145129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29188" y="1137542"/>
            <a:ext cx="0" cy="3172460"/>
          </a:xfrm>
          <a:custGeom>
            <a:avLst/>
            <a:gdLst/>
            <a:ahLst/>
            <a:cxnLst/>
            <a:rect l="l" t="t" r="r" b="b"/>
            <a:pathLst>
              <a:path h="3172460">
                <a:moveTo>
                  <a:pt x="0" y="3171896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54532" y="1137542"/>
            <a:ext cx="0" cy="3185795"/>
          </a:xfrm>
          <a:custGeom>
            <a:avLst/>
            <a:gdLst/>
            <a:ahLst/>
            <a:cxnLst/>
            <a:rect l="l" t="t" r="r" b="b"/>
            <a:pathLst>
              <a:path h="3185795">
                <a:moveTo>
                  <a:pt x="0" y="3185280"/>
                </a:moveTo>
                <a:lnTo>
                  <a:pt x="0" y="0"/>
                </a:lnTo>
              </a:path>
            </a:pathLst>
          </a:custGeom>
          <a:ln w="134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6324" y="1084008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951" y="1084008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3379" y="4362973"/>
            <a:ext cx="3477895" cy="0"/>
          </a:xfrm>
          <a:custGeom>
            <a:avLst/>
            <a:gdLst/>
            <a:ahLst/>
            <a:cxnLst/>
            <a:rect l="l" t="t" r="r" b="b"/>
            <a:pathLst>
              <a:path w="3477895">
                <a:moveTo>
                  <a:pt x="0" y="0"/>
                </a:moveTo>
                <a:lnTo>
                  <a:pt x="347764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6324" y="4362973"/>
            <a:ext cx="3504565" cy="0"/>
          </a:xfrm>
          <a:custGeom>
            <a:avLst/>
            <a:gdLst/>
            <a:ahLst/>
            <a:cxnLst/>
            <a:rect l="l" t="t" r="r" b="b"/>
            <a:pathLst>
              <a:path w="3504565">
                <a:moveTo>
                  <a:pt x="0" y="0"/>
                </a:moveTo>
                <a:lnTo>
                  <a:pt x="3504498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3097" y="4623953"/>
            <a:ext cx="8271509" cy="0"/>
          </a:xfrm>
          <a:custGeom>
            <a:avLst/>
            <a:gdLst/>
            <a:ahLst/>
            <a:cxnLst/>
            <a:rect l="l" t="t" r="r" b="b"/>
            <a:pathLst>
              <a:path w="8271509">
                <a:moveTo>
                  <a:pt x="0" y="0"/>
                </a:moveTo>
                <a:lnTo>
                  <a:pt x="8271153" y="0"/>
                </a:lnTo>
              </a:path>
            </a:pathLst>
          </a:custGeom>
          <a:ln w="133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209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Inference</a:t>
            </a:r>
            <a:r>
              <a:rPr spc="-75" dirty="0"/>
              <a:t> </a:t>
            </a:r>
            <a:r>
              <a:rPr sz="3400" spc="-315" dirty="0"/>
              <a:t>&amp;</a:t>
            </a:r>
            <a:r>
              <a:rPr sz="3400" spc="-280" dirty="0"/>
              <a:t> </a:t>
            </a:r>
            <a:r>
              <a:rPr spc="-85" dirty="0"/>
              <a:t>Conclusion</a:t>
            </a:r>
            <a:endParaRPr sz="3400"/>
          </a:p>
        </p:txBody>
      </p:sp>
      <p:sp>
        <p:nvSpPr>
          <p:cNvPr id="14" name="object 14"/>
          <p:cNvSpPr txBox="1"/>
          <p:nvPr/>
        </p:nvSpPr>
        <p:spPr>
          <a:xfrm>
            <a:off x="1238452" y="1304498"/>
            <a:ext cx="19380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C0C08"/>
                </a:solidFill>
                <a:latin typeface="Arial"/>
                <a:cs typeface="Arial"/>
              </a:rPr>
              <a:t>User</a:t>
            </a:r>
            <a:r>
              <a:rPr sz="1900" b="1" spc="-40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0C08"/>
                </a:solidFill>
                <a:latin typeface="Arial"/>
                <a:cs typeface="Arial"/>
              </a:rPr>
              <a:t>Experience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804" y="3356593"/>
            <a:ext cx="2872740" cy="7442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02000"/>
              </a:lnSpc>
              <a:spcBef>
                <a:spcPts val="65"/>
              </a:spcBef>
            </a:pP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TravelEase</a:t>
            </a:r>
            <a:r>
              <a:rPr sz="1550" spc="1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delivers</a:t>
            </a:r>
            <a:r>
              <a:rPr sz="1550" spc="4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a</a:t>
            </a:r>
            <a:r>
              <a:rPr sz="1550" spc="-1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satisfying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user</a:t>
            </a:r>
            <a:r>
              <a:rPr sz="1550" spc="1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experience</a:t>
            </a:r>
            <a:r>
              <a:rPr sz="1550" spc="19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70" dirty="0">
                <a:solidFill>
                  <a:srgbClr val="0C0C08"/>
                </a:solidFill>
                <a:latin typeface="Arial"/>
                <a:cs typeface="Arial"/>
              </a:rPr>
              <a:t>with</a:t>
            </a:r>
            <a:r>
              <a:rPr sz="1550" spc="30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clear</a:t>
            </a:r>
            <a:r>
              <a:rPr sz="1550" spc="10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0C0C08"/>
                </a:solidFill>
                <a:latin typeface="Arial"/>
                <a:cs typeface="Arial"/>
              </a:rPr>
              <a:t>info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and</a:t>
            </a:r>
            <a:r>
              <a:rPr sz="1550" spc="21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real-time</a:t>
            </a:r>
            <a:r>
              <a:rPr sz="1550" spc="204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updates.</a:t>
            </a:r>
            <a:endParaRPr sz="1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9975" y="1304498"/>
            <a:ext cx="306514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C0C08"/>
                </a:solidFill>
                <a:latin typeface="Arial"/>
                <a:cs typeface="Arial"/>
              </a:rPr>
              <a:t>Technical</a:t>
            </a:r>
            <a:r>
              <a:rPr sz="1900" b="1" spc="-10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0C0C08"/>
                </a:solidFill>
                <a:latin typeface="Arial"/>
                <a:cs typeface="Arial"/>
              </a:rPr>
              <a:t>Implementation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5174" y="3356593"/>
            <a:ext cx="2707005" cy="74422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ctr">
              <a:lnSpc>
                <a:spcPct val="102000"/>
              </a:lnSpc>
              <a:spcBef>
                <a:spcPts val="65"/>
              </a:spcBef>
            </a:pP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The</a:t>
            </a:r>
            <a:r>
              <a:rPr sz="1550" spc="3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Agile-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MERN</a:t>
            </a:r>
            <a:r>
              <a:rPr sz="1550" spc="13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combination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successfully</a:t>
            </a:r>
            <a:r>
              <a:rPr sz="1550" spc="459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produced</a:t>
            </a:r>
            <a:r>
              <a:rPr sz="1550" spc="26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0C0C08"/>
                </a:solidFill>
                <a:latin typeface="Arial"/>
                <a:cs typeface="Arial"/>
              </a:rPr>
              <a:t>a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functional,</a:t>
            </a:r>
            <a:r>
              <a:rPr sz="1550" spc="29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0C0C08"/>
                </a:solidFill>
                <a:latin typeface="Arial"/>
                <a:cs typeface="Arial"/>
              </a:rPr>
              <a:t>scalable</a:t>
            </a:r>
            <a:r>
              <a:rPr sz="1550" spc="225" dirty="0">
                <a:solidFill>
                  <a:srgbClr val="0C0C08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0C0C08"/>
                </a:solidFill>
                <a:latin typeface="Arial"/>
                <a:cs typeface="Arial"/>
              </a:rPr>
              <a:t>system.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7574"/>
            <a:ext cx="9143999" cy="5075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1158</Words>
  <Application>Microsoft Office PowerPoint</Application>
  <PresentationFormat>On-screen Show (16:9)</PresentationFormat>
  <Paragraphs>301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Times New Roman</vt:lpstr>
      <vt:lpstr>Verdana</vt:lpstr>
      <vt:lpstr>Office Theme</vt:lpstr>
      <vt:lpstr>TravelEase - Online Bus Booking System</vt:lpstr>
      <vt:lpstr>PowerPoint Presentation</vt:lpstr>
      <vt:lpstr>Project Objectives</vt:lpstr>
      <vt:lpstr>Project Description (Core Features)</vt:lpstr>
      <vt:lpstr>User Functionalities</vt:lpstr>
      <vt:lpstr>Project Deliverables</vt:lpstr>
      <vt:lpstr>PowerPoint Presentation</vt:lpstr>
      <vt:lpstr>Time-Line Schedule</vt:lpstr>
      <vt:lpstr>Cost Breakdown Structure (CBS) - Material Costs</vt:lpstr>
      <vt:lpstr>Final Project Valuation</vt:lpstr>
      <vt:lpstr>Risk Analysis - Technical &amp; Schedule</vt:lpstr>
      <vt:lpstr>Risk Analysis - Cost &amp; Organizational</vt:lpstr>
      <vt:lpstr>Risk Analysis - People &amp; Business</vt:lpstr>
      <vt:lpstr>Technology Stack: MERN Four Core Technologies: MongoDB, Express.js, React.js, and Node.js.</vt:lpstr>
      <vt:lpstr>Hardware Requirements</vt:lpstr>
      <vt:lpstr>Software Products (Development)</vt:lpstr>
      <vt:lpstr>Software Products (Testing)</vt:lpstr>
      <vt:lpstr>System Component: Backend Server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 Diagram for TravelEase Bus Booking Application</vt:lpstr>
      <vt:lpstr>Compatibility &amp; Cross-Browser Testing</vt:lpstr>
      <vt:lpstr>Security Testing Implementation</vt:lpstr>
      <vt:lpstr>Database Implementation (MongoDB Snapshot)</vt:lpstr>
      <vt:lpstr>Inference &amp;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vishwas</dc:title>
  <dc:creator>Subrahmanya</dc:creator>
  <cp:lastModifiedBy>B S Niranjan Patgar</cp:lastModifiedBy>
  <cp:revision>8</cp:revision>
  <dcterms:created xsi:type="dcterms:W3CDTF">2026-04-01T00:44:16Z</dcterms:created>
  <dcterms:modified xsi:type="dcterms:W3CDTF">2026-04-06T09:26:39Z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2026-04-01T00:00:00Z</vt:filetime>
  </property>
</Properties>
</file>